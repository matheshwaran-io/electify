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title exactly as approved, yourself, and the guide. Electify is a web application for running elective registration in a department: it enforces seat limits exactly, keeps cohorts and academic years separate, and gives each staff role only the access it needs.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abstract: problem, solution, outcome. The numbers are from the test runs of 15 October 2026 on commit bfd9bd8: 136 server-side tests in 18 suites and 36 browser tests, all passing.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elective registration in a university department. Four roles use the system. The problem matters because of short windows, scarce seats and several cohorts running at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statement from Chapter 1.2 of the report. The lost-update anomaly: if an application reads a seat count, checks it and writes a new value in separate steps, two simultaneous requests can both succeed. Electify must also keep cohorts apart and must not trust values sent by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are from section 1.3.1 of the report and are verifiable: each maps to tests in Chapter 8. Allocation is first-come within the window; preference-based allocation, integration and notifications are explicitly future work. The system has not been deployed for a live registration cycle.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of the report: where a department has no dedicated system, choices are collected on paper, in a shared spreadsheet, or through a general-purpose form. These work for small classes but fail when demand exceeds capacity, when cohorts share subjects and when students change their minds.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3.2 and Chapter 5–6 of the report. The difference from the existing process: the seat rule is enforced at commit time by the database, not reconstructed afterwards. Realtime seat updates use Supabase Realtime when it is configured; pages also refresh every 30 seconds, so correctness never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passes the edge proxy (src/proxy.ts), which verifies the signed session cookie and routes by role. Pages are React Server Components; all changes go through Server Actions that call domain modules in src/lib. Drizzle ORM talks to PostgreSQL, which holds the row locks and constraints. Supabase Realtime is optional and only improves freshness.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Versions are those declared in package.json. Deployment is documented (docs/deployment.md) but the system has only been run in development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4.4 of the report. A tutor can manage classes from any programme of their department, up to a limit set by the administrator (ten by default). The root administrator account cannot be deleted, deactivated or demoted. All roles share the same server core in src/lib.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registerElectives in src/app/actions/register.ts. Cheap checks happen first without locks. Inside the transaction the registration row and the chosen subjects are locked in a fixed order, so two transactions can never deadlock. takeSeat applies the subject capacity and any class quota. If any step fails the whole transaction rolls back. Changes take the new seat before releasing the old one; cancellations keep the record and return the seat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Simplified from src/lib/db/schema.ts (about 25 tables in total; login attempts, invite codes, audit logs, templates and subject profiles are omitted here). A cohort is a programme plus admission year; a class is a section of it; a Year Server links cohorts to an academic year with their study year and semester.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item is implemented: lib/auth.ts, lib/password-policy.ts, lib/workspace.ts, actions/register.ts. A revoked or replaced session is rejected on the next request and the user is sent to sign in. Root-administrator protection prevents deleting, deactivating or demoting the root account. The NIST gap is stated in section 4.6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come from the recorded runs (evidence in documentation/final-report/work/evidence). Screenshots show fictional demonstration data. Concurrency tests start several registrations at once for the last seat: exactly one succeeds. The one open defect (D7) is a reduced-motion hydration warning on the sign-in page.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official Project Completion Letter. Do not retype or recreate it; insert the original scan.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21.png"/><Relationship Id="rId5" Type="http://schemas.openxmlformats.org/officeDocument/2006/relationships/image" Target="../media/image14.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16.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5.png"/><Relationship Id="rId4" Type="http://schemas.openxmlformats.org/officeDocument/2006/relationships/image" Target="../media/image13.png"/><Relationship Id="rId5" Type="http://schemas.openxmlformats.org/officeDocument/2006/relationships/image" Target="../media/image26.png"/><Relationship Id="rId6" Type="http://schemas.openxmlformats.org/officeDocument/2006/relationships/image" Target="../media/image20.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4.png"/><Relationship Id="rId10" Type="http://schemas.openxmlformats.org/officeDocument/2006/relationships/image" Target="../media/image18.png"/><Relationship Id="rId11" Type="http://schemas.openxmlformats.org/officeDocument/2006/relationships/image" Target="../media/image29.png"/><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31.png"/><Relationship Id="rId6" Type="http://schemas.openxmlformats.org/officeDocument/2006/relationships/image" Target="../media/image17.png"/><Relationship Id="rId7" Type="http://schemas.openxmlformats.org/officeDocument/2006/relationships/image" Target="../media/image20.png"/><Relationship Id="rId8" Type="http://schemas.openxmlformats.org/officeDocument/2006/relationships/image" Target="../media/image27.png"/><Relationship Id="rId9" Type="http://schemas.openxmlformats.org/officeDocument/2006/relationships/image" Target="../media/image32.png"/><Relationship Id="rId10" Type="http://schemas.openxmlformats.org/officeDocument/2006/relationships/image" Target="../media/image16.png"/><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330"/>
        </a:solidFill>
        <a:effectLst/>
      </p:bgPr>
    </p:bg>
    <p:spTree>
      <p:nvGrpSpPr>
        <p:cNvPr id="1" name=""/>
        <p:cNvGrpSpPr/>
        <p:nvPr/>
      </p:nvGrpSpPr>
      <p:grpSpPr/>
      <p:sp>
        <p:nvSpPr>
          <p:cNvPr id="2" name="Rounded Rectangle 1"/>
          <p:cNvSpPr/>
          <p:nvPr/>
        </p:nvSpPr>
        <p:spPr>
          <a:xfrm>
            <a:off x="548640" y="502920"/>
            <a:ext cx="205740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srm_logo.png"/>
          <p:cNvPicPr>
            <a:picLocks noChangeAspect="1"/>
          </p:cNvPicPr>
          <p:nvPr/>
        </p:nvPicPr>
        <p:blipFill>
          <a:blip r:embed="rId2"/>
          <a:stretch>
            <a:fillRect/>
          </a:stretch>
        </p:blipFill>
        <p:spPr>
          <a:xfrm>
            <a:off x="684335" y="566928"/>
            <a:ext cx="1776864" cy="621792"/>
          </a:xfrm>
          <a:prstGeom prst="rect">
            <a:avLst/>
          </a:prstGeom>
        </p:spPr>
      </p:pic>
      <p:pic>
        <p:nvPicPr>
          <p:cNvPr id="4" name="Picture 3" descr="electify-logo-reverse.png"/>
          <p:cNvPicPr>
            <a:picLocks noChangeAspect="1"/>
          </p:cNvPicPr>
          <p:nvPr/>
        </p:nvPicPr>
        <p:blipFill>
          <a:blip r:embed="rId3"/>
          <a:stretch>
            <a:fillRect/>
          </a:stretch>
        </p:blipFill>
        <p:spPr>
          <a:xfrm>
            <a:off x="2880360" y="713232"/>
            <a:ext cx="1463040" cy="330872"/>
          </a:xfrm>
          <a:prstGeom prst="rect">
            <a:avLst/>
          </a:prstGeom>
        </p:spPr>
      </p:pic>
      <p:sp>
        <p:nvSpPr>
          <p:cNvPr id="5" name="TextBox 4"/>
          <p:cNvSpPr txBox="1"/>
          <p:nvPr/>
        </p:nvSpPr>
        <p:spPr>
          <a:xfrm>
            <a:off x="548640" y="1600200"/>
            <a:ext cx="7498079" cy="274320"/>
          </a:xfrm>
          <a:prstGeom prst="rect">
            <a:avLst/>
          </a:prstGeom>
          <a:noFill/>
        </p:spPr>
        <p:txBody>
          <a:bodyPr wrap="square" lIns="0" rIns="0" tIns="0" bIns="0" anchor="t">
            <a:spAutoFit/>
          </a:bodyPr>
          <a:lstStyle/>
          <a:p>
            <a:pPr algn="l"/>
            <a:r>
              <a:rPr sz="1300" b="1" i="0">
                <a:solidFill>
                  <a:srgbClr val="E9B44C"/>
                </a:solidFill>
                <a:latin typeface="Calibri"/>
              </a:rPr>
              <a:t>MCA PROJECT REVIEW</a:t>
            </a:r>
          </a:p>
        </p:txBody>
      </p:sp>
      <p:sp>
        <p:nvSpPr>
          <p:cNvPr id="6" name="Project title"/>
          <p:cNvSpPr txBox="1"/>
          <p:nvPr/>
        </p:nvSpPr>
        <p:spPr>
          <a:xfrm>
            <a:off x="548640" y="1965960"/>
            <a:ext cx="7589520" cy="2103120"/>
          </a:xfrm>
          <a:prstGeom prst="rect">
            <a:avLst/>
          </a:prstGeom>
          <a:noFill/>
        </p:spPr>
        <p:txBody>
          <a:bodyPr wrap="square" lIns="0" rIns="0" tIns="0" bIns="0" anchor="t">
            <a:spAutoFit/>
          </a:bodyPr>
          <a:lstStyle/>
          <a:p>
            <a:pPr algn="l">
              <a:lnSpc>
                <a:spcPct val="108000"/>
              </a:lnSpc>
            </a:pPr>
            <a:r>
              <a:rPr sz="3200" b="0" i="0">
                <a:solidFill>
                  <a:srgbClr val="FFFFFF"/>
                </a:solidFill>
                <a:latin typeface="Georgia"/>
              </a:rPr>
              <a:t>ELECTIFY: A REAL - TIME ELECTIVE REGISTRATION SYSTEM WITH TRANSACTIONAL SEAT MANAGEMENT</a:t>
            </a:r>
          </a:p>
        </p:txBody>
      </p:sp>
      <p:sp>
        <p:nvSpPr>
          <p:cNvPr id="7" name="TextBox 6"/>
          <p:cNvSpPr txBox="1"/>
          <p:nvPr/>
        </p:nvSpPr>
        <p:spPr>
          <a:xfrm>
            <a:off x="548640" y="4343400"/>
            <a:ext cx="3566160" cy="256032"/>
          </a:xfrm>
          <a:prstGeom prst="rect">
            <a:avLst/>
          </a:prstGeom>
          <a:noFill/>
        </p:spPr>
        <p:txBody>
          <a:bodyPr wrap="square" lIns="0" rIns="0" tIns="0" bIns="0" anchor="t">
            <a:spAutoFit/>
          </a:bodyPr>
          <a:lstStyle/>
          <a:p>
            <a:pPr algn="l"/>
            <a:r>
              <a:rPr sz="1100" b="1" i="0">
                <a:solidFill>
                  <a:srgbClr val="B9BED3"/>
                </a:solidFill>
                <a:latin typeface="Calibri"/>
              </a:rPr>
              <a:t>PRESENTED BY</a:t>
            </a:r>
          </a:p>
        </p:txBody>
      </p:sp>
      <p:sp>
        <p:nvSpPr>
          <p:cNvPr id="8" name="TextBox 7"/>
          <p:cNvSpPr txBox="1"/>
          <p:nvPr/>
        </p:nvSpPr>
        <p:spPr>
          <a:xfrm>
            <a:off x="548640" y="4617720"/>
            <a:ext cx="3566160" cy="365760"/>
          </a:xfrm>
          <a:prstGeom prst="rect">
            <a:avLst/>
          </a:prstGeom>
          <a:noFill/>
        </p:spPr>
        <p:txBody>
          <a:bodyPr wrap="square" lIns="0" rIns="0" tIns="0" bIns="0" anchor="t">
            <a:spAutoFit/>
          </a:bodyPr>
          <a:lstStyle/>
          <a:p>
            <a:pPr algn="l"/>
            <a:r>
              <a:rPr sz="2000" b="1" i="0">
                <a:solidFill>
                  <a:srgbClr val="FFFFFF"/>
                </a:solidFill>
                <a:latin typeface="Calibri"/>
              </a:rPr>
              <a:t>MATHESHWARAN R</a:t>
            </a:r>
          </a:p>
        </p:txBody>
      </p:sp>
      <p:sp>
        <p:nvSpPr>
          <p:cNvPr id="9" name="TextBox 8"/>
          <p:cNvSpPr txBox="1"/>
          <p:nvPr/>
        </p:nvSpPr>
        <p:spPr>
          <a:xfrm>
            <a:off x="548640" y="4983480"/>
            <a:ext cx="3566160" cy="292608"/>
          </a:xfrm>
          <a:prstGeom prst="rect">
            <a:avLst/>
          </a:prstGeom>
          <a:noFill/>
        </p:spPr>
        <p:txBody>
          <a:bodyPr wrap="square" lIns="0" rIns="0" tIns="0" bIns="0" anchor="t">
            <a:spAutoFit/>
          </a:bodyPr>
          <a:lstStyle/>
          <a:p>
            <a:pPr algn="l"/>
            <a:r>
              <a:rPr sz="1500" b="0" i="0">
                <a:solidFill>
                  <a:srgbClr val="B9BED3"/>
                </a:solidFill>
                <a:latin typeface="Calibri"/>
              </a:rPr>
              <a:t>Register No. RA2532241010311</a:t>
            </a:r>
          </a:p>
        </p:txBody>
      </p:sp>
      <p:sp>
        <p:nvSpPr>
          <p:cNvPr id="10" name="TextBox 9"/>
          <p:cNvSpPr txBox="1"/>
          <p:nvPr/>
        </p:nvSpPr>
        <p:spPr>
          <a:xfrm>
            <a:off x="4297680" y="4343400"/>
            <a:ext cx="4206240" cy="256032"/>
          </a:xfrm>
          <a:prstGeom prst="rect">
            <a:avLst/>
          </a:prstGeom>
          <a:noFill/>
        </p:spPr>
        <p:txBody>
          <a:bodyPr wrap="square" lIns="0" rIns="0" tIns="0" bIns="0" anchor="t">
            <a:spAutoFit/>
          </a:bodyPr>
          <a:lstStyle/>
          <a:p>
            <a:pPr algn="l"/>
            <a:r>
              <a:rPr sz="1100" b="1" i="0">
                <a:solidFill>
                  <a:srgbClr val="B9BED3"/>
                </a:solidFill>
                <a:latin typeface="Calibri"/>
              </a:rPr>
              <a:t>UNDER THE GUIDANCE OF</a:t>
            </a:r>
          </a:p>
        </p:txBody>
      </p:sp>
      <p:sp>
        <p:nvSpPr>
          <p:cNvPr id="11" name="TextBox 10"/>
          <p:cNvSpPr txBox="1"/>
          <p:nvPr/>
        </p:nvSpPr>
        <p:spPr>
          <a:xfrm>
            <a:off x="4297680" y="4617720"/>
            <a:ext cx="4206240" cy="365760"/>
          </a:xfrm>
          <a:prstGeom prst="rect">
            <a:avLst/>
          </a:prstGeom>
          <a:noFill/>
        </p:spPr>
        <p:txBody>
          <a:bodyPr wrap="square" lIns="0" rIns="0" tIns="0" bIns="0" anchor="t">
            <a:spAutoFit/>
          </a:bodyPr>
          <a:lstStyle/>
          <a:p>
            <a:pPr algn="l"/>
            <a:r>
              <a:rPr sz="1800" b="1" i="0">
                <a:solidFill>
                  <a:srgbClr val="FFFFFF"/>
                </a:solidFill>
                <a:latin typeface="Calibri"/>
              </a:rPr>
              <a:t>Dr. V. NISHA, M.Sc., M.Phil., Ph.D.</a:t>
            </a:r>
          </a:p>
        </p:txBody>
      </p:sp>
      <p:sp>
        <p:nvSpPr>
          <p:cNvPr id="12" name="TextBox 11"/>
          <p:cNvSpPr txBox="1"/>
          <p:nvPr/>
        </p:nvSpPr>
        <p:spPr>
          <a:xfrm>
            <a:off x="4297680" y="4983480"/>
            <a:ext cx="4206240" cy="548640"/>
          </a:xfrm>
          <a:prstGeom prst="rect">
            <a:avLst/>
          </a:prstGeom>
          <a:noFill/>
        </p:spPr>
        <p:txBody>
          <a:bodyPr wrap="square" lIns="0" rIns="0" tIns="0" bIns="0" anchor="t">
            <a:spAutoFit/>
          </a:bodyPr>
          <a:lstStyle/>
          <a:p>
            <a:pPr algn="l"/>
            <a:r>
              <a:rPr sz="1500" b="0" i="0">
                <a:solidFill>
                  <a:srgbClr val="B9BED3"/>
                </a:solidFill>
                <a:latin typeface="Calibri"/>
              </a:rPr>
              <a:t>Assistant Professor, Department of Computer Applications</a:t>
            </a:r>
          </a:p>
        </p:txBody>
      </p:sp>
      <p:sp>
        <p:nvSpPr>
          <p:cNvPr id="13" name="TextBox 12"/>
          <p:cNvSpPr txBox="1"/>
          <p:nvPr/>
        </p:nvSpPr>
        <p:spPr>
          <a:xfrm>
            <a:off x="548640" y="5897880"/>
            <a:ext cx="8229600" cy="548640"/>
          </a:xfrm>
          <a:prstGeom prst="rect">
            <a:avLst/>
          </a:prstGeom>
          <a:noFill/>
        </p:spPr>
        <p:txBody>
          <a:bodyPr wrap="square" lIns="0" rIns="0" tIns="0" bIns="0" anchor="t">
            <a:spAutoFit/>
          </a:bodyPr>
          <a:lstStyle/>
          <a:p>
            <a:pPr algn="l">
              <a:lnSpc>
                <a:spcPct val="110000"/>
              </a:lnSpc>
            </a:pPr>
            <a:r>
              <a:rPr sz="1200" b="0" i="0">
                <a:solidFill>
                  <a:srgbClr val="B9BED3"/>
                </a:solidFill>
                <a:latin typeface="Calibri"/>
              </a:rPr>
              <a:t>Department of Computer Applications · Faculty of Science and Humanities</a:t>
            </a:r>
          </a:p>
          <a:p>
            <a:pPr algn="l">
              <a:lnSpc>
                <a:spcPct val="110000"/>
              </a:lnSpc>
            </a:pPr>
            <a:r>
              <a:rPr sz="1200" b="0" i="0">
                <a:solidFill>
                  <a:srgbClr val="B9BED3"/>
                </a:solidFill>
                <a:latin typeface="Calibri"/>
              </a:rPr>
              <a:t>SRM Institute of Science and Technology, Kattankulathur – 603 203</a:t>
            </a:r>
          </a:p>
        </p:txBody>
      </p:sp>
      <p:sp>
        <p:nvSpPr>
          <p:cNvPr id="14" name="Rounded Rectangle 13"/>
          <p:cNvSpPr/>
          <p:nvPr/>
        </p:nvSpPr>
        <p:spPr>
          <a:xfrm>
            <a:off x="891540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46404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01268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0561320" y="14173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10996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91540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9464040" y="196596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1268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1056132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1110996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915400" y="251460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9464040" y="251460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10012680" y="251460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10561320" y="251460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11109960" y="251460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91540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46404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10012680" y="3063240"/>
            <a:ext cx="420624" cy="420624"/>
          </a:xfrm>
          <a:prstGeom prst="roundRect">
            <a:avLst>
              <a:gd name="adj" fmla="val 18000"/>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056132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110996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8915400" y="361188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9464040" y="361188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10012680" y="361188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10561320" y="361188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11109960" y="361188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91540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9464040" y="41605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01268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56132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1110996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915400" y="4800600"/>
            <a:ext cx="2651760" cy="548640"/>
          </a:xfrm>
          <a:prstGeom prst="rect">
            <a:avLst/>
          </a:prstGeom>
          <a:noFill/>
        </p:spPr>
        <p:txBody>
          <a:bodyPr wrap="square" lIns="0" rIns="0" tIns="0" bIns="0" anchor="t">
            <a:spAutoFit/>
          </a:bodyPr>
          <a:lstStyle/>
          <a:p>
            <a:pPr algn="l"/>
            <a:r>
              <a:rPr sz="1200" b="0" i="1">
                <a:solidFill>
                  <a:srgbClr val="B9BED3"/>
                </a:solidFill>
                <a:latin typeface="Calibri"/>
              </a:rPr>
              <a:t>One seat, one student — confirmed in a single database transaction.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ABSTRACT</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Fair, exact elective registration for a whole department</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02 / 16</a:t>
            </a:r>
          </a:p>
        </p:txBody>
      </p:sp>
      <p:sp>
        <p:nvSpPr>
          <p:cNvPr id="8" name="Rounded Rectangle 7"/>
          <p:cNvSpPr/>
          <p:nvPr/>
        </p:nvSpPr>
        <p:spPr>
          <a:xfrm>
            <a:off x="548640" y="1600200"/>
            <a:ext cx="3474720" cy="306324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68680" y="1874519"/>
            <a:ext cx="566928" cy="566928"/>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TriangleAlert-ink.png"/>
          <p:cNvPicPr>
            <a:picLocks noChangeAspect="1"/>
          </p:cNvPicPr>
          <p:nvPr/>
        </p:nvPicPr>
        <p:blipFill>
          <a:blip r:embed="rId3"/>
          <a:stretch>
            <a:fillRect/>
          </a:stretch>
        </p:blipFill>
        <p:spPr>
          <a:xfrm>
            <a:off x="1004742" y="2010582"/>
            <a:ext cx="294802" cy="294802"/>
          </a:xfrm>
          <a:prstGeom prst="rect">
            <a:avLst/>
          </a:prstGeom>
        </p:spPr>
      </p:pic>
      <p:sp>
        <p:nvSpPr>
          <p:cNvPr id="11" name="TextBox 10"/>
          <p:cNvSpPr txBox="1"/>
          <p:nvPr/>
        </p:nvSpPr>
        <p:spPr>
          <a:xfrm>
            <a:off x="868680" y="2606040"/>
            <a:ext cx="2926080" cy="365760"/>
          </a:xfrm>
          <a:prstGeom prst="rect">
            <a:avLst/>
          </a:prstGeom>
          <a:noFill/>
        </p:spPr>
        <p:txBody>
          <a:bodyPr wrap="square" lIns="0" rIns="0" tIns="0" bIns="0" anchor="t">
            <a:spAutoFit/>
          </a:bodyPr>
          <a:lstStyle/>
          <a:p>
            <a:pPr algn="l"/>
            <a:r>
              <a:rPr sz="2000" b="1" i="0">
                <a:solidFill>
                  <a:srgbClr val="0E1330"/>
                </a:solidFill>
                <a:latin typeface="Calibri"/>
              </a:rPr>
              <a:t>The problem</a:t>
            </a:r>
          </a:p>
        </p:txBody>
      </p:sp>
      <p:sp>
        <p:nvSpPr>
          <p:cNvPr id="12" name="TextBox 11"/>
          <p:cNvSpPr txBox="1"/>
          <p:nvPr/>
        </p:nvSpPr>
        <p:spPr>
          <a:xfrm>
            <a:off x="868680" y="3063240"/>
            <a:ext cx="2880360" cy="1828800"/>
          </a:xfrm>
          <a:prstGeom prst="rect">
            <a:avLst/>
          </a:prstGeom>
          <a:noFill/>
        </p:spPr>
        <p:txBody>
          <a:bodyPr wrap="square" lIns="0" rIns="0" tIns="0" bIns="0" anchor="t">
            <a:spAutoFit/>
          </a:bodyPr>
          <a:lstStyle/>
          <a:p>
            <a:pPr algn="l">
              <a:lnSpc>
                <a:spcPct val="108000"/>
              </a:lnSpc>
            </a:pPr>
            <a:r>
              <a:rPr sz="1600" b="0" i="0">
                <a:solidFill>
                  <a:srgbClr val="555B73"/>
                </a:solidFill>
                <a:latin typeface="Calibri"/>
              </a:rPr>
              <a:t>Seats are limited and the window is short. Forms and spreadsheets cannot enforce a seat limit at the moment of choice, and several cohorts run at once.</a:t>
            </a:r>
          </a:p>
        </p:txBody>
      </p:sp>
      <p:sp>
        <p:nvSpPr>
          <p:cNvPr id="13" name="Rounded Rectangle 12"/>
          <p:cNvSpPr/>
          <p:nvPr/>
        </p:nvSpPr>
        <p:spPr>
          <a:xfrm>
            <a:off x="4297679" y="1600200"/>
            <a:ext cx="3474720" cy="306324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617719" y="1874519"/>
            <a:ext cx="566928" cy="566928"/>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Workflow-ink.png"/>
          <p:cNvPicPr>
            <a:picLocks noChangeAspect="1"/>
          </p:cNvPicPr>
          <p:nvPr/>
        </p:nvPicPr>
        <p:blipFill>
          <a:blip r:embed="rId4"/>
          <a:stretch>
            <a:fillRect/>
          </a:stretch>
        </p:blipFill>
        <p:spPr>
          <a:xfrm>
            <a:off x="4753782" y="2010582"/>
            <a:ext cx="294802" cy="294802"/>
          </a:xfrm>
          <a:prstGeom prst="rect">
            <a:avLst/>
          </a:prstGeom>
        </p:spPr>
      </p:pic>
      <p:sp>
        <p:nvSpPr>
          <p:cNvPr id="16" name="TextBox 15"/>
          <p:cNvSpPr txBox="1"/>
          <p:nvPr/>
        </p:nvSpPr>
        <p:spPr>
          <a:xfrm>
            <a:off x="4617719" y="2606040"/>
            <a:ext cx="2926080" cy="365760"/>
          </a:xfrm>
          <a:prstGeom prst="rect">
            <a:avLst/>
          </a:prstGeom>
          <a:noFill/>
        </p:spPr>
        <p:txBody>
          <a:bodyPr wrap="square" lIns="0" rIns="0" tIns="0" bIns="0" anchor="t">
            <a:spAutoFit/>
          </a:bodyPr>
          <a:lstStyle/>
          <a:p>
            <a:pPr algn="l"/>
            <a:r>
              <a:rPr sz="2000" b="1" i="0">
                <a:solidFill>
                  <a:srgbClr val="0E1330"/>
                </a:solidFill>
                <a:latin typeface="Calibri"/>
              </a:rPr>
              <a:t>The solution</a:t>
            </a:r>
          </a:p>
        </p:txBody>
      </p:sp>
      <p:sp>
        <p:nvSpPr>
          <p:cNvPr id="17" name="TextBox 16"/>
          <p:cNvSpPr txBox="1"/>
          <p:nvPr/>
        </p:nvSpPr>
        <p:spPr>
          <a:xfrm>
            <a:off x="4617719" y="3063240"/>
            <a:ext cx="2880360" cy="1828800"/>
          </a:xfrm>
          <a:prstGeom prst="rect">
            <a:avLst/>
          </a:prstGeom>
          <a:noFill/>
        </p:spPr>
        <p:txBody>
          <a:bodyPr wrap="square" lIns="0" rIns="0" tIns="0" bIns="0" anchor="t">
            <a:spAutoFit/>
          </a:bodyPr>
          <a:lstStyle/>
          <a:p>
            <a:pPr algn="l">
              <a:lnSpc>
                <a:spcPct val="108000"/>
              </a:lnSpc>
            </a:pPr>
            <a:r>
              <a:rPr sz="1600" b="0" i="0">
                <a:solidFill>
                  <a:srgbClr val="555B73"/>
                </a:solidFill>
                <a:latin typeface="Calibri"/>
              </a:rPr>
              <a:t>A web application in which every registration, change and cancellation is one PostgreSQL transaction that locks the subject rows and applies capacity and class quotas.</a:t>
            </a:r>
          </a:p>
        </p:txBody>
      </p:sp>
      <p:sp>
        <p:nvSpPr>
          <p:cNvPr id="18" name="Rounded Rectangle 17"/>
          <p:cNvSpPr/>
          <p:nvPr/>
        </p:nvSpPr>
        <p:spPr>
          <a:xfrm>
            <a:off x="8046719" y="1600200"/>
            <a:ext cx="3474720" cy="306324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66759" y="1874519"/>
            <a:ext cx="566928" cy="566928"/>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ink.png"/>
          <p:cNvPicPr>
            <a:picLocks noChangeAspect="1"/>
          </p:cNvPicPr>
          <p:nvPr/>
        </p:nvPicPr>
        <p:blipFill>
          <a:blip r:embed="rId5"/>
          <a:stretch>
            <a:fillRect/>
          </a:stretch>
        </p:blipFill>
        <p:spPr>
          <a:xfrm>
            <a:off x="8502822" y="2010582"/>
            <a:ext cx="294802" cy="294802"/>
          </a:xfrm>
          <a:prstGeom prst="rect">
            <a:avLst/>
          </a:prstGeom>
        </p:spPr>
      </p:pic>
      <p:sp>
        <p:nvSpPr>
          <p:cNvPr id="21" name="TextBox 20"/>
          <p:cNvSpPr txBox="1"/>
          <p:nvPr/>
        </p:nvSpPr>
        <p:spPr>
          <a:xfrm>
            <a:off x="8366759" y="2606040"/>
            <a:ext cx="2926080" cy="365760"/>
          </a:xfrm>
          <a:prstGeom prst="rect">
            <a:avLst/>
          </a:prstGeom>
          <a:noFill/>
        </p:spPr>
        <p:txBody>
          <a:bodyPr wrap="square" lIns="0" rIns="0" tIns="0" bIns="0" anchor="t">
            <a:spAutoFit/>
          </a:bodyPr>
          <a:lstStyle/>
          <a:p>
            <a:pPr algn="l"/>
            <a:r>
              <a:rPr sz="2000" b="1" i="0">
                <a:solidFill>
                  <a:srgbClr val="0E1330"/>
                </a:solidFill>
                <a:latin typeface="Calibri"/>
              </a:rPr>
              <a:t>Verified outcome</a:t>
            </a:r>
          </a:p>
        </p:txBody>
      </p:sp>
      <p:sp>
        <p:nvSpPr>
          <p:cNvPr id="22" name="TextBox 21"/>
          <p:cNvSpPr txBox="1"/>
          <p:nvPr/>
        </p:nvSpPr>
        <p:spPr>
          <a:xfrm>
            <a:off x="8366759" y="3063240"/>
            <a:ext cx="2880360" cy="1828800"/>
          </a:xfrm>
          <a:prstGeom prst="rect">
            <a:avLst/>
          </a:prstGeom>
          <a:noFill/>
        </p:spPr>
        <p:txBody>
          <a:bodyPr wrap="square" lIns="0" rIns="0" tIns="0" bIns="0" anchor="t">
            <a:spAutoFit/>
          </a:bodyPr>
          <a:lstStyle/>
          <a:p>
            <a:pPr algn="l">
              <a:lnSpc>
                <a:spcPct val="108000"/>
              </a:lnSpc>
            </a:pPr>
            <a:r>
              <a:rPr sz="1600" b="0" i="0">
                <a:solidFill>
                  <a:srgbClr val="555B73"/>
                </a:solidFill>
                <a:latin typeface="Calibri"/>
              </a:rPr>
              <a:t>136/136 server-side tests and 36/36 browser tests pass; 0 layout overflows at 7 screen sizes; 0 automated accessibility violations (runs of 15 Oct 2026).</a:t>
            </a:r>
          </a:p>
        </p:txBody>
      </p:sp>
      <p:sp>
        <p:nvSpPr>
          <p:cNvPr id="23" name="Rounded Rectangle 22"/>
          <p:cNvSpPr/>
          <p:nvPr/>
        </p:nvSpPr>
        <p:spPr>
          <a:xfrm>
            <a:off x="548640" y="4892040"/>
            <a:ext cx="11064240" cy="777240"/>
          </a:xfrm>
          <a:prstGeom prst="roundRect">
            <a:avLst>
              <a:gd name="adj" fmla="val 8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68680" y="4983480"/>
            <a:ext cx="2011680" cy="594360"/>
          </a:xfrm>
          <a:prstGeom prst="rect">
            <a:avLst/>
          </a:prstGeom>
          <a:noFill/>
        </p:spPr>
        <p:txBody>
          <a:bodyPr wrap="square" lIns="0" rIns="0" tIns="0" bIns="0" anchor="ctr">
            <a:spAutoFit/>
          </a:bodyPr>
          <a:lstStyle/>
          <a:p>
            <a:pPr algn="l"/>
            <a:r>
              <a:rPr sz="1500" b="1" i="0">
                <a:solidFill>
                  <a:srgbClr val="E9B44C"/>
                </a:solidFill>
                <a:latin typeface="Calibri"/>
              </a:rPr>
              <a:t>Objectives</a:t>
            </a:r>
          </a:p>
        </p:txBody>
      </p:sp>
      <p:sp>
        <p:nvSpPr>
          <p:cNvPr id="25" name="TextBox 24"/>
          <p:cNvSpPr txBox="1"/>
          <p:nvPr/>
        </p:nvSpPr>
        <p:spPr>
          <a:xfrm>
            <a:off x="2331720" y="4983480"/>
            <a:ext cx="9144000" cy="594360"/>
          </a:xfrm>
          <a:prstGeom prst="rect">
            <a:avLst/>
          </a:prstGeom>
          <a:noFill/>
        </p:spPr>
        <p:txBody>
          <a:bodyPr wrap="square" lIns="0" rIns="0" tIns="0" bIns="0" anchor="ctr">
            <a:spAutoFit/>
          </a:bodyPr>
          <a:lstStyle/>
          <a:p>
            <a:pPr algn="l"/>
            <a:r>
              <a:rPr sz="1500" b="0" i="0">
                <a:solidFill>
                  <a:srgbClr val="FFFFFF"/>
                </a:solidFill>
                <a:latin typeface="Calibri"/>
              </a:rPr>
              <a:t>Exact seat limits  ·  cohort and Year Server isolation  ·  scoped staff roles  ·  auditable records</a:t>
            </a:r>
          </a:p>
        </p:txBody>
      </p:sp>
      <p:sp>
        <p:nvSpPr>
          <p:cNvPr id="26" name="TextBox 25"/>
          <p:cNvSpPr txBox="1"/>
          <p:nvPr/>
        </p:nvSpPr>
        <p:spPr>
          <a:xfrm>
            <a:off x="548640" y="5852160"/>
            <a:ext cx="11064240" cy="256032"/>
          </a:xfrm>
          <a:prstGeom prst="rect">
            <a:avLst/>
          </a:prstGeom>
          <a:noFill/>
        </p:spPr>
        <p:txBody>
          <a:bodyPr wrap="square" lIns="0" rIns="0" tIns="0" bIns="0" anchor="t">
            <a:spAutoFit/>
          </a:bodyPr>
          <a:lstStyle/>
          <a:p>
            <a:pPr algn="l"/>
            <a:r>
              <a:rPr sz="1100" b="0" i="0">
                <a:solidFill>
                  <a:srgbClr val="555B73"/>
                </a:solidFill>
                <a:latin typeface="Calibri"/>
              </a:rPr>
              <a:t>Built with  Next.js 16 · React 19 · TypeScript · Drizzle ORM · PostgreSQL · optional Supabase Realtime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INTRODUCTION</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What Electify is and who uses it</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03 / 16</a:t>
            </a:r>
          </a:p>
        </p:txBody>
      </p:sp>
      <p:sp>
        <p:nvSpPr>
          <p:cNvPr id="8" name="TextBox 7"/>
          <p:cNvSpPr txBox="1"/>
          <p:nvPr/>
        </p:nvSpPr>
        <p:spPr>
          <a:xfrm>
            <a:off x="548640" y="1600200"/>
            <a:ext cx="5120640" cy="2377440"/>
          </a:xfrm>
          <a:prstGeom prst="rect">
            <a:avLst/>
          </a:prstGeom>
          <a:noFill/>
        </p:spPr>
        <p:txBody>
          <a:bodyPr wrap="square" lIns="0" rIns="0" tIns="0" bIns="0" anchor="t">
            <a:spAutoFit/>
          </a:bodyPr>
          <a:lstStyle/>
          <a:p>
            <a:pPr algn="l">
              <a:lnSpc>
                <a:spcPct val="108000"/>
              </a:lnSpc>
              <a:spcAft>
                <a:spcPts val="1000"/>
              </a:spcAft>
            </a:pPr>
            <a:r>
              <a:rPr sz="1600" b="0" i="0">
                <a:solidFill>
                  <a:srgbClr val="555B73"/>
                </a:solidFill>
                <a:latin typeface="Calibri"/>
              </a:rPr>
              <a:t>Electives let students shape part of their programme. Each semester, every class picks a subject from baskets such as Professional Elective I and Open Elective I, and each subject has a fixed number of seats.</a:t>
            </a:r>
          </a:p>
          <a:p>
            <a:pPr algn="l">
              <a:lnSpc>
                <a:spcPct val="108000"/>
              </a:lnSpc>
              <a:spcAft>
                <a:spcPts val="1000"/>
              </a:spcAft>
            </a:pPr>
            <a:r>
              <a:rPr sz="1600" b="0" i="0">
                <a:solidFill>
                  <a:srgbClr val="555B73"/>
                </a:solidFill>
                <a:latin typeface="Calibri"/>
              </a:rPr>
              <a:t>Electify runs that exercise on the department's own web application: the window, the seats, the choices and the records.</a:t>
            </a:r>
          </a:p>
        </p:txBody>
      </p:sp>
      <p:sp>
        <p:nvSpPr>
          <p:cNvPr id="9" name="Rounded Rectangle 8"/>
          <p:cNvSpPr/>
          <p:nvPr/>
        </p:nvSpPr>
        <p:spPr>
          <a:xfrm>
            <a:off x="6172200" y="1600200"/>
            <a:ext cx="5440680" cy="91440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355080" y="1773936"/>
            <a:ext cx="566928" cy="566928"/>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ilding2-ink.png"/>
          <p:cNvPicPr>
            <a:picLocks noChangeAspect="1"/>
          </p:cNvPicPr>
          <p:nvPr/>
        </p:nvPicPr>
        <p:blipFill>
          <a:blip r:embed="rId3"/>
          <a:stretch>
            <a:fillRect/>
          </a:stretch>
        </p:blipFill>
        <p:spPr>
          <a:xfrm>
            <a:off x="6491142" y="1909998"/>
            <a:ext cx="294802" cy="294802"/>
          </a:xfrm>
          <a:prstGeom prst="rect">
            <a:avLst/>
          </a:prstGeom>
        </p:spPr>
      </p:pic>
      <p:sp>
        <p:nvSpPr>
          <p:cNvPr id="12" name="TextBox 11"/>
          <p:cNvSpPr txBox="1"/>
          <p:nvPr/>
        </p:nvSpPr>
        <p:spPr>
          <a:xfrm>
            <a:off x="7132320" y="1728216"/>
            <a:ext cx="4297680" cy="329184"/>
          </a:xfrm>
          <a:prstGeom prst="rect">
            <a:avLst/>
          </a:prstGeom>
          <a:noFill/>
        </p:spPr>
        <p:txBody>
          <a:bodyPr wrap="square" lIns="0" rIns="0" tIns="0" bIns="0" anchor="t">
            <a:spAutoFit/>
          </a:bodyPr>
          <a:lstStyle/>
          <a:p>
            <a:pPr algn="l"/>
            <a:r>
              <a:rPr sz="1700" b="1" i="0">
                <a:solidFill>
                  <a:srgbClr val="0E1330"/>
                </a:solidFill>
                <a:latin typeface="Calibri"/>
              </a:rPr>
              <a:t>System administrator</a:t>
            </a:r>
          </a:p>
        </p:txBody>
      </p:sp>
      <p:sp>
        <p:nvSpPr>
          <p:cNvPr id="13" name="TextBox 12"/>
          <p:cNvSpPr txBox="1"/>
          <p:nvPr/>
        </p:nvSpPr>
        <p:spPr>
          <a:xfrm>
            <a:off x="7132320" y="2075688"/>
            <a:ext cx="4343400" cy="329184"/>
          </a:xfrm>
          <a:prstGeom prst="rect">
            <a:avLst/>
          </a:prstGeom>
          <a:noFill/>
        </p:spPr>
        <p:txBody>
          <a:bodyPr wrap="square" lIns="0" rIns="0" tIns="0" bIns="0" anchor="t">
            <a:spAutoFit/>
          </a:bodyPr>
          <a:lstStyle/>
          <a:p>
            <a:pPr algn="l"/>
            <a:r>
              <a:rPr sz="1400" b="0" i="0">
                <a:solidFill>
                  <a:srgbClr val="555B73"/>
                </a:solidFill>
                <a:latin typeface="Calibri"/>
              </a:rPr>
              <a:t>Year Servers, departments, staff accounts, audit log</a:t>
            </a:r>
          </a:p>
        </p:txBody>
      </p:sp>
      <p:sp>
        <p:nvSpPr>
          <p:cNvPr id="14" name="Rounded Rectangle 13"/>
          <p:cNvSpPr/>
          <p:nvPr/>
        </p:nvSpPr>
        <p:spPr>
          <a:xfrm>
            <a:off x="6172200" y="2679191"/>
            <a:ext cx="5440680" cy="91440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55080" y="2852927"/>
            <a:ext cx="566928" cy="566928"/>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Cog-ink.png"/>
          <p:cNvPicPr>
            <a:picLocks noChangeAspect="1"/>
          </p:cNvPicPr>
          <p:nvPr/>
        </p:nvPicPr>
        <p:blipFill>
          <a:blip r:embed="rId4"/>
          <a:stretch>
            <a:fillRect/>
          </a:stretch>
        </p:blipFill>
        <p:spPr>
          <a:xfrm>
            <a:off x="6491142" y="2988990"/>
            <a:ext cx="294802" cy="294802"/>
          </a:xfrm>
          <a:prstGeom prst="rect">
            <a:avLst/>
          </a:prstGeom>
        </p:spPr>
      </p:pic>
      <p:sp>
        <p:nvSpPr>
          <p:cNvPr id="17" name="TextBox 16"/>
          <p:cNvSpPr txBox="1"/>
          <p:nvPr/>
        </p:nvSpPr>
        <p:spPr>
          <a:xfrm>
            <a:off x="7132320" y="2807208"/>
            <a:ext cx="4297680" cy="329184"/>
          </a:xfrm>
          <a:prstGeom prst="rect">
            <a:avLst/>
          </a:prstGeom>
          <a:noFill/>
        </p:spPr>
        <p:txBody>
          <a:bodyPr wrap="square" lIns="0" rIns="0" tIns="0" bIns="0" anchor="t">
            <a:spAutoFit/>
          </a:bodyPr>
          <a:lstStyle/>
          <a:p>
            <a:pPr algn="l"/>
            <a:r>
              <a:rPr sz="1700" b="1" i="0">
                <a:solidFill>
                  <a:srgbClr val="0E1330"/>
                </a:solidFill>
                <a:latin typeface="Calibri"/>
              </a:rPr>
              <a:t>Course coordinator</a:t>
            </a:r>
          </a:p>
        </p:txBody>
      </p:sp>
      <p:sp>
        <p:nvSpPr>
          <p:cNvPr id="18" name="TextBox 17"/>
          <p:cNvSpPr txBox="1"/>
          <p:nvPr/>
        </p:nvSpPr>
        <p:spPr>
          <a:xfrm>
            <a:off x="7132320" y="3154679"/>
            <a:ext cx="4343400" cy="329184"/>
          </a:xfrm>
          <a:prstGeom prst="rect">
            <a:avLst/>
          </a:prstGeom>
          <a:noFill/>
        </p:spPr>
        <p:txBody>
          <a:bodyPr wrap="square" lIns="0" rIns="0" tIns="0" bIns="0" anchor="t">
            <a:spAutoFit/>
          </a:bodyPr>
          <a:lstStyle/>
          <a:p>
            <a:pPr algn="l"/>
            <a:r>
              <a:rPr sz="1400" b="0" i="0">
                <a:solidFill>
                  <a:srgbClr val="555B73"/>
                </a:solidFill>
                <a:latin typeface="Calibri"/>
              </a:rPr>
              <a:t>Events, baskets, subjects, class quotas, reports</a:t>
            </a:r>
          </a:p>
        </p:txBody>
      </p:sp>
      <p:sp>
        <p:nvSpPr>
          <p:cNvPr id="19" name="Rounded Rectangle 18"/>
          <p:cNvSpPr/>
          <p:nvPr/>
        </p:nvSpPr>
        <p:spPr>
          <a:xfrm>
            <a:off x="6172200" y="3758183"/>
            <a:ext cx="5440680" cy="91440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355080" y="3931920"/>
            <a:ext cx="566928" cy="566928"/>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s-ink.png"/>
          <p:cNvPicPr>
            <a:picLocks noChangeAspect="1"/>
          </p:cNvPicPr>
          <p:nvPr/>
        </p:nvPicPr>
        <p:blipFill>
          <a:blip r:embed="rId5"/>
          <a:stretch>
            <a:fillRect/>
          </a:stretch>
        </p:blipFill>
        <p:spPr>
          <a:xfrm>
            <a:off x="6491142" y="4067982"/>
            <a:ext cx="294802" cy="294802"/>
          </a:xfrm>
          <a:prstGeom prst="rect">
            <a:avLst/>
          </a:prstGeom>
        </p:spPr>
      </p:pic>
      <p:sp>
        <p:nvSpPr>
          <p:cNvPr id="22" name="TextBox 21"/>
          <p:cNvSpPr txBox="1"/>
          <p:nvPr/>
        </p:nvSpPr>
        <p:spPr>
          <a:xfrm>
            <a:off x="7132320" y="3886199"/>
            <a:ext cx="4297680" cy="329184"/>
          </a:xfrm>
          <a:prstGeom prst="rect">
            <a:avLst/>
          </a:prstGeom>
          <a:noFill/>
        </p:spPr>
        <p:txBody>
          <a:bodyPr wrap="square" lIns="0" rIns="0" tIns="0" bIns="0" anchor="t">
            <a:spAutoFit/>
          </a:bodyPr>
          <a:lstStyle/>
          <a:p>
            <a:pPr algn="l"/>
            <a:r>
              <a:rPr sz="1700" b="1" i="0">
                <a:solidFill>
                  <a:srgbClr val="0E1330"/>
                </a:solidFill>
                <a:latin typeface="Calibri"/>
              </a:rPr>
              <a:t>Class tutor</a:t>
            </a:r>
          </a:p>
        </p:txBody>
      </p:sp>
      <p:sp>
        <p:nvSpPr>
          <p:cNvPr id="23" name="TextBox 22"/>
          <p:cNvSpPr txBox="1"/>
          <p:nvPr/>
        </p:nvSpPr>
        <p:spPr>
          <a:xfrm>
            <a:off x="7132320" y="4233671"/>
            <a:ext cx="4343400" cy="329184"/>
          </a:xfrm>
          <a:prstGeom prst="rect">
            <a:avLst/>
          </a:prstGeom>
          <a:noFill/>
        </p:spPr>
        <p:txBody>
          <a:bodyPr wrap="square" lIns="0" rIns="0" tIns="0" bIns="0" anchor="t">
            <a:spAutoFit/>
          </a:bodyPr>
          <a:lstStyle/>
          <a:p>
            <a:pPr algn="l"/>
            <a:r>
              <a:rPr sz="1400" b="0" i="0">
                <a:solidFill>
                  <a:srgbClr val="555B73"/>
                </a:solidFill>
                <a:latin typeface="Calibri"/>
              </a:rPr>
              <a:t>Class roster, signup codes, live window, password resets</a:t>
            </a:r>
          </a:p>
        </p:txBody>
      </p:sp>
      <p:sp>
        <p:nvSpPr>
          <p:cNvPr id="24" name="Rounded Rectangle 23"/>
          <p:cNvSpPr/>
          <p:nvPr/>
        </p:nvSpPr>
        <p:spPr>
          <a:xfrm>
            <a:off x="6172200" y="4837176"/>
            <a:ext cx="5440680" cy="91440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55080" y="5010912"/>
            <a:ext cx="566928" cy="566928"/>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raduationCap-ink.png"/>
          <p:cNvPicPr>
            <a:picLocks noChangeAspect="1"/>
          </p:cNvPicPr>
          <p:nvPr/>
        </p:nvPicPr>
        <p:blipFill>
          <a:blip r:embed="rId6"/>
          <a:stretch>
            <a:fillRect/>
          </a:stretch>
        </p:blipFill>
        <p:spPr>
          <a:xfrm>
            <a:off x="6491142" y="5146974"/>
            <a:ext cx="294802" cy="294802"/>
          </a:xfrm>
          <a:prstGeom prst="rect">
            <a:avLst/>
          </a:prstGeom>
        </p:spPr>
      </p:pic>
      <p:sp>
        <p:nvSpPr>
          <p:cNvPr id="27" name="TextBox 26"/>
          <p:cNvSpPr txBox="1"/>
          <p:nvPr/>
        </p:nvSpPr>
        <p:spPr>
          <a:xfrm>
            <a:off x="7132320" y="4965192"/>
            <a:ext cx="4297680" cy="329184"/>
          </a:xfrm>
          <a:prstGeom prst="rect">
            <a:avLst/>
          </a:prstGeom>
          <a:noFill/>
        </p:spPr>
        <p:txBody>
          <a:bodyPr wrap="square" lIns="0" rIns="0" tIns="0" bIns="0" anchor="t">
            <a:spAutoFit/>
          </a:bodyPr>
          <a:lstStyle/>
          <a:p>
            <a:pPr algn="l"/>
            <a:r>
              <a:rPr sz="1700" b="1" i="0">
                <a:solidFill>
                  <a:srgbClr val="0E1330"/>
                </a:solidFill>
                <a:latin typeface="Calibri"/>
              </a:rPr>
              <a:t>Student</a:t>
            </a:r>
          </a:p>
        </p:txBody>
      </p:sp>
      <p:sp>
        <p:nvSpPr>
          <p:cNvPr id="28" name="TextBox 27"/>
          <p:cNvSpPr txBox="1"/>
          <p:nvPr/>
        </p:nvSpPr>
        <p:spPr>
          <a:xfrm>
            <a:off x="7132320" y="5312664"/>
            <a:ext cx="4343400" cy="329184"/>
          </a:xfrm>
          <a:prstGeom prst="rect">
            <a:avLst/>
          </a:prstGeom>
          <a:noFill/>
        </p:spPr>
        <p:txBody>
          <a:bodyPr wrap="square" lIns="0" rIns="0" tIns="0" bIns="0" anchor="t">
            <a:spAutoFit/>
          </a:bodyPr>
          <a:lstStyle/>
          <a:p>
            <a:pPr algn="l"/>
            <a:r>
              <a:rPr sz="1400" b="0" i="0">
                <a:solidFill>
                  <a:srgbClr val="555B73"/>
                </a:solidFill>
                <a:latin typeface="Calibri"/>
              </a:rPr>
              <a:t>Explores subjects, registers, changes or cancels, receipt</a:t>
            </a:r>
          </a:p>
        </p:txBody>
      </p:sp>
      <p:sp>
        <p:nvSpPr>
          <p:cNvPr id="29" name="Rounded Rectangle 28"/>
          <p:cNvSpPr/>
          <p:nvPr/>
        </p:nvSpPr>
        <p:spPr>
          <a:xfrm>
            <a:off x="548640" y="3977639"/>
            <a:ext cx="5120640" cy="2148840"/>
          </a:xfrm>
          <a:prstGeom prst="roundRect">
            <a:avLst>
              <a:gd name="adj" fmla="val 6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2960" y="4160520"/>
            <a:ext cx="4572000" cy="320040"/>
          </a:xfrm>
          <a:prstGeom prst="rect">
            <a:avLst/>
          </a:prstGeom>
          <a:noFill/>
        </p:spPr>
        <p:txBody>
          <a:bodyPr wrap="square" lIns="0" rIns="0" tIns="0" bIns="0" anchor="t">
            <a:spAutoFit/>
          </a:bodyPr>
          <a:lstStyle/>
          <a:p>
            <a:pPr algn="l"/>
            <a:r>
              <a:rPr sz="1700" b="1" i="0">
                <a:solidFill>
                  <a:srgbClr val="0E1330"/>
                </a:solidFill>
                <a:latin typeface="Calibri"/>
              </a:rPr>
              <a:t>Why it matters</a:t>
            </a:r>
          </a:p>
        </p:txBody>
      </p:sp>
      <p:sp>
        <p:nvSpPr>
          <p:cNvPr id="31" name="TextBox 30"/>
          <p:cNvSpPr txBox="1"/>
          <p:nvPr/>
        </p:nvSpPr>
        <p:spPr>
          <a:xfrm>
            <a:off x="822960" y="4553712"/>
            <a:ext cx="4663440" cy="1508760"/>
          </a:xfrm>
          <a:prstGeom prst="rect">
            <a:avLst/>
          </a:prstGeom>
          <a:noFill/>
        </p:spPr>
        <p:txBody>
          <a:bodyPr wrap="square" lIns="0" rIns="0" tIns="0" bIns="0" anchor="t">
            <a:spAutoFit/>
          </a:bodyPr>
          <a:lstStyle/>
          <a:p>
            <a:pPr marL="256032" indent="-256032">
              <a:spcAft>
                <a:spcPts val="400"/>
              </a:spcAft>
              <a:buClr>
                <a:srgbClr val="E9B44C"/>
              </a:buClr>
              <a:buFont typeface="Arial"/>
              <a:buChar char="•"/>
            </a:pPr>
            <a:r>
              <a:rPr sz="1500" b="0">
                <a:solidFill>
                  <a:srgbClr val="0E1330"/>
                </a:solidFill>
                <a:latin typeface="Calibri"/>
              </a:rPr>
              <a:t>Most students act in the first minutes; popular subjects fill fast</a:t>
            </a:r>
          </a:p>
          <a:p>
            <a:pPr marL="256032" indent="-256032">
              <a:spcAft>
                <a:spcPts val="400"/>
              </a:spcAft>
              <a:buClr>
                <a:srgbClr val="E9B44C"/>
              </a:buClr>
              <a:buFont typeface="Arial"/>
              <a:buChar char="•"/>
            </a:pPr>
            <a:r>
              <a:rPr sz="1500" b="0">
                <a:solidFill>
                  <a:srgbClr val="0E1330"/>
                </a:solidFill>
                <a:latin typeface="Calibri"/>
              </a:rPr>
              <a:t>A seat promised twice means one student is moved later</a:t>
            </a:r>
          </a:p>
          <a:p>
            <a:pPr marL="256032" indent="-256032">
              <a:spcAft>
                <a:spcPts val="400"/>
              </a:spcAft>
              <a:buClr>
                <a:srgbClr val="E9B44C"/>
              </a:buClr>
              <a:buFont typeface="Arial"/>
              <a:buChar char="•"/>
            </a:pPr>
            <a:r>
              <a:rPr sz="1500" b="0">
                <a:solidFill>
                  <a:srgbClr val="0E1330"/>
                </a:solidFill>
                <a:latin typeface="Calibri"/>
              </a:rPr>
              <a:t>Two cohorts can share a class name such as MCA 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PROBLEM STATEMENT</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Read, check, write: how a simple form overbooks a subject</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04 / 16</a:t>
            </a:r>
          </a:p>
        </p:txBody>
      </p:sp>
      <p:sp>
        <p:nvSpPr>
          <p:cNvPr id="8" name="TextBox 7"/>
          <p:cNvSpPr txBox="1"/>
          <p:nvPr/>
        </p:nvSpPr>
        <p:spPr>
          <a:xfrm>
            <a:off x="548640" y="1554480"/>
            <a:ext cx="5852160" cy="320040"/>
          </a:xfrm>
          <a:prstGeom prst="rect">
            <a:avLst/>
          </a:prstGeom>
          <a:noFill/>
        </p:spPr>
        <p:txBody>
          <a:bodyPr wrap="square" lIns="0" rIns="0" tIns="0" bIns="0" anchor="t">
            <a:spAutoFit/>
          </a:bodyPr>
          <a:lstStyle/>
          <a:p>
            <a:pPr algn="l"/>
            <a:r>
              <a:rPr sz="1600" b="1" i="0">
                <a:solidFill>
                  <a:srgbClr val="0E1330"/>
                </a:solidFill>
                <a:latin typeface="Calibri"/>
              </a:rPr>
              <a:t>Two students submit at the same moment</a:t>
            </a:r>
          </a:p>
        </p:txBody>
      </p:sp>
      <p:sp>
        <p:nvSpPr>
          <p:cNvPr id="9" name="Rounded Rectangle 8"/>
          <p:cNvSpPr/>
          <p:nvPr/>
        </p:nvSpPr>
        <p:spPr>
          <a:xfrm>
            <a:off x="548640" y="2011680"/>
            <a:ext cx="1417320" cy="1051560"/>
          </a:xfrm>
          <a:prstGeom prst="roundRect">
            <a:avLst>
              <a:gd name="adj" fmla="val 10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2011680"/>
            <a:ext cx="1417320" cy="1051560"/>
          </a:xfrm>
          <a:prstGeom prst="rect">
            <a:avLst/>
          </a:prstGeom>
          <a:noFill/>
        </p:spPr>
        <p:txBody>
          <a:bodyPr wrap="square" lIns="0" rIns="0" tIns="0" bIns="0" anchor="ctr">
            <a:spAutoFit/>
          </a:bodyPr>
          <a:lstStyle/>
          <a:p>
            <a:pPr algn="ctr"/>
            <a:r>
              <a:rPr sz="1500" b="1" i="0">
                <a:solidFill>
                  <a:srgbClr val="FFFFFF"/>
                </a:solidFill>
                <a:latin typeface="Calibri"/>
              </a:rPr>
              <a:t>Student A</a:t>
            </a:r>
          </a:p>
        </p:txBody>
      </p:sp>
      <p:sp>
        <p:nvSpPr>
          <p:cNvPr id="11" name="Rounded Rectangle 10"/>
          <p:cNvSpPr/>
          <p:nvPr/>
        </p:nvSpPr>
        <p:spPr>
          <a:xfrm>
            <a:off x="2286000" y="2121408"/>
            <a:ext cx="1143000" cy="822960"/>
          </a:xfrm>
          <a:prstGeom prst="roundRect">
            <a:avLst>
              <a:gd name="adj" fmla="val 10000"/>
            </a:avLst>
          </a:prstGeom>
          <a:solidFill>
            <a:srgbClr val="F3F4F8"/>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286000" y="2121408"/>
            <a:ext cx="1143000" cy="822960"/>
          </a:xfrm>
          <a:prstGeom prst="rect">
            <a:avLst/>
          </a:prstGeom>
          <a:noFill/>
        </p:spPr>
        <p:txBody>
          <a:bodyPr wrap="square" lIns="0" rIns="0" tIns="0" bIns="0" anchor="ctr">
            <a:spAutoFit/>
          </a:bodyPr>
          <a:lstStyle/>
          <a:p>
            <a:pPr algn="ctr"/>
            <a:r>
              <a:rPr sz="1300" b="0" i="0">
                <a:solidFill>
                  <a:srgbClr val="0E1330"/>
                </a:solidFill>
                <a:latin typeface="Calibri"/>
              </a:rPr>
              <a:t>reads
1 seat left</a:t>
            </a:r>
          </a:p>
        </p:txBody>
      </p:sp>
      <p:cxnSp>
        <p:nvCxnSpPr>
          <p:cNvPr id="13" name="Connector 12"/>
          <p:cNvCxnSpPr/>
          <p:nvPr/>
        </p:nvCxnSpPr>
        <p:spPr>
          <a:xfrm>
            <a:off x="1993392" y="2532888"/>
            <a:ext cx="265176" cy="0"/>
          </a:xfrm>
          <a:prstGeom prst="line">
            <a:avLst/>
          </a:prstGeom>
          <a:ln w="19050">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657600" y="2121408"/>
            <a:ext cx="1143000" cy="822960"/>
          </a:xfrm>
          <a:prstGeom prst="roundRect">
            <a:avLst>
              <a:gd name="adj" fmla="val 10000"/>
            </a:avLst>
          </a:prstGeom>
          <a:solidFill>
            <a:srgbClr val="F3F4F8"/>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57600" y="2121408"/>
            <a:ext cx="1143000" cy="822960"/>
          </a:xfrm>
          <a:prstGeom prst="rect">
            <a:avLst/>
          </a:prstGeom>
          <a:noFill/>
        </p:spPr>
        <p:txBody>
          <a:bodyPr wrap="square" lIns="0" rIns="0" tIns="0" bIns="0" anchor="ctr">
            <a:spAutoFit/>
          </a:bodyPr>
          <a:lstStyle/>
          <a:p>
            <a:pPr algn="ctr"/>
            <a:r>
              <a:rPr sz="1300" b="0" i="0">
                <a:solidFill>
                  <a:srgbClr val="0E1330"/>
                </a:solidFill>
                <a:latin typeface="Calibri"/>
              </a:rPr>
              <a:t>check
passes</a:t>
            </a:r>
          </a:p>
        </p:txBody>
      </p:sp>
      <p:cxnSp>
        <p:nvCxnSpPr>
          <p:cNvPr id="16" name="Connector 15"/>
          <p:cNvCxnSpPr/>
          <p:nvPr/>
        </p:nvCxnSpPr>
        <p:spPr>
          <a:xfrm>
            <a:off x="3383280" y="2532888"/>
            <a:ext cx="246888" cy="0"/>
          </a:xfrm>
          <a:prstGeom prst="line">
            <a:avLst/>
          </a:prstGeom>
          <a:ln w="19050">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0" y="2121408"/>
            <a:ext cx="1143000" cy="822960"/>
          </a:xfrm>
          <a:prstGeom prst="roundRect">
            <a:avLst>
              <a:gd name="adj" fmla="val 10000"/>
            </a:avLst>
          </a:prstGeom>
          <a:solidFill>
            <a:srgbClr val="F3F4F8"/>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29200" y="2121408"/>
            <a:ext cx="1143000" cy="822960"/>
          </a:xfrm>
          <a:prstGeom prst="rect">
            <a:avLst/>
          </a:prstGeom>
          <a:noFill/>
        </p:spPr>
        <p:txBody>
          <a:bodyPr wrap="square" lIns="0" rIns="0" tIns="0" bIns="0" anchor="ctr">
            <a:spAutoFit/>
          </a:bodyPr>
          <a:lstStyle/>
          <a:p>
            <a:pPr algn="ctr"/>
            <a:r>
              <a:rPr sz="1300" b="0" i="0">
                <a:solidFill>
                  <a:srgbClr val="0E1330"/>
                </a:solidFill>
                <a:latin typeface="Calibri"/>
              </a:rPr>
              <a:t>writes
0 seats</a:t>
            </a:r>
          </a:p>
        </p:txBody>
      </p:sp>
      <p:cxnSp>
        <p:nvCxnSpPr>
          <p:cNvPr id="19" name="Connector 18"/>
          <p:cNvCxnSpPr/>
          <p:nvPr/>
        </p:nvCxnSpPr>
        <p:spPr>
          <a:xfrm>
            <a:off x="4754880" y="2532888"/>
            <a:ext cx="246888" cy="0"/>
          </a:xfrm>
          <a:prstGeom prst="line">
            <a:avLst/>
          </a:prstGeom>
          <a:ln w="19050">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3429000"/>
            <a:ext cx="1417320" cy="1051560"/>
          </a:xfrm>
          <a:prstGeom prst="roundRect">
            <a:avLst>
              <a:gd name="adj" fmla="val 10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3429000"/>
            <a:ext cx="1417320" cy="1051560"/>
          </a:xfrm>
          <a:prstGeom prst="rect">
            <a:avLst/>
          </a:prstGeom>
          <a:noFill/>
        </p:spPr>
        <p:txBody>
          <a:bodyPr wrap="square" lIns="0" rIns="0" tIns="0" bIns="0" anchor="ctr">
            <a:spAutoFit/>
          </a:bodyPr>
          <a:lstStyle/>
          <a:p>
            <a:pPr algn="ctr"/>
            <a:r>
              <a:rPr sz="1500" b="1" i="0">
                <a:solidFill>
                  <a:srgbClr val="FFFFFF"/>
                </a:solidFill>
                <a:latin typeface="Calibri"/>
              </a:rPr>
              <a:t>Student B</a:t>
            </a:r>
          </a:p>
        </p:txBody>
      </p:sp>
      <p:sp>
        <p:nvSpPr>
          <p:cNvPr id="22" name="Rounded Rectangle 21"/>
          <p:cNvSpPr/>
          <p:nvPr/>
        </p:nvSpPr>
        <p:spPr>
          <a:xfrm>
            <a:off x="2286000" y="3538728"/>
            <a:ext cx="1143000" cy="822960"/>
          </a:xfrm>
          <a:prstGeom prst="roundRect">
            <a:avLst>
              <a:gd name="adj" fmla="val 10000"/>
            </a:avLst>
          </a:prstGeom>
          <a:solidFill>
            <a:srgbClr val="F3F4F8"/>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286000" y="3538728"/>
            <a:ext cx="1143000" cy="822960"/>
          </a:xfrm>
          <a:prstGeom prst="rect">
            <a:avLst/>
          </a:prstGeom>
          <a:noFill/>
        </p:spPr>
        <p:txBody>
          <a:bodyPr wrap="square" lIns="0" rIns="0" tIns="0" bIns="0" anchor="ctr">
            <a:spAutoFit/>
          </a:bodyPr>
          <a:lstStyle/>
          <a:p>
            <a:pPr algn="ctr"/>
            <a:r>
              <a:rPr sz="1300" b="0" i="0">
                <a:solidFill>
                  <a:srgbClr val="0E1330"/>
                </a:solidFill>
                <a:latin typeface="Calibri"/>
              </a:rPr>
              <a:t>reads
1 seat left</a:t>
            </a:r>
          </a:p>
        </p:txBody>
      </p:sp>
      <p:cxnSp>
        <p:nvCxnSpPr>
          <p:cNvPr id="24" name="Connector 23"/>
          <p:cNvCxnSpPr/>
          <p:nvPr/>
        </p:nvCxnSpPr>
        <p:spPr>
          <a:xfrm>
            <a:off x="1993392" y="3950208"/>
            <a:ext cx="265176" cy="0"/>
          </a:xfrm>
          <a:prstGeom prst="line">
            <a:avLst/>
          </a:prstGeom>
          <a:ln w="19050">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657600" y="3538728"/>
            <a:ext cx="1143000" cy="822960"/>
          </a:xfrm>
          <a:prstGeom prst="roundRect">
            <a:avLst>
              <a:gd name="adj" fmla="val 10000"/>
            </a:avLst>
          </a:prstGeom>
          <a:solidFill>
            <a:srgbClr val="F3F4F8"/>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57600" y="3538728"/>
            <a:ext cx="1143000" cy="822960"/>
          </a:xfrm>
          <a:prstGeom prst="rect">
            <a:avLst/>
          </a:prstGeom>
          <a:noFill/>
        </p:spPr>
        <p:txBody>
          <a:bodyPr wrap="square" lIns="0" rIns="0" tIns="0" bIns="0" anchor="ctr">
            <a:spAutoFit/>
          </a:bodyPr>
          <a:lstStyle/>
          <a:p>
            <a:pPr algn="ctr"/>
            <a:r>
              <a:rPr sz="1300" b="0" i="0">
                <a:solidFill>
                  <a:srgbClr val="0E1330"/>
                </a:solidFill>
                <a:latin typeface="Calibri"/>
              </a:rPr>
              <a:t>check
passes</a:t>
            </a:r>
          </a:p>
        </p:txBody>
      </p:sp>
      <p:cxnSp>
        <p:nvCxnSpPr>
          <p:cNvPr id="27" name="Connector 26"/>
          <p:cNvCxnSpPr/>
          <p:nvPr/>
        </p:nvCxnSpPr>
        <p:spPr>
          <a:xfrm>
            <a:off x="3383280" y="3950208"/>
            <a:ext cx="246888" cy="0"/>
          </a:xfrm>
          <a:prstGeom prst="line">
            <a:avLst/>
          </a:prstGeom>
          <a:ln w="19050">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0" y="3538728"/>
            <a:ext cx="1143000" cy="822960"/>
          </a:xfrm>
          <a:prstGeom prst="roundRect">
            <a:avLst>
              <a:gd name="adj" fmla="val 10000"/>
            </a:avLst>
          </a:prstGeom>
          <a:solidFill>
            <a:srgbClr val="F3F4F8"/>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29200" y="3538728"/>
            <a:ext cx="1143000" cy="822960"/>
          </a:xfrm>
          <a:prstGeom prst="rect">
            <a:avLst/>
          </a:prstGeom>
          <a:noFill/>
        </p:spPr>
        <p:txBody>
          <a:bodyPr wrap="square" lIns="0" rIns="0" tIns="0" bIns="0" anchor="ctr">
            <a:spAutoFit/>
          </a:bodyPr>
          <a:lstStyle/>
          <a:p>
            <a:pPr algn="ctr"/>
            <a:r>
              <a:rPr sz="1300" b="0" i="0">
                <a:solidFill>
                  <a:srgbClr val="0E1330"/>
                </a:solidFill>
                <a:latin typeface="Calibri"/>
              </a:rPr>
              <a:t>writes
0 seats</a:t>
            </a:r>
          </a:p>
        </p:txBody>
      </p:sp>
      <p:cxnSp>
        <p:nvCxnSpPr>
          <p:cNvPr id="30" name="Connector 29"/>
          <p:cNvCxnSpPr/>
          <p:nvPr/>
        </p:nvCxnSpPr>
        <p:spPr>
          <a:xfrm>
            <a:off x="4754880" y="3950208"/>
            <a:ext cx="246888" cy="0"/>
          </a:xfrm>
          <a:prstGeom prst="line">
            <a:avLst/>
          </a:prstGeom>
          <a:ln w="19050">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548640" y="4892040"/>
            <a:ext cx="5897880" cy="731520"/>
          </a:xfrm>
          <a:prstGeom prst="roundRect">
            <a:avLst>
              <a:gd name="adj" fmla="val 10000"/>
            </a:avLst>
          </a:prstGeom>
          <a:solidFill>
            <a:srgbClr val="FC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CircleX-ink.png"/>
          <p:cNvPicPr>
            <a:picLocks noChangeAspect="1"/>
          </p:cNvPicPr>
          <p:nvPr/>
        </p:nvPicPr>
        <p:blipFill>
          <a:blip r:embed="rId3"/>
          <a:stretch>
            <a:fillRect/>
          </a:stretch>
        </p:blipFill>
        <p:spPr>
          <a:xfrm>
            <a:off x="749808" y="5056632"/>
            <a:ext cx="402336" cy="402336"/>
          </a:xfrm>
          <a:prstGeom prst="rect">
            <a:avLst/>
          </a:prstGeom>
        </p:spPr>
      </p:pic>
      <p:sp>
        <p:nvSpPr>
          <p:cNvPr id="33" name="TextBox 32"/>
          <p:cNvSpPr txBox="1"/>
          <p:nvPr/>
        </p:nvSpPr>
        <p:spPr>
          <a:xfrm>
            <a:off x="1298448" y="4892040"/>
            <a:ext cx="5029200" cy="731520"/>
          </a:xfrm>
          <a:prstGeom prst="rect">
            <a:avLst/>
          </a:prstGeom>
          <a:noFill/>
        </p:spPr>
        <p:txBody>
          <a:bodyPr wrap="square" lIns="0" rIns="0" tIns="0" bIns="0" anchor="ctr">
            <a:spAutoFit/>
          </a:bodyPr>
          <a:lstStyle/>
          <a:p>
            <a:pPr algn="l"/>
            <a:r>
              <a:rPr sz="1500" b="1" i="0">
                <a:solidFill>
                  <a:srgbClr val="B4413A"/>
                </a:solidFill>
                <a:latin typeface="Calibri"/>
              </a:rPr>
              <a:t>Both are confirmed. </a:t>
            </a:r>
            <a:r>
              <a:rPr sz="1500" b="0" i="0">
                <a:solidFill>
                  <a:srgbClr val="0E1330"/>
                </a:solidFill>
                <a:latin typeface="Calibri"/>
              </a:rPr>
              <a:t>One seat, two students: the classic lost update.</a:t>
            </a:r>
          </a:p>
        </p:txBody>
      </p:sp>
      <p:sp>
        <p:nvSpPr>
          <p:cNvPr id="34" name="TextBox 33"/>
          <p:cNvSpPr txBox="1"/>
          <p:nvPr/>
        </p:nvSpPr>
        <p:spPr>
          <a:xfrm>
            <a:off x="6903720" y="1554480"/>
            <a:ext cx="4663440" cy="320040"/>
          </a:xfrm>
          <a:prstGeom prst="rect">
            <a:avLst/>
          </a:prstGeom>
          <a:noFill/>
        </p:spPr>
        <p:txBody>
          <a:bodyPr wrap="square" lIns="0" rIns="0" tIns="0" bIns="0" anchor="t">
            <a:spAutoFit/>
          </a:bodyPr>
          <a:lstStyle/>
          <a:p>
            <a:pPr algn="l"/>
            <a:r>
              <a:rPr sz="1600" b="1" i="0">
                <a:solidFill>
                  <a:srgbClr val="0E1330"/>
                </a:solidFill>
                <a:latin typeface="Calibri"/>
              </a:rPr>
              <a:t>Gaps in the current process</a:t>
            </a:r>
          </a:p>
        </p:txBody>
      </p:sp>
      <p:sp>
        <p:nvSpPr>
          <p:cNvPr id="35" name="TextBox 34"/>
          <p:cNvSpPr txBox="1"/>
          <p:nvPr/>
        </p:nvSpPr>
        <p:spPr>
          <a:xfrm>
            <a:off x="6903720" y="1965960"/>
            <a:ext cx="4709160" cy="3108960"/>
          </a:xfrm>
          <a:prstGeom prst="rect">
            <a:avLst/>
          </a:prstGeom>
          <a:noFill/>
        </p:spPr>
        <p:txBody>
          <a:bodyPr wrap="square" lIns="0" rIns="0" tIns="0" bIns="0" anchor="t">
            <a:spAutoFit/>
          </a:bodyPr>
          <a:lstStyle/>
          <a:p>
            <a:pPr marL="256032" indent="-256032">
              <a:spcAft>
                <a:spcPts val="900"/>
              </a:spcAft>
              <a:buClr>
                <a:srgbClr val="E9B44C"/>
              </a:buClr>
              <a:buFont typeface="Arial"/>
              <a:buChar char="•"/>
            </a:pPr>
            <a:r>
              <a:rPr sz="1600" b="0">
                <a:solidFill>
                  <a:srgbClr val="0E1330"/>
                </a:solidFill>
                <a:latin typeface="Calibri"/>
              </a:rPr>
              <a:t>Seat limits are not enforced when the choice is made</a:t>
            </a:r>
          </a:p>
          <a:p>
            <a:pPr marL="256032" indent="-256032">
              <a:spcAft>
                <a:spcPts val="900"/>
              </a:spcAft>
              <a:buClr>
                <a:srgbClr val="E9B44C"/>
              </a:buClr>
              <a:buFont typeface="Arial"/>
              <a:buChar char="•"/>
            </a:pPr>
            <a:r>
              <a:rPr sz="1600" b="0">
                <a:solidFill>
                  <a:srgbClr val="0E1330"/>
                </a:solidFill>
                <a:latin typeface="Calibri"/>
              </a:rPr>
              <a:t>Allocation is reconstructed later by staff, by hand</a:t>
            </a:r>
          </a:p>
          <a:p>
            <a:pPr marL="256032" indent="-256032">
              <a:spcAft>
                <a:spcPts val="900"/>
              </a:spcAft>
              <a:buClr>
                <a:srgbClr val="E9B44C"/>
              </a:buClr>
              <a:buFont typeface="Arial"/>
              <a:buChar char="•"/>
            </a:pPr>
            <a:r>
              <a:rPr sz="1600" b="0">
                <a:solidFill>
                  <a:srgbClr val="0E1330"/>
                </a:solidFill>
                <a:latin typeface="Calibri"/>
              </a:rPr>
              <a:t>Students cannot see remaining seats; staff cannot see progress</a:t>
            </a:r>
          </a:p>
          <a:p>
            <a:pPr marL="256032" indent="-256032">
              <a:spcAft>
                <a:spcPts val="900"/>
              </a:spcAft>
              <a:buClr>
                <a:srgbClr val="E9B44C"/>
              </a:buClr>
              <a:buFont typeface="Arial"/>
              <a:buChar char="•"/>
            </a:pPr>
            <a:r>
              <a:rPr sz="1600" b="0">
                <a:solidFill>
                  <a:srgbClr val="0E1330"/>
                </a:solidFill>
                <a:latin typeface="Calibri"/>
              </a:rPr>
              <a:t>Batches with the same class name can be mixed</a:t>
            </a:r>
          </a:p>
          <a:p>
            <a:pPr marL="256032" indent="-256032">
              <a:spcAft>
                <a:spcPts val="900"/>
              </a:spcAft>
              <a:buClr>
                <a:srgbClr val="E9B44C"/>
              </a:buClr>
              <a:buFont typeface="Arial"/>
              <a:buChar char="•"/>
            </a:pPr>
            <a:r>
              <a:rPr sz="1600" b="0">
                <a:solidFill>
                  <a:srgbClr val="0E1330"/>
                </a:solidFill>
                <a:latin typeface="Calibri"/>
              </a:rPr>
              <a:t>A browser value (such as a class cookie) must never widen access</a:t>
            </a:r>
          </a:p>
        </p:txBody>
      </p:sp>
      <p:sp>
        <p:nvSpPr>
          <p:cNvPr id="36" name="Rounded Rectangle 35"/>
          <p:cNvSpPr/>
          <p:nvPr/>
        </p:nvSpPr>
        <p:spPr>
          <a:xfrm>
            <a:off x="6903720" y="4892040"/>
            <a:ext cx="4709160" cy="731520"/>
          </a:xfrm>
          <a:prstGeom prst="roundRect">
            <a:avLst>
              <a:gd name="adj" fmla="val 10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132320" y="4892040"/>
            <a:ext cx="4389120" cy="731520"/>
          </a:xfrm>
          <a:prstGeom prst="rect">
            <a:avLst/>
          </a:prstGeom>
          <a:noFill/>
        </p:spPr>
        <p:txBody>
          <a:bodyPr wrap="square" lIns="0" rIns="0" tIns="0" bIns="0" anchor="ctr">
            <a:spAutoFit/>
          </a:bodyPr>
          <a:lstStyle/>
          <a:p>
            <a:pPr algn="l"/>
            <a:r>
              <a:rPr sz="1400" b="0" i="0">
                <a:solidFill>
                  <a:srgbClr val="FFFFFF"/>
                </a:solidFill>
                <a:latin typeface="Calibri"/>
              </a:rPr>
              <a:t>Needed: enforce capacity at commit time, isolate cohorts, scope every staff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OBJECTIVES AND SCOPE</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What the project set out to deliver</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05 / 16</a:t>
            </a:r>
          </a:p>
        </p:txBody>
      </p:sp>
      <p:sp>
        <p:nvSpPr>
          <p:cNvPr id="8" name="TextBox 7"/>
          <p:cNvSpPr txBox="1"/>
          <p:nvPr/>
        </p:nvSpPr>
        <p:spPr>
          <a:xfrm>
            <a:off x="548640" y="1508760"/>
            <a:ext cx="6949440" cy="320040"/>
          </a:xfrm>
          <a:prstGeom prst="rect">
            <a:avLst/>
          </a:prstGeom>
          <a:noFill/>
        </p:spPr>
        <p:txBody>
          <a:bodyPr wrap="square" lIns="0" rIns="0" tIns="0" bIns="0" anchor="t">
            <a:spAutoFit/>
          </a:bodyPr>
          <a:lstStyle/>
          <a:p>
            <a:pPr algn="l"/>
            <a:r>
              <a:rPr sz="1600" b="1" i="0">
                <a:solidFill>
                  <a:srgbClr val="0E1330"/>
                </a:solidFill>
                <a:latin typeface="Calibri"/>
              </a:rPr>
              <a:t>Core objectives — all implemented and verified</a:t>
            </a:r>
          </a:p>
        </p:txBody>
      </p:sp>
      <p:pic>
        <p:nvPicPr>
          <p:cNvPr id="9" name="Picture 8" descr="Armchair-ink.png"/>
          <p:cNvPicPr>
            <a:picLocks noChangeAspect="1"/>
          </p:cNvPicPr>
          <p:nvPr/>
        </p:nvPicPr>
        <p:blipFill>
          <a:blip r:embed="rId3"/>
          <a:stretch>
            <a:fillRect/>
          </a:stretch>
        </p:blipFill>
        <p:spPr>
          <a:xfrm>
            <a:off x="566928" y="1975104"/>
            <a:ext cx="329184" cy="329184"/>
          </a:xfrm>
          <a:prstGeom prst="rect">
            <a:avLst/>
          </a:prstGeom>
        </p:spPr>
      </p:pic>
      <p:sp>
        <p:nvSpPr>
          <p:cNvPr id="10" name="TextBox 9"/>
          <p:cNvSpPr txBox="1"/>
          <p:nvPr/>
        </p:nvSpPr>
        <p:spPr>
          <a:xfrm>
            <a:off x="1051560" y="1920240"/>
            <a:ext cx="6355080" cy="548640"/>
          </a:xfrm>
          <a:prstGeom prst="rect">
            <a:avLst/>
          </a:prstGeom>
          <a:noFill/>
        </p:spPr>
        <p:txBody>
          <a:bodyPr wrap="square" lIns="0" rIns="0" tIns="0" bIns="0" anchor="ctr">
            <a:spAutoFit/>
          </a:bodyPr>
          <a:lstStyle/>
          <a:p>
            <a:pPr algn="l"/>
            <a:r>
              <a:rPr sz="1500" b="0" i="0">
                <a:solidFill>
                  <a:srgbClr val="0E1330"/>
                </a:solidFill>
                <a:latin typeface="Calibri"/>
              </a:rPr>
              <a:t>Never exceed a subject's capacity or a class quota, even under simultaneous submissions</a:t>
            </a:r>
          </a:p>
        </p:txBody>
      </p:sp>
      <p:pic>
        <p:nvPicPr>
          <p:cNvPr id="11" name="Picture 10" descr="Layers-ink.png"/>
          <p:cNvPicPr>
            <a:picLocks noChangeAspect="1"/>
          </p:cNvPicPr>
          <p:nvPr/>
        </p:nvPicPr>
        <p:blipFill>
          <a:blip r:embed="rId4"/>
          <a:stretch>
            <a:fillRect/>
          </a:stretch>
        </p:blipFill>
        <p:spPr>
          <a:xfrm>
            <a:off x="566928" y="2578608"/>
            <a:ext cx="329184" cy="329184"/>
          </a:xfrm>
          <a:prstGeom prst="rect">
            <a:avLst/>
          </a:prstGeom>
        </p:spPr>
      </p:pic>
      <p:sp>
        <p:nvSpPr>
          <p:cNvPr id="12" name="TextBox 11"/>
          <p:cNvSpPr txBox="1"/>
          <p:nvPr/>
        </p:nvSpPr>
        <p:spPr>
          <a:xfrm>
            <a:off x="1051560" y="2523744"/>
            <a:ext cx="6355080" cy="548640"/>
          </a:xfrm>
          <a:prstGeom prst="rect">
            <a:avLst/>
          </a:prstGeom>
          <a:noFill/>
        </p:spPr>
        <p:txBody>
          <a:bodyPr wrap="square" lIns="0" rIns="0" tIns="0" bIns="0" anchor="ctr">
            <a:spAutoFit/>
          </a:bodyPr>
          <a:lstStyle/>
          <a:p>
            <a:pPr algn="l"/>
            <a:r>
              <a:rPr sz="1500" b="0" i="0">
                <a:solidFill>
                  <a:srgbClr val="0E1330"/>
                </a:solidFill>
                <a:latin typeface="Calibri"/>
              </a:rPr>
              <a:t>Model faculties → programmes → cohorts → classes; one Year Server per academic year</a:t>
            </a:r>
          </a:p>
        </p:txBody>
      </p:sp>
      <p:pic>
        <p:nvPicPr>
          <p:cNvPr id="13" name="Picture 12" descr="Ticket-ink.png"/>
          <p:cNvPicPr>
            <a:picLocks noChangeAspect="1"/>
          </p:cNvPicPr>
          <p:nvPr/>
        </p:nvPicPr>
        <p:blipFill>
          <a:blip r:embed="rId5"/>
          <a:stretch>
            <a:fillRect/>
          </a:stretch>
        </p:blipFill>
        <p:spPr>
          <a:xfrm>
            <a:off x="566928" y="3182112"/>
            <a:ext cx="329184" cy="329184"/>
          </a:xfrm>
          <a:prstGeom prst="rect">
            <a:avLst/>
          </a:prstGeom>
        </p:spPr>
      </p:pic>
      <p:sp>
        <p:nvSpPr>
          <p:cNvPr id="14" name="TextBox 13"/>
          <p:cNvSpPr txBox="1"/>
          <p:nvPr/>
        </p:nvSpPr>
        <p:spPr>
          <a:xfrm>
            <a:off x="1051560" y="3127248"/>
            <a:ext cx="6355080" cy="548640"/>
          </a:xfrm>
          <a:prstGeom prst="rect">
            <a:avLst/>
          </a:prstGeom>
          <a:noFill/>
        </p:spPr>
        <p:txBody>
          <a:bodyPr wrap="square" lIns="0" rIns="0" tIns="0" bIns="0" anchor="ctr">
            <a:spAutoFit/>
          </a:bodyPr>
          <a:lstStyle/>
          <a:p>
            <a:pPr algn="l"/>
            <a:r>
              <a:rPr sz="1500" b="0" i="0">
                <a:solidFill>
                  <a:srgbClr val="0E1330"/>
                </a:solidFill>
                <a:latin typeface="Calibri"/>
              </a:rPr>
              <a:t>Onboard students only through a tutor-issued class signup code</a:t>
            </a:r>
          </a:p>
        </p:txBody>
      </p:sp>
      <p:pic>
        <p:nvPicPr>
          <p:cNvPr id="15" name="Picture 14" descr="Timer-ink.png"/>
          <p:cNvPicPr>
            <a:picLocks noChangeAspect="1"/>
          </p:cNvPicPr>
          <p:nvPr/>
        </p:nvPicPr>
        <p:blipFill>
          <a:blip r:embed="rId6"/>
          <a:stretch>
            <a:fillRect/>
          </a:stretch>
        </p:blipFill>
        <p:spPr>
          <a:xfrm>
            <a:off x="566928" y="3785615"/>
            <a:ext cx="329184" cy="329184"/>
          </a:xfrm>
          <a:prstGeom prst="rect">
            <a:avLst/>
          </a:prstGeom>
        </p:spPr>
      </p:pic>
      <p:sp>
        <p:nvSpPr>
          <p:cNvPr id="16" name="TextBox 15"/>
          <p:cNvSpPr txBox="1"/>
          <p:nvPr/>
        </p:nvSpPr>
        <p:spPr>
          <a:xfrm>
            <a:off x="1051560" y="3730752"/>
            <a:ext cx="6355080" cy="548640"/>
          </a:xfrm>
          <a:prstGeom prst="rect">
            <a:avLst/>
          </a:prstGeom>
          <a:noFill/>
        </p:spPr>
        <p:txBody>
          <a:bodyPr wrap="square" lIns="0" rIns="0" tIns="0" bIns="0" anchor="ctr">
            <a:spAutoFit/>
          </a:bodyPr>
          <a:lstStyle/>
          <a:p>
            <a:pPr algn="l"/>
            <a:r>
              <a:rPr sz="1500" b="0" i="0">
                <a:solidFill>
                  <a:srgbClr val="0E1330"/>
                </a:solidFill>
                <a:latin typeface="Calibri"/>
              </a:rPr>
              <a:t>Enforce the registration window on the server clock</a:t>
            </a:r>
          </a:p>
        </p:txBody>
      </p:sp>
      <p:pic>
        <p:nvPicPr>
          <p:cNvPr id="17" name="Picture 16" descr="ScrollText-ink.png"/>
          <p:cNvPicPr>
            <a:picLocks noChangeAspect="1"/>
          </p:cNvPicPr>
          <p:nvPr/>
        </p:nvPicPr>
        <p:blipFill>
          <a:blip r:embed="rId7"/>
          <a:stretch>
            <a:fillRect/>
          </a:stretch>
        </p:blipFill>
        <p:spPr>
          <a:xfrm>
            <a:off x="566928" y="4389120"/>
            <a:ext cx="329184" cy="329184"/>
          </a:xfrm>
          <a:prstGeom prst="rect">
            <a:avLst/>
          </a:prstGeom>
        </p:spPr>
      </p:pic>
      <p:sp>
        <p:nvSpPr>
          <p:cNvPr id="18" name="TextBox 17"/>
          <p:cNvSpPr txBox="1"/>
          <p:nvPr/>
        </p:nvSpPr>
        <p:spPr>
          <a:xfrm>
            <a:off x="1051560" y="4334256"/>
            <a:ext cx="6355080" cy="548640"/>
          </a:xfrm>
          <a:prstGeom prst="rect">
            <a:avLst/>
          </a:prstGeom>
          <a:noFill/>
        </p:spPr>
        <p:txBody>
          <a:bodyPr wrap="square" lIns="0" rIns="0" tIns="0" bIns="0" anchor="ctr">
            <a:spAutoFit/>
          </a:bodyPr>
          <a:lstStyle/>
          <a:p>
            <a:pPr algn="l"/>
            <a:r>
              <a:rPr sz="1500" b="0" i="0">
                <a:solidFill>
                  <a:srgbClr val="0E1330"/>
                </a:solidFill>
                <a:latin typeface="Calibri"/>
              </a:rPr>
              <a:t>Issue a numbered receipt; keep an audit log and a registration replay</a:t>
            </a:r>
          </a:p>
        </p:txBody>
      </p:sp>
      <p:pic>
        <p:nvPicPr>
          <p:cNvPr id="19" name="Picture 18" descr="ShieldCheck-ink.png"/>
          <p:cNvPicPr>
            <a:picLocks noChangeAspect="1"/>
          </p:cNvPicPr>
          <p:nvPr/>
        </p:nvPicPr>
        <p:blipFill>
          <a:blip r:embed="rId8"/>
          <a:stretch>
            <a:fillRect/>
          </a:stretch>
        </p:blipFill>
        <p:spPr>
          <a:xfrm>
            <a:off x="566928" y="4992624"/>
            <a:ext cx="329184" cy="329184"/>
          </a:xfrm>
          <a:prstGeom prst="rect">
            <a:avLst/>
          </a:prstGeom>
        </p:spPr>
      </p:pic>
      <p:sp>
        <p:nvSpPr>
          <p:cNvPr id="20" name="TextBox 19"/>
          <p:cNvSpPr txBox="1"/>
          <p:nvPr/>
        </p:nvSpPr>
        <p:spPr>
          <a:xfrm>
            <a:off x="1051560" y="4937760"/>
            <a:ext cx="6355080" cy="548640"/>
          </a:xfrm>
          <a:prstGeom prst="rect">
            <a:avLst/>
          </a:prstGeom>
          <a:noFill/>
        </p:spPr>
        <p:txBody>
          <a:bodyPr wrap="square" lIns="0" rIns="0" tIns="0" bIns="0" anchor="ctr">
            <a:spAutoFit/>
          </a:bodyPr>
          <a:lstStyle/>
          <a:p>
            <a:pPr algn="l"/>
            <a:r>
              <a:rPr sz="1500" b="0" i="0">
                <a:solidFill>
                  <a:srgbClr val="0E1330"/>
                </a:solidFill>
                <a:latin typeface="Calibri"/>
              </a:rPr>
              <a:t>Limit every staff action to the classes the role and assignments allow</a:t>
            </a:r>
          </a:p>
        </p:txBody>
      </p:sp>
      <p:pic>
        <p:nvPicPr>
          <p:cNvPr id="21" name="Picture 20" descr="TestTubeDiagonal-ink.png"/>
          <p:cNvPicPr>
            <a:picLocks noChangeAspect="1"/>
          </p:cNvPicPr>
          <p:nvPr/>
        </p:nvPicPr>
        <p:blipFill>
          <a:blip r:embed="rId9"/>
          <a:stretch>
            <a:fillRect/>
          </a:stretch>
        </p:blipFill>
        <p:spPr>
          <a:xfrm>
            <a:off x="566928" y="5596128"/>
            <a:ext cx="329184" cy="329184"/>
          </a:xfrm>
          <a:prstGeom prst="rect">
            <a:avLst/>
          </a:prstGeom>
        </p:spPr>
      </p:pic>
      <p:sp>
        <p:nvSpPr>
          <p:cNvPr id="22" name="TextBox 21"/>
          <p:cNvSpPr txBox="1"/>
          <p:nvPr/>
        </p:nvSpPr>
        <p:spPr>
          <a:xfrm>
            <a:off x="1051560" y="5541264"/>
            <a:ext cx="6355080" cy="548640"/>
          </a:xfrm>
          <a:prstGeom prst="rect">
            <a:avLst/>
          </a:prstGeom>
          <a:noFill/>
        </p:spPr>
        <p:txBody>
          <a:bodyPr wrap="square" lIns="0" rIns="0" tIns="0" bIns="0" anchor="ctr">
            <a:spAutoFit/>
          </a:bodyPr>
          <a:lstStyle/>
          <a:p>
            <a:pPr algn="l"/>
            <a:r>
              <a:rPr sz="1500" b="0" i="0">
                <a:solidFill>
                  <a:srgbClr val="0E1330"/>
                </a:solidFill>
                <a:latin typeface="Calibri"/>
              </a:rPr>
              <a:t>Verify with automated tests against a real PostgreSQL database</a:t>
            </a:r>
          </a:p>
        </p:txBody>
      </p:sp>
      <p:sp>
        <p:nvSpPr>
          <p:cNvPr id="23" name="Rounded Rectangle 22"/>
          <p:cNvSpPr/>
          <p:nvPr/>
        </p:nvSpPr>
        <p:spPr>
          <a:xfrm>
            <a:off x="7818120" y="1508760"/>
            <a:ext cx="3794760" cy="224028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092440" y="1691640"/>
            <a:ext cx="3291840" cy="320040"/>
          </a:xfrm>
          <a:prstGeom prst="rect">
            <a:avLst/>
          </a:prstGeom>
          <a:noFill/>
        </p:spPr>
        <p:txBody>
          <a:bodyPr wrap="square" lIns="0" rIns="0" tIns="0" bIns="0" anchor="t">
            <a:spAutoFit/>
          </a:bodyPr>
          <a:lstStyle/>
          <a:p>
            <a:pPr algn="l"/>
            <a:r>
              <a:rPr sz="1600" b="1" i="0">
                <a:solidFill>
                  <a:srgbClr val="0E1330"/>
                </a:solidFill>
                <a:latin typeface="Calibri"/>
              </a:rPr>
              <a:t>In scope</a:t>
            </a:r>
          </a:p>
        </p:txBody>
      </p:sp>
      <p:sp>
        <p:nvSpPr>
          <p:cNvPr id="25" name="TextBox 24"/>
          <p:cNvSpPr txBox="1"/>
          <p:nvPr/>
        </p:nvSpPr>
        <p:spPr>
          <a:xfrm>
            <a:off x="8092440" y="2057400"/>
            <a:ext cx="3337560" cy="1645920"/>
          </a:xfrm>
          <a:prstGeom prst="rect">
            <a:avLst/>
          </a:prstGeom>
          <a:noFill/>
        </p:spPr>
        <p:txBody>
          <a:bodyPr wrap="square" lIns="0" rIns="0" tIns="0" bIns="0" anchor="t">
            <a:spAutoFit/>
          </a:bodyPr>
          <a:lstStyle/>
          <a:p>
            <a:pPr marL="256032" indent="-256032">
              <a:spcAft>
                <a:spcPts val="300"/>
              </a:spcAft>
              <a:buClr>
                <a:srgbClr val="E9B44C"/>
              </a:buClr>
              <a:buFont typeface="Arial"/>
              <a:buChar char="•"/>
            </a:pPr>
            <a:r>
              <a:rPr sz="1400" b="0">
                <a:solidFill>
                  <a:srgbClr val="0E1330"/>
                </a:solidFill>
                <a:latin typeface="Calibri"/>
              </a:rPr>
              <a:t>Four roles, one department workflow</a:t>
            </a:r>
          </a:p>
          <a:p>
            <a:pPr marL="256032" indent="-256032">
              <a:spcAft>
                <a:spcPts val="300"/>
              </a:spcAft>
              <a:buClr>
                <a:srgbClr val="E9B44C"/>
              </a:buClr>
              <a:buFont typeface="Arial"/>
              <a:buChar char="•"/>
            </a:pPr>
            <a:r>
              <a:rPr sz="1400" b="0">
                <a:solidFill>
                  <a:srgbClr val="0E1330"/>
                </a:solidFill>
                <a:latin typeface="Calibri"/>
              </a:rPr>
              <a:t>Year Servers and cohort isolation</a:t>
            </a:r>
          </a:p>
          <a:p>
            <a:pPr marL="256032" indent="-256032">
              <a:spcAft>
                <a:spcPts val="300"/>
              </a:spcAft>
              <a:buClr>
                <a:srgbClr val="E9B44C"/>
              </a:buClr>
              <a:buFont typeface="Arial"/>
              <a:buChar char="•"/>
            </a:pPr>
            <a:r>
              <a:rPr sz="1400" b="0">
                <a:solidFill>
                  <a:srgbClr val="0E1330"/>
                </a:solidFill>
                <a:latin typeface="Calibri"/>
              </a:rPr>
              <a:t>Live monitoring, reports, replay</a:t>
            </a:r>
          </a:p>
          <a:p>
            <a:pPr marL="256032" indent="-256032">
              <a:spcAft>
                <a:spcPts val="300"/>
              </a:spcAft>
              <a:buClr>
                <a:srgbClr val="E9B44C"/>
              </a:buClr>
              <a:buFont typeface="Arial"/>
              <a:buChar char="•"/>
            </a:pPr>
            <a:r>
              <a:rPr sz="1400" b="0">
                <a:solidFill>
                  <a:srgbClr val="0E1330"/>
                </a:solidFill>
                <a:latin typeface="Calibri"/>
              </a:rPr>
              <a:t>Subject explorer with seat counts</a:t>
            </a:r>
          </a:p>
        </p:txBody>
      </p:sp>
      <p:sp>
        <p:nvSpPr>
          <p:cNvPr id="26" name="Rounded Rectangle 25"/>
          <p:cNvSpPr/>
          <p:nvPr/>
        </p:nvSpPr>
        <p:spPr>
          <a:xfrm>
            <a:off x="7818120" y="3931920"/>
            <a:ext cx="3794760" cy="2148840"/>
          </a:xfrm>
          <a:prstGeom prst="roundRect">
            <a:avLst>
              <a:gd name="adj" fmla="val 6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092440" y="4114800"/>
            <a:ext cx="3291840" cy="320040"/>
          </a:xfrm>
          <a:prstGeom prst="rect">
            <a:avLst/>
          </a:prstGeom>
          <a:noFill/>
        </p:spPr>
        <p:txBody>
          <a:bodyPr wrap="square" lIns="0" rIns="0" tIns="0" bIns="0" anchor="t">
            <a:spAutoFit/>
          </a:bodyPr>
          <a:lstStyle/>
          <a:p>
            <a:pPr algn="l"/>
            <a:r>
              <a:rPr sz="1600" b="1" i="0">
                <a:solidFill>
                  <a:srgbClr val="0E1330"/>
                </a:solidFill>
                <a:latin typeface="Calibri"/>
              </a:rPr>
              <a:t>Out of scope (future work)</a:t>
            </a:r>
          </a:p>
        </p:txBody>
      </p:sp>
      <p:sp>
        <p:nvSpPr>
          <p:cNvPr id="28" name="TextBox 27"/>
          <p:cNvSpPr txBox="1"/>
          <p:nvPr/>
        </p:nvSpPr>
        <p:spPr>
          <a:xfrm>
            <a:off x="8092440" y="4480560"/>
            <a:ext cx="3337560" cy="1554480"/>
          </a:xfrm>
          <a:prstGeom prst="rect">
            <a:avLst/>
          </a:prstGeom>
          <a:noFill/>
        </p:spPr>
        <p:txBody>
          <a:bodyPr wrap="square" lIns="0" rIns="0" tIns="0" bIns="0" anchor="t">
            <a:spAutoFit/>
          </a:bodyPr>
          <a:lstStyle/>
          <a:p>
            <a:pPr marL="256032" indent="-256032">
              <a:spcAft>
                <a:spcPts val="300"/>
              </a:spcAft>
              <a:buClr>
                <a:srgbClr val="E9B44C"/>
              </a:buClr>
              <a:buFont typeface="Arial"/>
              <a:buChar char="•"/>
            </a:pPr>
            <a:r>
              <a:rPr sz="1400" b="0">
                <a:solidFill>
                  <a:srgbClr val="0E1330"/>
                </a:solidFill>
                <a:latin typeface="Calibri"/>
              </a:rPr>
              <a:t>Preference-ranked allocation</a:t>
            </a:r>
          </a:p>
          <a:p>
            <a:pPr marL="256032" indent="-256032">
              <a:spcAft>
                <a:spcPts val="300"/>
              </a:spcAft>
              <a:buClr>
                <a:srgbClr val="E9B44C"/>
              </a:buClr>
              <a:buFont typeface="Arial"/>
              <a:buChar char="•"/>
            </a:pPr>
            <a:r>
              <a:rPr sz="1400" b="0">
                <a:solidFill>
                  <a:srgbClr val="0E1330"/>
                </a:solidFill>
                <a:latin typeface="Calibri"/>
              </a:rPr>
              <a:t>Central student-system integration</a:t>
            </a:r>
          </a:p>
          <a:p>
            <a:pPr marL="256032" indent="-256032">
              <a:spcAft>
                <a:spcPts val="300"/>
              </a:spcAft>
              <a:buClr>
                <a:srgbClr val="E9B44C"/>
              </a:buClr>
              <a:buFont typeface="Arial"/>
              <a:buChar char="•"/>
            </a:pPr>
            <a:r>
              <a:rPr sz="1400" b="0">
                <a:solidFill>
                  <a:srgbClr val="0E1330"/>
                </a:solidFill>
                <a:latin typeface="Calibri"/>
              </a:rPr>
              <a:t>E-mail or SMS notifications</a:t>
            </a:r>
          </a:p>
          <a:p>
            <a:pPr marL="256032" indent="-256032">
              <a:spcAft>
                <a:spcPts val="300"/>
              </a:spcAft>
              <a:buClr>
                <a:srgbClr val="E9B44C"/>
              </a:buClr>
              <a:buFont typeface="Arial"/>
              <a:buChar char="•"/>
            </a:pPr>
            <a:r>
              <a:rPr sz="1400" b="0">
                <a:solidFill>
                  <a:srgbClr val="0E1330"/>
                </a:solidFill>
                <a:latin typeface="Calibri"/>
              </a:rPr>
              <a:t>Production deployment and load tests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EXISTING SYSTEM AND ITS LIMITATIONS</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Today: forms, spreadsheets and manual allocation</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06 / 16</a:t>
            </a:r>
          </a:p>
        </p:txBody>
      </p:sp>
      <p:sp>
        <p:nvSpPr>
          <p:cNvPr id="8" name="Rounded Rectangle 7"/>
          <p:cNvSpPr/>
          <p:nvPr/>
        </p:nvSpPr>
        <p:spPr>
          <a:xfrm>
            <a:off x="548640" y="1691640"/>
            <a:ext cx="2331720" cy="141732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ipboardCheck-ink.png"/>
          <p:cNvPicPr>
            <a:picLocks noChangeAspect="1"/>
          </p:cNvPicPr>
          <p:nvPr/>
        </p:nvPicPr>
        <p:blipFill>
          <a:blip r:embed="rId3"/>
          <a:stretch>
            <a:fillRect/>
          </a:stretch>
        </p:blipFill>
        <p:spPr>
          <a:xfrm>
            <a:off x="1444752" y="1828800"/>
            <a:ext cx="502920" cy="502920"/>
          </a:xfrm>
          <a:prstGeom prst="rect">
            <a:avLst/>
          </a:prstGeom>
        </p:spPr>
      </p:pic>
      <p:sp>
        <p:nvSpPr>
          <p:cNvPr id="10" name="TextBox 9"/>
          <p:cNvSpPr txBox="1"/>
          <p:nvPr/>
        </p:nvSpPr>
        <p:spPr>
          <a:xfrm>
            <a:off x="548640" y="2395728"/>
            <a:ext cx="2331720" cy="640080"/>
          </a:xfrm>
          <a:prstGeom prst="rect">
            <a:avLst/>
          </a:prstGeom>
          <a:noFill/>
        </p:spPr>
        <p:txBody>
          <a:bodyPr wrap="square" lIns="0" rIns="0" tIns="0" bIns="0" anchor="t">
            <a:spAutoFit/>
          </a:bodyPr>
          <a:lstStyle/>
          <a:p>
            <a:pPr algn="ctr">
              <a:lnSpc>
                <a:spcPct val="100000"/>
              </a:lnSpc>
            </a:pPr>
            <a:r>
              <a:rPr sz="1500" b="0" i="0">
                <a:solidFill>
                  <a:srgbClr val="0E1330"/>
                </a:solidFill>
                <a:latin typeface="Calibri"/>
              </a:rPr>
              <a:t>Paper form or
online form</a:t>
            </a:r>
          </a:p>
        </p:txBody>
      </p:sp>
      <p:cxnSp>
        <p:nvCxnSpPr>
          <p:cNvPr id="11" name="Connector 10"/>
          <p:cNvCxnSpPr/>
          <p:nvPr/>
        </p:nvCxnSpPr>
        <p:spPr>
          <a:xfrm>
            <a:off x="2926080" y="2395728"/>
            <a:ext cx="411480" cy="0"/>
          </a:xfrm>
          <a:prstGeom prst="line">
            <a:avLst/>
          </a:prstGeom>
          <a:ln w="22225">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83280" y="1691640"/>
            <a:ext cx="2331720" cy="141732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FileCheck-ink.png"/>
          <p:cNvPicPr>
            <a:picLocks noChangeAspect="1"/>
          </p:cNvPicPr>
          <p:nvPr/>
        </p:nvPicPr>
        <p:blipFill>
          <a:blip r:embed="rId4"/>
          <a:stretch>
            <a:fillRect/>
          </a:stretch>
        </p:blipFill>
        <p:spPr>
          <a:xfrm>
            <a:off x="4279392" y="1828800"/>
            <a:ext cx="502920" cy="502920"/>
          </a:xfrm>
          <a:prstGeom prst="rect">
            <a:avLst/>
          </a:prstGeom>
        </p:spPr>
      </p:pic>
      <p:sp>
        <p:nvSpPr>
          <p:cNvPr id="14" name="TextBox 13"/>
          <p:cNvSpPr txBox="1"/>
          <p:nvPr/>
        </p:nvSpPr>
        <p:spPr>
          <a:xfrm>
            <a:off x="3383280" y="2395728"/>
            <a:ext cx="2331720" cy="640080"/>
          </a:xfrm>
          <a:prstGeom prst="rect">
            <a:avLst/>
          </a:prstGeom>
          <a:noFill/>
        </p:spPr>
        <p:txBody>
          <a:bodyPr wrap="square" lIns="0" rIns="0" tIns="0" bIns="0" anchor="t">
            <a:spAutoFit/>
          </a:bodyPr>
          <a:lstStyle/>
          <a:p>
            <a:pPr algn="ctr">
              <a:lnSpc>
                <a:spcPct val="100000"/>
              </a:lnSpc>
            </a:pPr>
            <a:r>
              <a:rPr sz="1500" b="0" i="0">
                <a:solidFill>
                  <a:srgbClr val="0E1330"/>
                </a:solidFill>
                <a:latin typeface="Calibri"/>
              </a:rPr>
              <a:t>Shared
spreadsheet</a:t>
            </a:r>
          </a:p>
        </p:txBody>
      </p:sp>
      <p:cxnSp>
        <p:nvCxnSpPr>
          <p:cNvPr id="15" name="Connector 14"/>
          <p:cNvCxnSpPr/>
          <p:nvPr/>
        </p:nvCxnSpPr>
        <p:spPr>
          <a:xfrm>
            <a:off x="5760720" y="2395728"/>
            <a:ext cx="411480" cy="0"/>
          </a:xfrm>
          <a:prstGeom prst="line">
            <a:avLst/>
          </a:prstGeom>
          <a:ln w="22225">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17920" y="1691640"/>
            <a:ext cx="2331720" cy="141732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s-ink.png"/>
          <p:cNvPicPr>
            <a:picLocks noChangeAspect="1"/>
          </p:cNvPicPr>
          <p:nvPr/>
        </p:nvPicPr>
        <p:blipFill>
          <a:blip r:embed="rId5"/>
          <a:stretch>
            <a:fillRect/>
          </a:stretch>
        </p:blipFill>
        <p:spPr>
          <a:xfrm>
            <a:off x="7114031" y="1828800"/>
            <a:ext cx="502920" cy="502920"/>
          </a:xfrm>
          <a:prstGeom prst="rect">
            <a:avLst/>
          </a:prstGeom>
        </p:spPr>
      </p:pic>
      <p:sp>
        <p:nvSpPr>
          <p:cNvPr id="18" name="TextBox 17"/>
          <p:cNvSpPr txBox="1"/>
          <p:nvPr/>
        </p:nvSpPr>
        <p:spPr>
          <a:xfrm>
            <a:off x="6217920" y="2395728"/>
            <a:ext cx="2331720" cy="640080"/>
          </a:xfrm>
          <a:prstGeom prst="rect">
            <a:avLst/>
          </a:prstGeom>
          <a:noFill/>
        </p:spPr>
        <p:txBody>
          <a:bodyPr wrap="square" lIns="0" rIns="0" tIns="0" bIns="0" anchor="t">
            <a:spAutoFit/>
          </a:bodyPr>
          <a:lstStyle/>
          <a:p>
            <a:pPr algn="ctr">
              <a:lnSpc>
                <a:spcPct val="100000"/>
              </a:lnSpc>
            </a:pPr>
            <a:r>
              <a:rPr sz="1500" b="0" i="0">
                <a:solidFill>
                  <a:srgbClr val="0E1330"/>
                </a:solidFill>
                <a:latin typeface="Calibri"/>
              </a:rPr>
              <a:t>Staff allocate
by hand</a:t>
            </a:r>
          </a:p>
        </p:txBody>
      </p:sp>
      <p:cxnSp>
        <p:nvCxnSpPr>
          <p:cNvPr id="19" name="Connector 18"/>
          <p:cNvCxnSpPr/>
          <p:nvPr/>
        </p:nvCxnSpPr>
        <p:spPr>
          <a:xfrm>
            <a:off x="8595360" y="2395728"/>
            <a:ext cx="411480" cy="0"/>
          </a:xfrm>
          <a:prstGeom prst="line">
            <a:avLst/>
          </a:prstGeom>
          <a:ln w="22225">
            <a:solidFill>
              <a:srgbClr val="555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52560" y="1691640"/>
            <a:ext cx="2331720" cy="1417320"/>
          </a:xfrm>
          <a:prstGeom prst="roundRect">
            <a:avLst>
              <a:gd name="adj" fmla="val 10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TriangleAlert-ink.png"/>
          <p:cNvPicPr>
            <a:picLocks noChangeAspect="1"/>
          </p:cNvPicPr>
          <p:nvPr/>
        </p:nvPicPr>
        <p:blipFill>
          <a:blip r:embed="rId6"/>
          <a:stretch>
            <a:fillRect/>
          </a:stretch>
        </p:blipFill>
        <p:spPr>
          <a:xfrm>
            <a:off x="9948672" y="1828800"/>
            <a:ext cx="502920" cy="502920"/>
          </a:xfrm>
          <a:prstGeom prst="rect">
            <a:avLst/>
          </a:prstGeom>
        </p:spPr>
      </p:pic>
      <p:sp>
        <p:nvSpPr>
          <p:cNvPr id="22" name="TextBox 21"/>
          <p:cNvSpPr txBox="1"/>
          <p:nvPr/>
        </p:nvSpPr>
        <p:spPr>
          <a:xfrm>
            <a:off x="9052560" y="2395728"/>
            <a:ext cx="2331720" cy="640080"/>
          </a:xfrm>
          <a:prstGeom prst="rect">
            <a:avLst/>
          </a:prstGeom>
          <a:noFill/>
        </p:spPr>
        <p:txBody>
          <a:bodyPr wrap="square" lIns="0" rIns="0" tIns="0" bIns="0" anchor="t">
            <a:spAutoFit/>
          </a:bodyPr>
          <a:lstStyle/>
          <a:p>
            <a:pPr algn="ctr">
              <a:lnSpc>
                <a:spcPct val="100000"/>
              </a:lnSpc>
            </a:pPr>
            <a:r>
              <a:rPr sz="1500" b="0" i="0">
                <a:solidFill>
                  <a:srgbClr val="0E1330"/>
                </a:solidFill>
                <a:latin typeface="Calibri"/>
              </a:rPr>
              <a:t>Disputes and
manual moves</a:t>
            </a:r>
          </a:p>
        </p:txBody>
      </p:sp>
      <p:sp>
        <p:nvSpPr>
          <p:cNvPr id="23" name="Rounded Rectangle 22"/>
          <p:cNvSpPr/>
          <p:nvPr/>
        </p:nvSpPr>
        <p:spPr>
          <a:xfrm>
            <a:off x="548640" y="3520440"/>
            <a:ext cx="3474720" cy="114300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3776472"/>
            <a:ext cx="146304" cy="146304"/>
          </a:xfrm>
          <a:prstGeom prst="ellipse">
            <a:avLst/>
          </a:prstGeom>
          <a:solidFill>
            <a:srgbClr val="B4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3675888"/>
            <a:ext cx="2834640" cy="320040"/>
          </a:xfrm>
          <a:prstGeom prst="rect">
            <a:avLst/>
          </a:prstGeom>
          <a:noFill/>
        </p:spPr>
        <p:txBody>
          <a:bodyPr wrap="square" lIns="0" rIns="0" tIns="0" bIns="0" anchor="t">
            <a:spAutoFit/>
          </a:bodyPr>
          <a:lstStyle/>
          <a:p>
            <a:pPr algn="l"/>
            <a:r>
              <a:rPr sz="1500" b="1" i="0">
                <a:solidFill>
                  <a:srgbClr val="0E1330"/>
                </a:solidFill>
                <a:latin typeface="Calibri"/>
              </a:rPr>
              <a:t>No limit at the moment of choice</a:t>
            </a:r>
          </a:p>
        </p:txBody>
      </p:sp>
      <p:sp>
        <p:nvSpPr>
          <p:cNvPr id="26" name="TextBox 25"/>
          <p:cNvSpPr txBox="1"/>
          <p:nvPr/>
        </p:nvSpPr>
        <p:spPr>
          <a:xfrm>
            <a:off x="1051560" y="4023360"/>
            <a:ext cx="2834640" cy="594360"/>
          </a:xfrm>
          <a:prstGeom prst="rect">
            <a:avLst/>
          </a:prstGeom>
          <a:noFill/>
        </p:spPr>
        <p:txBody>
          <a:bodyPr wrap="square" lIns="0" rIns="0" tIns="0" bIns="0" anchor="t">
            <a:spAutoFit/>
          </a:bodyPr>
          <a:lstStyle/>
          <a:p>
            <a:pPr algn="l">
              <a:lnSpc>
                <a:spcPct val="100000"/>
              </a:lnSpc>
            </a:pPr>
            <a:r>
              <a:rPr sz="1300" b="0" i="0">
                <a:solidFill>
                  <a:srgbClr val="555B73"/>
                </a:solidFill>
                <a:latin typeface="Calibri"/>
              </a:rPr>
              <a:t>A form records a request; whether a seat exists is decided later</a:t>
            </a:r>
          </a:p>
        </p:txBody>
      </p:sp>
      <p:sp>
        <p:nvSpPr>
          <p:cNvPr id="27" name="Rounded Rectangle 26"/>
          <p:cNvSpPr/>
          <p:nvPr/>
        </p:nvSpPr>
        <p:spPr>
          <a:xfrm>
            <a:off x="4297679" y="3520440"/>
            <a:ext cx="3474720" cy="114300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26279" y="3776472"/>
            <a:ext cx="146304" cy="146304"/>
          </a:xfrm>
          <a:prstGeom prst="ellipse">
            <a:avLst/>
          </a:prstGeom>
          <a:solidFill>
            <a:srgbClr val="B4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00599" y="3675888"/>
            <a:ext cx="2834640" cy="320040"/>
          </a:xfrm>
          <a:prstGeom prst="rect">
            <a:avLst/>
          </a:prstGeom>
          <a:noFill/>
        </p:spPr>
        <p:txBody>
          <a:bodyPr wrap="square" lIns="0" rIns="0" tIns="0" bIns="0" anchor="t">
            <a:spAutoFit/>
          </a:bodyPr>
          <a:lstStyle/>
          <a:p>
            <a:pPr algn="l"/>
            <a:r>
              <a:rPr sz="1500" b="1" i="0">
                <a:solidFill>
                  <a:srgbClr val="0E1330"/>
                </a:solidFill>
                <a:latin typeface="Calibri"/>
              </a:rPr>
              <a:t>Opaque to students</a:t>
            </a:r>
          </a:p>
        </p:txBody>
      </p:sp>
      <p:sp>
        <p:nvSpPr>
          <p:cNvPr id="30" name="TextBox 29"/>
          <p:cNvSpPr txBox="1"/>
          <p:nvPr/>
        </p:nvSpPr>
        <p:spPr>
          <a:xfrm>
            <a:off x="4800599" y="4023360"/>
            <a:ext cx="2834640" cy="594360"/>
          </a:xfrm>
          <a:prstGeom prst="rect">
            <a:avLst/>
          </a:prstGeom>
          <a:noFill/>
        </p:spPr>
        <p:txBody>
          <a:bodyPr wrap="square" lIns="0" rIns="0" tIns="0" bIns="0" anchor="t">
            <a:spAutoFit/>
          </a:bodyPr>
          <a:lstStyle/>
          <a:p>
            <a:pPr algn="l">
              <a:lnSpc>
                <a:spcPct val="100000"/>
              </a:lnSpc>
            </a:pPr>
            <a:r>
              <a:rPr sz="1300" b="0" i="0">
                <a:solidFill>
                  <a:srgbClr val="555B73"/>
                </a:solidFill>
                <a:latin typeface="Calibri"/>
              </a:rPr>
              <a:t>Nobody can see how many seats remain before choosing</a:t>
            </a:r>
          </a:p>
        </p:txBody>
      </p:sp>
      <p:sp>
        <p:nvSpPr>
          <p:cNvPr id="31" name="Rounded Rectangle 30"/>
          <p:cNvSpPr/>
          <p:nvPr/>
        </p:nvSpPr>
        <p:spPr>
          <a:xfrm>
            <a:off x="8046719" y="3520440"/>
            <a:ext cx="3474720" cy="114300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275319" y="3776472"/>
            <a:ext cx="146304" cy="146304"/>
          </a:xfrm>
          <a:prstGeom prst="ellipse">
            <a:avLst/>
          </a:prstGeom>
          <a:solidFill>
            <a:srgbClr val="B4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9640" y="3675888"/>
            <a:ext cx="2834640" cy="320040"/>
          </a:xfrm>
          <a:prstGeom prst="rect">
            <a:avLst/>
          </a:prstGeom>
          <a:noFill/>
        </p:spPr>
        <p:txBody>
          <a:bodyPr wrap="square" lIns="0" rIns="0" tIns="0" bIns="0" anchor="t">
            <a:spAutoFit/>
          </a:bodyPr>
          <a:lstStyle/>
          <a:p>
            <a:pPr algn="l"/>
            <a:r>
              <a:rPr sz="1500" b="1" i="0">
                <a:solidFill>
                  <a:srgbClr val="0E1330"/>
                </a:solidFill>
                <a:latin typeface="Calibri"/>
              </a:rPr>
              <a:t>No live view for staff</a:t>
            </a:r>
          </a:p>
        </p:txBody>
      </p:sp>
      <p:sp>
        <p:nvSpPr>
          <p:cNvPr id="34" name="TextBox 33"/>
          <p:cNvSpPr txBox="1"/>
          <p:nvPr/>
        </p:nvSpPr>
        <p:spPr>
          <a:xfrm>
            <a:off x="8549640" y="4023360"/>
            <a:ext cx="2834640" cy="594360"/>
          </a:xfrm>
          <a:prstGeom prst="rect">
            <a:avLst/>
          </a:prstGeom>
          <a:noFill/>
        </p:spPr>
        <p:txBody>
          <a:bodyPr wrap="square" lIns="0" rIns="0" tIns="0" bIns="0" anchor="t">
            <a:spAutoFit/>
          </a:bodyPr>
          <a:lstStyle/>
          <a:p>
            <a:pPr algn="l">
              <a:lnSpc>
                <a:spcPct val="100000"/>
              </a:lnSpc>
            </a:pPr>
            <a:r>
              <a:rPr sz="1300" b="0" i="0">
                <a:solidFill>
                  <a:srgbClr val="555B73"/>
                </a:solidFill>
                <a:latin typeface="Calibri"/>
              </a:rPr>
              <a:t>Who has registered is known only after the window closes</a:t>
            </a:r>
          </a:p>
        </p:txBody>
      </p:sp>
      <p:sp>
        <p:nvSpPr>
          <p:cNvPr id="35" name="Rounded Rectangle 34"/>
          <p:cNvSpPr/>
          <p:nvPr/>
        </p:nvSpPr>
        <p:spPr>
          <a:xfrm>
            <a:off x="548640" y="4846320"/>
            <a:ext cx="3474720" cy="114300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77240" y="5102352"/>
            <a:ext cx="146304" cy="146304"/>
          </a:xfrm>
          <a:prstGeom prst="ellipse">
            <a:avLst/>
          </a:prstGeom>
          <a:solidFill>
            <a:srgbClr val="B4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1560" y="5001768"/>
            <a:ext cx="2834640" cy="320040"/>
          </a:xfrm>
          <a:prstGeom prst="rect">
            <a:avLst/>
          </a:prstGeom>
          <a:noFill/>
        </p:spPr>
        <p:txBody>
          <a:bodyPr wrap="square" lIns="0" rIns="0" tIns="0" bIns="0" anchor="t">
            <a:spAutoFit/>
          </a:bodyPr>
          <a:lstStyle/>
          <a:p>
            <a:pPr algn="l"/>
            <a:r>
              <a:rPr sz="1500" b="1" i="0">
                <a:solidFill>
                  <a:srgbClr val="0E1330"/>
                </a:solidFill>
                <a:latin typeface="Calibri"/>
              </a:rPr>
              <a:t>Changes handled informally</a:t>
            </a:r>
          </a:p>
        </p:txBody>
      </p:sp>
      <p:sp>
        <p:nvSpPr>
          <p:cNvPr id="38" name="TextBox 37"/>
          <p:cNvSpPr txBox="1"/>
          <p:nvPr/>
        </p:nvSpPr>
        <p:spPr>
          <a:xfrm>
            <a:off x="1051560" y="5349240"/>
            <a:ext cx="2834640" cy="594360"/>
          </a:xfrm>
          <a:prstGeom prst="rect">
            <a:avLst/>
          </a:prstGeom>
          <a:noFill/>
        </p:spPr>
        <p:txBody>
          <a:bodyPr wrap="square" lIns="0" rIns="0" tIns="0" bIns="0" anchor="t">
            <a:spAutoFit/>
          </a:bodyPr>
          <a:lstStyle/>
          <a:p>
            <a:pPr algn="l">
              <a:lnSpc>
                <a:spcPct val="100000"/>
              </a:lnSpc>
            </a:pPr>
            <a:r>
              <a:rPr sz="1300" b="0" i="0">
                <a:solidFill>
                  <a:srgbClr val="555B73"/>
                </a:solidFill>
                <a:latin typeface="Calibri"/>
              </a:rPr>
              <a:t>Withdrawals leave no reliable record of what changed and when</a:t>
            </a:r>
          </a:p>
        </p:txBody>
      </p:sp>
      <p:sp>
        <p:nvSpPr>
          <p:cNvPr id="39" name="Rounded Rectangle 38"/>
          <p:cNvSpPr/>
          <p:nvPr/>
        </p:nvSpPr>
        <p:spPr>
          <a:xfrm>
            <a:off x="4297679" y="4846320"/>
            <a:ext cx="3474720" cy="114300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4526279" y="5102352"/>
            <a:ext cx="146304" cy="146304"/>
          </a:xfrm>
          <a:prstGeom prst="ellipse">
            <a:avLst/>
          </a:prstGeom>
          <a:solidFill>
            <a:srgbClr val="B4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00599" y="5001768"/>
            <a:ext cx="2834640" cy="320040"/>
          </a:xfrm>
          <a:prstGeom prst="rect">
            <a:avLst/>
          </a:prstGeom>
          <a:noFill/>
        </p:spPr>
        <p:txBody>
          <a:bodyPr wrap="square" lIns="0" rIns="0" tIns="0" bIns="0" anchor="t">
            <a:spAutoFit/>
          </a:bodyPr>
          <a:lstStyle/>
          <a:p>
            <a:pPr algn="l"/>
            <a:r>
              <a:rPr sz="1500" b="1" i="0">
                <a:solidFill>
                  <a:srgbClr val="0E1330"/>
                </a:solidFill>
                <a:latin typeface="Calibri"/>
              </a:rPr>
              <a:t>Cohorts can mix</a:t>
            </a:r>
          </a:p>
        </p:txBody>
      </p:sp>
      <p:sp>
        <p:nvSpPr>
          <p:cNvPr id="42" name="TextBox 41"/>
          <p:cNvSpPr txBox="1"/>
          <p:nvPr/>
        </p:nvSpPr>
        <p:spPr>
          <a:xfrm>
            <a:off x="4800599" y="5349240"/>
            <a:ext cx="2834640" cy="594360"/>
          </a:xfrm>
          <a:prstGeom prst="rect">
            <a:avLst/>
          </a:prstGeom>
          <a:noFill/>
        </p:spPr>
        <p:txBody>
          <a:bodyPr wrap="square" lIns="0" rIns="0" tIns="0" bIns="0" anchor="t">
            <a:spAutoFit/>
          </a:bodyPr>
          <a:lstStyle/>
          <a:p>
            <a:pPr algn="l">
              <a:lnSpc>
                <a:spcPct val="100000"/>
              </a:lnSpc>
            </a:pPr>
            <a:r>
              <a:rPr sz="1300" b="0" i="0">
                <a:solidFill>
                  <a:srgbClr val="555B73"/>
                </a:solidFill>
                <a:latin typeface="Calibri"/>
              </a:rPr>
              <a:t>Different batches end up in the same sheet or form</a:t>
            </a:r>
          </a:p>
        </p:txBody>
      </p:sp>
      <p:sp>
        <p:nvSpPr>
          <p:cNvPr id="43" name="Rounded Rectangle 42"/>
          <p:cNvSpPr/>
          <p:nvPr/>
        </p:nvSpPr>
        <p:spPr>
          <a:xfrm>
            <a:off x="8046719" y="4846320"/>
            <a:ext cx="3474720" cy="114300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8275319" y="5102352"/>
            <a:ext cx="146304" cy="146304"/>
          </a:xfrm>
          <a:prstGeom prst="ellipse">
            <a:avLst/>
          </a:prstGeom>
          <a:solidFill>
            <a:srgbClr val="B4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9640" y="5001768"/>
            <a:ext cx="2834640" cy="320040"/>
          </a:xfrm>
          <a:prstGeom prst="rect">
            <a:avLst/>
          </a:prstGeom>
          <a:noFill/>
        </p:spPr>
        <p:txBody>
          <a:bodyPr wrap="square" lIns="0" rIns="0" tIns="0" bIns="0" anchor="t">
            <a:spAutoFit/>
          </a:bodyPr>
          <a:lstStyle/>
          <a:p>
            <a:pPr algn="l"/>
            <a:r>
              <a:rPr sz="1500" b="1" i="0">
                <a:solidFill>
                  <a:srgbClr val="0E1330"/>
                </a:solidFill>
                <a:latin typeface="Calibri"/>
              </a:rPr>
              <a:t>All-or-nothing access</a:t>
            </a:r>
          </a:p>
        </p:txBody>
      </p:sp>
      <p:sp>
        <p:nvSpPr>
          <p:cNvPr id="46" name="TextBox 45"/>
          <p:cNvSpPr txBox="1"/>
          <p:nvPr/>
        </p:nvSpPr>
        <p:spPr>
          <a:xfrm>
            <a:off x="8549640" y="5349240"/>
            <a:ext cx="2834640" cy="594360"/>
          </a:xfrm>
          <a:prstGeom prst="rect">
            <a:avLst/>
          </a:prstGeom>
          <a:noFill/>
        </p:spPr>
        <p:txBody>
          <a:bodyPr wrap="square" lIns="0" rIns="0" tIns="0" bIns="0" anchor="t">
            <a:spAutoFit/>
          </a:bodyPr>
          <a:lstStyle/>
          <a:p>
            <a:pPr algn="l">
              <a:lnSpc>
                <a:spcPct val="100000"/>
              </a:lnSpc>
            </a:pPr>
            <a:r>
              <a:rPr sz="1300" b="0" i="0">
                <a:solidFill>
                  <a:srgbClr val="555B73"/>
                </a:solidFill>
                <a:latin typeface="Calibri"/>
              </a:rPr>
              <a:t>Anyone who can edit the sheet can alter anyone's entry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PROPOSED SYSTEM AND KEY FEATURES</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Enforce the rule where the data lives</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07 / 16</a:t>
            </a:r>
          </a:p>
        </p:txBody>
      </p:sp>
      <p:sp>
        <p:nvSpPr>
          <p:cNvPr id="8" name="Rounded Rectangle 7"/>
          <p:cNvSpPr/>
          <p:nvPr/>
        </p:nvSpPr>
        <p:spPr>
          <a:xfrm>
            <a:off x="548640" y="1554480"/>
            <a:ext cx="3474720" cy="178308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1810512"/>
            <a:ext cx="530352" cy="530352"/>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rmchair-ink.png"/>
          <p:cNvPicPr>
            <a:picLocks noChangeAspect="1"/>
          </p:cNvPicPr>
          <p:nvPr/>
        </p:nvPicPr>
        <p:blipFill>
          <a:blip r:embed="rId3"/>
          <a:stretch>
            <a:fillRect/>
          </a:stretch>
        </p:blipFill>
        <p:spPr>
          <a:xfrm>
            <a:off x="950244" y="1937796"/>
            <a:ext cx="275783" cy="275783"/>
          </a:xfrm>
          <a:prstGeom prst="rect">
            <a:avLst/>
          </a:prstGeom>
        </p:spPr>
      </p:pic>
      <p:sp>
        <p:nvSpPr>
          <p:cNvPr id="11" name="TextBox 10"/>
          <p:cNvSpPr txBox="1"/>
          <p:nvPr/>
        </p:nvSpPr>
        <p:spPr>
          <a:xfrm>
            <a:off x="1508760" y="1828800"/>
            <a:ext cx="2377440" cy="502920"/>
          </a:xfrm>
          <a:prstGeom prst="rect">
            <a:avLst/>
          </a:prstGeom>
          <a:noFill/>
        </p:spPr>
        <p:txBody>
          <a:bodyPr wrap="square" lIns="0" rIns="0" tIns="0" bIns="0" anchor="ctr">
            <a:spAutoFit/>
          </a:bodyPr>
          <a:lstStyle/>
          <a:p>
            <a:pPr algn="l">
              <a:lnSpc>
                <a:spcPct val="100000"/>
              </a:lnSpc>
            </a:pPr>
            <a:r>
              <a:rPr sz="1600" b="1" i="0">
                <a:solidFill>
                  <a:srgbClr val="0E1330"/>
                </a:solidFill>
                <a:latin typeface="Calibri"/>
              </a:rPr>
              <a:t>Transactional seat allocation</a:t>
            </a:r>
          </a:p>
        </p:txBody>
      </p:sp>
      <p:sp>
        <p:nvSpPr>
          <p:cNvPr id="12" name="TextBox 11"/>
          <p:cNvSpPr txBox="1"/>
          <p:nvPr/>
        </p:nvSpPr>
        <p:spPr>
          <a:xfrm>
            <a:off x="822959" y="2468880"/>
            <a:ext cx="3017520" cy="822960"/>
          </a:xfrm>
          <a:prstGeom prst="rect">
            <a:avLst/>
          </a:prstGeom>
          <a:noFill/>
        </p:spPr>
        <p:txBody>
          <a:bodyPr wrap="square" lIns="0" rIns="0" tIns="0" bIns="0" anchor="t">
            <a:spAutoFit/>
          </a:bodyPr>
          <a:lstStyle/>
          <a:p>
            <a:pPr algn="l">
              <a:lnSpc>
                <a:spcPct val="103000"/>
              </a:lnSpc>
            </a:pPr>
            <a:r>
              <a:rPr sz="1400" b="0" i="0">
                <a:solidFill>
                  <a:srgbClr val="555B73"/>
                </a:solidFill>
                <a:latin typeface="Calibri"/>
              </a:rPr>
              <a:t>Rows locked in id order; capacity and class quotas checked inside one transaction</a:t>
            </a:r>
          </a:p>
        </p:txBody>
      </p:sp>
      <p:sp>
        <p:nvSpPr>
          <p:cNvPr id="13" name="Rounded Rectangle 12"/>
          <p:cNvSpPr/>
          <p:nvPr/>
        </p:nvSpPr>
        <p:spPr>
          <a:xfrm>
            <a:off x="4297679" y="1554480"/>
            <a:ext cx="3474720" cy="178308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1999" y="1810512"/>
            <a:ext cx="530352" cy="530352"/>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rver-ink.png"/>
          <p:cNvPicPr>
            <a:picLocks noChangeAspect="1"/>
          </p:cNvPicPr>
          <p:nvPr/>
        </p:nvPicPr>
        <p:blipFill>
          <a:blip r:embed="rId4"/>
          <a:stretch>
            <a:fillRect/>
          </a:stretch>
        </p:blipFill>
        <p:spPr>
          <a:xfrm>
            <a:off x="4699284" y="1937796"/>
            <a:ext cx="275783" cy="275783"/>
          </a:xfrm>
          <a:prstGeom prst="rect">
            <a:avLst/>
          </a:prstGeom>
        </p:spPr>
      </p:pic>
      <p:sp>
        <p:nvSpPr>
          <p:cNvPr id="16" name="TextBox 15"/>
          <p:cNvSpPr txBox="1"/>
          <p:nvPr/>
        </p:nvSpPr>
        <p:spPr>
          <a:xfrm>
            <a:off x="5257799" y="1828800"/>
            <a:ext cx="2377440" cy="502920"/>
          </a:xfrm>
          <a:prstGeom prst="rect">
            <a:avLst/>
          </a:prstGeom>
          <a:noFill/>
        </p:spPr>
        <p:txBody>
          <a:bodyPr wrap="square" lIns="0" rIns="0" tIns="0" bIns="0" anchor="ctr">
            <a:spAutoFit/>
          </a:bodyPr>
          <a:lstStyle/>
          <a:p>
            <a:pPr algn="l">
              <a:lnSpc>
                <a:spcPct val="100000"/>
              </a:lnSpc>
            </a:pPr>
            <a:r>
              <a:rPr sz="1600" b="1" i="0">
                <a:solidFill>
                  <a:srgbClr val="0E1330"/>
                </a:solidFill>
                <a:latin typeface="Calibri"/>
              </a:rPr>
              <a:t>Year Servers and cohort isolation</a:t>
            </a:r>
          </a:p>
        </p:txBody>
      </p:sp>
      <p:sp>
        <p:nvSpPr>
          <p:cNvPr id="17" name="TextBox 16"/>
          <p:cNvSpPr txBox="1"/>
          <p:nvPr/>
        </p:nvSpPr>
        <p:spPr>
          <a:xfrm>
            <a:off x="4571999" y="2468880"/>
            <a:ext cx="3017520" cy="822960"/>
          </a:xfrm>
          <a:prstGeom prst="rect">
            <a:avLst/>
          </a:prstGeom>
          <a:noFill/>
        </p:spPr>
        <p:txBody>
          <a:bodyPr wrap="square" lIns="0" rIns="0" tIns="0" bIns="0" anchor="t">
            <a:spAutoFit/>
          </a:bodyPr>
          <a:lstStyle/>
          <a:p>
            <a:pPr algn="l">
              <a:lnSpc>
                <a:spcPct val="103000"/>
              </a:lnSpc>
            </a:pPr>
            <a:r>
              <a:rPr sz="1400" b="0" i="0">
                <a:solidFill>
                  <a:srgbClr val="555B73"/>
                </a:solidFill>
                <a:latin typeface="Calibri"/>
              </a:rPr>
              <a:t>Each academic year is a workspace; composite keys keep a class inside its cohort</a:t>
            </a:r>
          </a:p>
        </p:txBody>
      </p:sp>
      <p:sp>
        <p:nvSpPr>
          <p:cNvPr id="18" name="Rounded Rectangle 17"/>
          <p:cNvSpPr/>
          <p:nvPr/>
        </p:nvSpPr>
        <p:spPr>
          <a:xfrm>
            <a:off x="8046719" y="1554480"/>
            <a:ext cx="3474720" cy="178308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21040" y="1810512"/>
            <a:ext cx="530352" cy="530352"/>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icket-ink.png"/>
          <p:cNvPicPr>
            <a:picLocks noChangeAspect="1"/>
          </p:cNvPicPr>
          <p:nvPr/>
        </p:nvPicPr>
        <p:blipFill>
          <a:blip r:embed="rId5"/>
          <a:stretch>
            <a:fillRect/>
          </a:stretch>
        </p:blipFill>
        <p:spPr>
          <a:xfrm>
            <a:off x="8448324" y="1937796"/>
            <a:ext cx="275783" cy="275783"/>
          </a:xfrm>
          <a:prstGeom prst="rect">
            <a:avLst/>
          </a:prstGeom>
        </p:spPr>
      </p:pic>
      <p:sp>
        <p:nvSpPr>
          <p:cNvPr id="21" name="TextBox 20"/>
          <p:cNvSpPr txBox="1"/>
          <p:nvPr/>
        </p:nvSpPr>
        <p:spPr>
          <a:xfrm>
            <a:off x="9006840" y="1828800"/>
            <a:ext cx="2377440" cy="502920"/>
          </a:xfrm>
          <a:prstGeom prst="rect">
            <a:avLst/>
          </a:prstGeom>
          <a:noFill/>
        </p:spPr>
        <p:txBody>
          <a:bodyPr wrap="square" lIns="0" rIns="0" tIns="0" bIns="0" anchor="ctr">
            <a:spAutoFit/>
          </a:bodyPr>
          <a:lstStyle/>
          <a:p>
            <a:pPr algn="l">
              <a:lnSpc>
                <a:spcPct val="100000"/>
              </a:lnSpc>
            </a:pPr>
            <a:r>
              <a:rPr sz="1600" b="1" i="0">
                <a:solidFill>
                  <a:srgbClr val="0E1330"/>
                </a:solidFill>
                <a:latin typeface="Calibri"/>
              </a:rPr>
              <a:t>Class signup codes</a:t>
            </a:r>
          </a:p>
        </p:txBody>
      </p:sp>
      <p:sp>
        <p:nvSpPr>
          <p:cNvPr id="22" name="TextBox 21"/>
          <p:cNvSpPr txBox="1"/>
          <p:nvPr/>
        </p:nvSpPr>
        <p:spPr>
          <a:xfrm>
            <a:off x="8321040" y="2468880"/>
            <a:ext cx="3017520" cy="822960"/>
          </a:xfrm>
          <a:prstGeom prst="rect">
            <a:avLst/>
          </a:prstGeom>
          <a:noFill/>
        </p:spPr>
        <p:txBody>
          <a:bodyPr wrap="square" lIns="0" rIns="0" tIns="0" bIns="0" anchor="t">
            <a:spAutoFit/>
          </a:bodyPr>
          <a:lstStyle/>
          <a:p>
            <a:pPr algn="l">
              <a:lnSpc>
                <a:spcPct val="103000"/>
              </a:lnSpc>
            </a:pPr>
            <a:r>
              <a:rPr sz="1400" b="0" i="0">
                <a:solidFill>
                  <a:srgbClr val="555B73"/>
                </a:solidFill>
                <a:latin typeface="Calibri"/>
              </a:rPr>
              <a:t>A code names one class; uses are claimed atomically, so the limit holds</a:t>
            </a:r>
          </a:p>
        </p:txBody>
      </p:sp>
      <p:sp>
        <p:nvSpPr>
          <p:cNvPr id="23" name="Rounded Rectangle 22"/>
          <p:cNvSpPr/>
          <p:nvPr/>
        </p:nvSpPr>
        <p:spPr>
          <a:xfrm>
            <a:off x="548640" y="3520439"/>
            <a:ext cx="3474720" cy="178308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2959" y="3776472"/>
            <a:ext cx="530352" cy="530352"/>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earch-ink.png"/>
          <p:cNvPicPr>
            <a:picLocks noChangeAspect="1"/>
          </p:cNvPicPr>
          <p:nvPr/>
        </p:nvPicPr>
        <p:blipFill>
          <a:blip r:embed="rId6"/>
          <a:stretch>
            <a:fillRect/>
          </a:stretch>
        </p:blipFill>
        <p:spPr>
          <a:xfrm>
            <a:off x="950244" y="3903756"/>
            <a:ext cx="275783" cy="275783"/>
          </a:xfrm>
          <a:prstGeom prst="rect">
            <a:avLst/>
          </a:prstGeom>
        </p:spPr>
      </p:pic>
      <p:sp>
        <p:nvSpPr>
          <p:cNvPr id="26" name="TextBox 25"/>
          <p:cNvSpPr txBox="1"/>
          <p:nvPr/>
        </p:nvSpPr>
        <p:spPr>
          <a:xfrm>
            <a:off x="1508760" y="3794759"/>
            <a:ext cx="2377440" cy="502920"/>
          </a:xfrm>
          <a:prstGeom prst="rect">
            <a:avLst/>
          </a:prstGeom>
          <a:noFill/>
        </p:spPr>
        <p:txBody>
          <a:bodyPr wrap="square" lIns="0" rIns="0" tIns="0" bIns="0" anchor="ctr">
            <a:spAutoFit/>
          </a:bodyPr>
          <a:lstStyle/>
          <a:p>
            <a:pPr algn="l">
              <a:lnSpc>
                <a:spcPct val="100000"/>
              </a:lnSpc>
            </a:pPr>
            <a:r>
              <a:rPr sz="1600" b="1" i="0">
                <a:solidFill>
                  <a:srgbClr val="0E1330"/>
                </a:solidFill>
                <a:latin typeface="Calibri"/>
              </a:rPr>
              <a:t>Subject explorer</a:t>
            </a:r>
          </a:p>
        </p:txBody>
      </p:sp>
      <p:sp>
        <p:nvSpPr>
          <p:cNvPr id="27" name="TextBox 26"/>
          <p:cNvSpPr txBox="1"/>
          <p:nvPr/>
        </p:nvSpPr>
        <p:spPr>
          <a:xfrm>
            <a:off x="822959" y="4434840"/>
            <a:ext cx="3017520" cy="822960"/>
          </a:xfrm>
          <a:prstGeom prst="rect">
            <a:avLst/>
          </a:prstGeom>
          <a:noFill/>
        </p:spPr>
        <p:txBody>
          <a:bodyPr wrap="square" lIns="0" rIns="0" tIns="0" bIns="0" anchor="t">
            <a:spAutoFit/>
          </a:bodyPr>
          <a:lstStyle/>
          <a:p>
            <a:pPr algn="l">
              <a:lnSpc>
                <a:spcPct val="103000"/>
              </a:lnSpc>
            </a:pPr>
            <a:r>
              <a:rPr sz="1400" b="0" i="0">
                <a:solidFill>
                  <a:srgbClr val="555B73"/>
                </a:solidFill>
                <a:latin typeface="Calibri"/>
              </a:rPr>
              <a:t>Students read about subjects and see live seat counts before the window opens</a:t>
            </a:r>
          </a:p>
        </p:txBody>
      </p:sp>
      <p:sp>
        <p:nvSpPr>
          <p:cNvPr id="28" name="Rounded Rectangle 27"/>
          <p:cNvSpPr/>
          <p:nvPr/>
        </p:nvSpPr>
        <p:spPr>
          <a:xfrm>
            <a:off x="4297679" y="3520439"/>
            <a:ext cx="3474720" cy="178308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71999" y="3776472"/>
            <a:ext cx="530352" cy="530352"/>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ctivity-ink.png"/>
          <p:cNvPicPr>
            <a:picLocks noChangeAspect="1"/>
          </p:cNvPicPr>
          <p:nvPr/>
        </p:nvPicPr>
        <p:blipFill>
          <a:blip r:embed="rId7"/>
          <a:stretch>
            <a:fillRect/>
          </a:stretch>
        </p:blipFill>
        <p:spPr>
          <a:xfrm>
            <a:off x="4699284" y="3903756"/>
            <a:ext cx="275783" cy="275783"/>
          </a:xfrm>
          <a:prstGeom prst="rect">
            <a:avLst/>
          </a:prstGeom>
        </p:spPr>
      </p:pic>
      <p:sp>
        <p:nvSpPr>
          <p:cNvPr id="31" name="TextBox 30"/>
          <p:cNvSpPr txBox="1"/>
          <p:nvPr/>
        </p:nvSpPr>
        <p:spPr>
          <a:xfrm>
            <a:off x="5257799" y="3794759"/>
            <a:ext cx="2377440" cy="502920"/>
          </a:xfrm>
          <a:prstGeom prst="rect">
            <a:avLst/>
          </a:prstGeom>
          <a:noFill/>
        </p:spPr>
        <p:txBody>
          <a:bodyPr wrap="square" lIns="0" rIns="0" tIns="0" bIns="0" anchor="ctr">
            <a:spAutoFit/>
          </a:bodyPr>
          <a:lstStyle/>
          <a:p>
            <a:pPr algn="l">
              <a:lnSpc>
                <a:spcPct val="100000"/>
              </a:lnSpc>
            </a:pPr>
            <a:r>
              <a:rPr sz="1600" b="1" i="0">
                <a:solidFill>
                  <a:srgbClr val="0E1330"/>
                </a:solidFill>
                <a:latin typeface="Calibri"/>
              </a:rPr>
              <a:t>Live monitor and replay</a:t>
            </a:r>
          </a:p>
        </p:txBody>
      </p:sp>
      <p:sp>
        <p:nvSpPr>
          <p:cNvPr id="32" name="TextBox 31"/>
          <p:cNvSpPr txBox="1"/>
          <p:nvPr/>
        </p:nvSpPr>
        <p:spPr>
          <a:xfrm>
            <a:off x="4571999" y="4434840"/>
            <a:ext cx="3017520" cy="822960"/>
          </a:xfrm>
          <a:prstGeom prst="rect">
            <a:avLst/>
          </a:prstGeom>
          <a:noFill/>
        </p:spPr>
        <p:txBody>
          <a:bodyPr wrap="square" lIns="0" rIns="0" tIns="0" bIns="0" anchor="t">
            <a:spAutoFit/>
          </a:bodyPr>
          <a:lstStyle/>
          <a:p>
            <a:pPr algn="l">
              <a:lnSpc>
                <a:spcPct val="103000"/>
              </a:lnSpc>
            </a:pPr>
            <a:r>
              <a:rPr sz="1400" b="0" i="0">
                <a:solidFill>
                  <a:srgbClr val="555B73"/>
                </a:solidFill>
                <a:latin typeface="Calibri"/>
              </a:rPr>
              <a:t>Turnout, seat saturation and an ordered replay of who took which seat</a:t>
            </a:r>
          </a:p>
        </p:txBody>
      </p:sp>
      <p:sp>
        <p:nvSpPr>
          <p:cNvPr id="33" name="Rounded Rectangle 32"/>
          <p:cNvSpPr/>
          <p:nvPr/>
        </p:nvSpPr>
        <p:spPr>
          <a:xfrm>
            <a:off x="8046719" y="3520439"/>
            <a:ext cx="3474720" cy="178308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321040" y="3776472"/>
            <a:ext cx="530352" cy="530352"/>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ScrollText-ink.png"/>
          <p:cNvPicPr>
            <a:picLocks noChangeAspect="1"/>
          </p:cNvPicPr>
          <p:nvPr/>
        </p:nvPicPr>
        <p:blipFill>
          <a:blip r:embed="rId8"/>
          <a:stretch>
            <a:fillRect/>
          </a:stretch>
        </p:blipFill>
        <p:spPr>
          <a:xfrm>
            <a:off x="8448324" y="3903756"/>
            <a:ext cx="275783" cy="275783"/>
          </a:xfrm>
          <a:prstGeom prst="rect">
            <a:avLst/>
          </a:prstGeom>
        </p:spPr>
      </p:pic>
      <p:sp>
        <p:nvSpPr>
          <p:cNvPr id="36" name="TextBox 35"/>
          <p:cNvSpPr txBox="1"/>
          <p:nvPr/>
        </p:nvSpPr>
        <p:spPr>
          <a:xfrm>
            <a:off x="9006840" y="3794759"/>
            <a:ext cx="2377440" cy="502920"/>
          </a:xfrm>
          <a:prstGeom prst="rect">
            <a:avLst/>
          </a:prstGeom>
          <a:noFill/>
        </p:spPr>
        <p:txBody>
          <a:bodyPr wrap="square" lIns="0" rIns="0" tIns="0" bIns="0" anchor="ctr">
            <a:spAutoFit/>
          </a:bodyPr>
          <a:lstStyle/>
          <a:p>
            <a:pPr algn="l">
              <a:lnSpc>
                <a:spcPct val="100000"/>
              </a:lnSpc>
            </a:pPr>
            <a:r>
              <a:rPr sz="1600" b="1" i="0">
                <a:solidFill>
                  <a:srgbClr val="0E1330"/>
                </a:solidFill>
                <a:latin typeface="Calibri"/>
              </a:rPr>
              <a:t>Receipts and audit log</a:t>
            </a:r>
          </a:p>
        </p:txBody>
      </p:sp>
      <p:sp>
        <p:nvSpPr>
          <p:cNvPr id="37" name="TextBox 36"/>
          <p:cNvSpPr txBox="1"/>
          <p:nvPr/>
        </p:nvSpPr>
        <p:spPr>
          <a:xfrm>
            <a:off x="8321040" y="4434840"/>
            <a:ext cx="3017520" cy="822960"/>
          </a:xfrm>
          <a:prstGeom prst="rect">
            <a:avLst/>
          </a:prstGeom>
          <a:noFill/>
        </p:spPr>
        <p:txBody>
          <a:bodyPr wrap="square" lIns="0" rIns="0" tIns="0" bIns="0" anchor="t">
            <a:spAutoFit/>
          </a:bodyPr>
          <a:lstStyle/>
          <a:p>
            <a:pPr algn="l">
              <a:lnSpc>
                <a:spcPct val="103000"/>
              </a:lnSpc>
            </a:pPr>
            <a:r>
              <a:rPr sz="1400" b="0" i="0">
                <a:solidFill>
                  <a:srgbClr val="555B73"/>
                </a:solidFill>
                <a:latin typeface="Calibri"/>
              </a:rPr>
              <a:t>Unique receipt numbers, JSON snapshots and an audit trail of staff actions</a:t>
            </a:r>
          </a:p>
        </p:txBody>
      </p:sp>
      <p:sp>
        <p:nvSpPr>
          <p:cNvPr id="38" name="Rounded Rectangle 37"/>
          <p:cNvSpPr/>
          <p:nvPr/>
        </p:nvSpPr>
        <p:spPr>
          <a:xfrm>
            <a:off x="548640" y="5596128"/>
            <a:ext cx="11064240" cy="566928"/>
          </a:xfrm>
          <a:prstGeom prst="roundRect">
            <a:avLst>
              <a:gd name="adj" fmla="val 12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77240" y="5596128"/>
            <a:ext cx="10698480" cy="566928"/>
          </a:xfrm>
          <a:prstGeom prst="rect">
            <a:avLst/>
          </a:prstGeom>
          <a:noFill/>
        </p:spPr>
        <p:txBody>
          <a:bodyPr wrap="square" lIns="0" rIns="0" tIns="0" bIns="0" anchor="ctr">
            <a:spAutoFit/>
          </a:bodyPr>
          <a:lstStyle/>
          <a:p>
            <a:pPr algn="l"/>
            <a:r>
              <a:rPr sz="1400" b="1" i="0">
                <a:solidFill>
                  <a:srgbClr val="2F7D4F"/>
                </a:solidFill>
                <a:latin typeface="Calibri"/>
              </a:rPr>
              <a:t>Status  </a:t>
            </a:r>
            <a:r>
              <a:rPr sz="1400" b="0" i="0">
                <a:solidFill>
                  <a:srgbClr val="0E1330"/>
                </a:solidFill>
                <a:latin typeface="Calibri"/>
              </a:rPr>
              <a:t>All six features are implemented and covered by automated tests.   </a:t>
            </a:r>
            <a:r>
              <a:rPr sz="1400" b="1" i="0">
                <a:solidFill>
                  <a:srgbClr val="555B73"/>
                </a:solidFill>
                <a:latin typeface="Calibri"/>
              </a:rPr>
              <a:t>Planned  </a:t>
            </a:r>
            <a:r>
              <a:rPr sz="1400" b="0" i="0">
                <a:solidFill>
                  <a:srgbClr val="555B73"/>
                </a:solidFill>
                <a:latin typeface="Calibri"/>
              </a:rPr>
              <a:t>preference-ranked allocation · notifications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SYSTEM ARCHITECTURE</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Five layers, one rule: the server decides</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08 / 16</a:t>
            </a:r>
          </a:p>
        </p:txBody>
      </p:sp>
      <p:sp>
        <p:nvSpPr>
          <p:cNvPr id="8" name="Rounded Rectangle 7"/>
          <p:cNvSpPr/>
          <p:nvPr/>
        </p:nvSpPr>
        <p:spPr>
          <a:xfrm>
            <a:off x="548640" y="1600200"/>
            <a:ext cx="1965960" cy="320040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00200"/>
            <a:ext cx="1965960" cy="566928"/>
          </a:xfrm>
          <a:prstGeom prst="roundRect">
            <a:avLst>
              <a:gd name="adj" fmla="val 18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1600200"/>
            <a:ext cx="1965960" cy="566928"/>
          </a:xfrm>
          <a:prstGeom prst="rect">
            <a:avLst/>
          </a:prstGeom>
          <a:noFill/>
        </p:spPr>
        <p:txBody>
          <a:bodyPr wrap="square" lIns="0" rIns="0" tIns="0" bIns="0" anchor="ctr">
            <a:spAutoFit/>
          </a:bodyPr>
          <a:lstStyle/>
          <a:p>
            <a:pPr algn="ctr"/>
            <a:r>
              <a:rPr sz="1500" b="1" i="0">
                <a:solidFill>
                  <a:srgbClr val="FFFFFF"/>
                </a:solidFill>
                <a:latin typeface="Calibri"/>
              </a:rPr>
              <a:t>Browser</a:t>
            </a:r>
          </a:p>
        </p:txBody>
      </p:sp>
      <p:sp>
        <p:nvSpPr>
          <p:cNvPr id="11" name="Rounded Rectangle 10"/>
          <p:cNvSpPr/>
          <p:nvPr/>
        </p:nvSpPr>
        <p:spPr>
          <a:xfrm>
            <a:off x="704088" y="2377440"/>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04088" y="2377440"/>
            <a:ext cx="1655063" cy="457200"/>
          </a:xfrm>
          <a:prstGeom prst="rect">
            <a:avLst/>
          </a:prstGeom>
          <a:noFill/>
        </p:spPr>
        <p:txBody>
          <a:bodyPr wrap="square" lIns="0" rIns="0" tIns="0" bIns="0" anchor="ctr">
            <a:spAutoFit/>
          </a:bodyPr>
          <a:lstStyle/>
          <a:p>
            <a:pPr algn="ctr"/>
            <a:r>
              <a:rPr sz="1300" b="0" i="0">
                <a:solidFill>
                  <a:srgbClr val="0E1330"/>
                </a:solidFill>
                <a:latin typeface="Calibri"/>
              </a:rPr>
              <a:t>Student portal</a:t>
            </a:r>
          </a:p>
        </p:txBody>
      </p:sp>
      <p:sp>
        <p:nvSpPr>
          <p:cNvPr id="13" name="Rounded Rectangle 12"/>
          <p:cNvSpPr/>
          <p:nvPr/>
        </p:nvSpPr>
        <p:spPr>
          <a:xfrm>
            <a:off x="704088" y="2944368"/>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04088" y="2944368"/>
            <a:ext cx="1655063" cy="457200"/>
          </a:xfrm>
          <a:prstGeom prst="rect">
            <a:avLst/>
          </a:prstGeom>
          <a:noFill/>
        </p:spPr>
        <p:txBody>
          <a:bodyPr wrap="square" lIns="0" rIns="0" tIns="0" bIns="0" anchor="ctr">
            <a:spAutoFit/>
          </a:bodyPr>
          <a:lstStyle/>
          <a:p>
            <a:pPr algn="ctr"/>
            <a:r>
              <a:rPr sz="1300" b="0" i="0">
                <a:solidFill>
                  <a:srgbClr val="0E1330"/>
                </a:solidFill>
                <a:latin typeface="Calibri"/>
              </a:rPr>
              <a:t>Staff portal</a:t>
            </a:r>
          </a:p>
        </p:txBody>
      </p:sp>
      <p:sp>
        <p:nvSpPr>
          <p:cNvPr id="15" name="TextBox 14"/>
          <p:cNvSpPr txBox="1"/>
          <p:nvPr/>
        </p:nvSpPr>
        <p:spPr>
          <a:xfrm>
            <a:off x="548640" y="4389120"/>
            <a:ext cx="1965960" cy="274320"/>
          </a:xfrm>
          <a:prstGeom prst="rect">
            <a:avLst/>
          </a:prstGeom>
          <a:noFill/>
        </p:spPr>
        <p:txBody>
          <a:bodyPr wrap="square" lIns="0" rIns="0" tIns="0" bIns="0" anchor="t">
            <a:spAutoFit/>
          </a:bodyPr>
          <a:lstStyle/>
          <a:p>
            <a:pPr algn="ctr"/>
            <a:r>
              <a:rPr sz="1100" b="0" i="0">
                <a:solidFill>
                  <a:srgbClr val="555B73"/>
                </a:solidFill>
                <a:latin typeface="Calibri"/>
              </a:rPr>
              <a:t>HTTPS · httpOnly cookie</a:t>
            </a:r>
          </a:p>
        </p:txBody>
      </p:sp>
      <p:cxnSp>
        <p:nvCxnSpPr>
          <p:cNvPr id="16" name="Connector 15"/>
          <p:cNvCxnSpPr/>
          <p:nvPr/>
        </p:nvCxnSpPr>
        <p:spPr>
          <a:xfrm>
            <a:off x="2542032" y="3063240"/>
            <a:ext cx="256032" cy="0"/>
          </a:xfrm>
          <a:prstGeom prst="line">
            <a:avLst/>
          </a:prstGeom>
          <a:ln w="22225">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25496" y="1600200"/>
            <a:ext cx="1965960" cy="320040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825496" y="1600200"/>
            <a:ext cx="1965960" cy="566928"/>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825496" y="1600200"/>
            <a:ext cx="1965960" cy="566928"/>
          </a:xfrm>
          <a:prstGeom prst="rect">
            <a:avLst/>
          </a:prstGeom>
          <a:noFill/>
        </p:spPr>
        <p:txBody>
          <a:bodyPr wrap="square" lIns="0" rIns="0" tIns="0" bIns="0" anchor="ctr">
            <a:spAutoFit/>
          </a:bodyPr>
          <a:lstStyle/>
          <a:p>
            <a:pPr algn="ctr"/>
            <a:r>
              <a:rPr sz="1500" b="1" i="0">
                <a:solidFill>
                  <a:srgbClr val="FFFFFF"/>
                </a:solidFill>
                <a:latin typeface="Calibri"/>
              </a:rPr>
              <a:t>Routing proxy</a:t>
            </a:r>
          </a:p>
        </p:txBody>
      </p:sp>
      <p:sp>
        <p:nvSpPr>
          <p:cNvPr id="20" name="Rounded Rectangle 19"/>
          <p:cNvSpPr/>
          <p:nvPr/>
        </p:nvSpPr>
        <p:spPr>
          <a:xfrm>
            <a:off x="2980944" y="2377440"/>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980944" y="2377440"/>
            <a:ext cx="1655063" cy="457200"/>
          </a:xfrm>
          <a:prstGeom prst="rect">
            <a:avLst/>
          </a:prstGeom>
          <a:noFill/>
        </p:spPr>
        <p:txBody>
          <a:bodyPr wrap="square" lIns="0" rIns="0" tIns="0" bIns="0" anchor="ctr">
            <a:spAutoFit/>
          </a:bodyPr>
          <a:lstStyle/>
          <a:p>
            <a:pPr algn="ctr"/>
            <a:r>
              <a:rPr sz="1300" b="0" i="0">
                <a:solidFill>
                  <a:srgbClr val="0E1330"/>
                </a:solidFill>
                <a:latin typeface="Consolas"/>
              </a:rPr>
              <a:t>src/proxy.ts</a:t>
            </a:r>
          </a:p>
        </p:txBody>
      </p:sp>
      <p:sp>
        <p:nvSpPr>
          <p:cNvPr id="22" name="Rounded Rectangle 21"/>
          <p:cNvSpPr/>
          <p:nvPr/>
        </p:nvSpPr>
        <p:spPr>
          <a:xfrm>
            <a:off x="2980944" y="2944368"/>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980944" y="2944368"/>
            <a:ext cx="1655063" cy="457200"/>
          </a:xfrm>
          <a:prstGeom prst="rect">
            <a:avLst/>
          </a:prstGeom>
          <a:noFill/>
        </p:spPr>
        <p:txBody>
          <a:bodyPr wrap="square" lIns="0" rIns="0" tIns="0" bIns="0" anchor="ctr">
            <a:spAutoFit/>
          </a:bodyPr>
          <a:lstStyle/>
          <a:p>
            <a:pPr algn="ctr"/>
            <a:r>
              <a:rPr sz="1300" b="0" i="0">
                <a:solidFill>
                  <a:srgbClr val="0E1330"/>
                </a:solidFill>
                <a:latin typeface="Calibri"/>
              </a:rPr>
              <a:t>Verifies JWT</a:t>
            </a:r>
          </a:p>
        </p:txBody>
      </p:sp>
      <p:sp>
        <p:nvSpPr>
          <p:cNvPr id="24" name="Rounded Rectangle 23"/>
          <p:cNvSpPr/>
          <p:nvPr/>
        </p:nvSpPr>
        <p:spPr>
          <a:xfrm>
            <a:off x="2980944" y="3511296"/>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980944" y="3511296"/>
            <a:ext cx="1655063" cy="457200"/>
          </a:xfrm>
          <a:prstGeom prst="rect">
            <a:avLst/>
          </a:prstGeom>
          <a:noFill/>
        </p:spPr>
        <p:txBody>
          <a:bodyPr wrap="square" lIns="0" rIns="0" tIns="0" bIns="0" anchor="ctr">
            <a:spAutoFit/>
          </a:bodyPr>
          <a:lstStyle/>
          <a:p>
            <a:pPr algn="ctr"/>
            <a:r>
              <a:rPr sz="1300" b="0" i="0">
                <a:solidFill>
                  <a:srgbClr val="0E1330"/>
                </a:solidFill>
                <a:latin typeface="Calibri"/>
              </a:rPr>
              <a:t>Role route guards</a:t>
            </a:r>
          </a:p>
        </p:txBody>
      </p:sp>
      <p:cxnSp>
        <p:nvCxnSpPr>
          <p:cNvPr id="26" name="Connector 25"/>
          <p:cNvCxnSpPr/>
          <p:nvPr/>
        </p:nvCxnSpPr>
        <p:spPr>
          <a:xfrm>
            <a:off x="4818888" y="3063240"/>
            <a:ext cx="256032" cy="0"/>
          </a:xfrm>
          <a:prstGeom prst="line">
            <a:avLst/>
          </a:prstGeom>
          <a:ln w="22225">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102351" y="1600200"/>
            <a:ext cx="1965960" cy="320040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5102351" y="1600200"/>
            <a:ext cx="1965960" cy="566928"/>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102351" y="1600200"/>
            <a:ext cx="1965960" cy="566928"/>
          </a:xfrm>
          <a:prstGeom prst="rect">
            <a:avLst/>
          </a:prstGeom>
          <a:noFill/>
        </p:spPr>
        <p:txBody>
          <a:bodyPr wrap="square" lIns="0" rIns="0" tIns="0" bIns="0" anchor="ctr">
            <a:spAutoFit/>
          </a:bodyPr>
          <a:lstStyle/>
          <a:p>
            <a:pPr algn="ctr"/>
            <a:r>
              <a:rPr sz="1500" b="1" i="0">
                <a:solidFill>
                  <a:srgbClr val="FFFFFF"/>
                </a:solidFill>
                <a:latin typeface="Calibri"/>
              </a:rPr>
              <a:t>Next.js 16 App Router</a:t>
            </a:r>
          </a:p>
        </p:txBody>
      </p:sp>
      <p:sp>
        <p:nvSpPr>
          <p:cNvPr id="30" name="Rounded Rectangle 29"/>
          <p:cNvSpPr/>
          <p:nvPr/>
        </p:nvSpPr>
        <p:spPr>
          <a:xfrm>
            <a:off x="5257799" y="2377440"/>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57799" y="2377440"/>
            <a:ext cx="1655063" cy="457200"/>
          </a:xfrm>
          <a:prstGeom prst="rect">
            <a:avLst/>
          </a:prstGeom>
          <a:noFill/>
        </p:spPr>
        <p:txBody>
          <a:bodyPr wrap="square" lIns="0" rIns="0" tIns="0" bIns="0" anchor="ctr">
            <a:spAutoFit/>
          </a:bodyPr>
          <a:lstStyle/>
          <a:p>
            <a:pPr algn="ctr"/>
            <a:r>
              <a:rPr sz="1300" b="0" i="0">
                <a:solidFill>
                  <a:srgbClr val="0E1330"/>
                </a:solidFill>
                <a:latin typeface="Calibri"/>
              </a:rPr>
              <a:t>Server Components</a:t>
            </a:r>
          </a:p>
        </p:txBody>
      </p:sp>
      <p:sp>
        <p:nvSpPr>
          <p:cNvPr id="32" name="Rounded Rectangle 31"/>
          <p:cNvSpPr/>
          <p:nvPr/>
        </p:nvSpPr>
        <p:spPr>
          <a:xfrm>
            <a:off x="5257799" y="2944368"/>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257799" y="2944368"/>
            <a:ext cx="1655063" cy="457200"/>
          </a:xfrm>
          <a:prstGeom prst="rect">
            <a:avLst/>
          </a:prstGeom>
          <a:noFill/>
        </p:spPr>
        <p:txBody>
          <a:bodyPr wrap="square" lIns="0" rIns="0" tIns="0" bIns="0" anchor="ctr">
            <a:spAutoFit/>
          </a:bodyPr>
          <a:lstStyle/>
          <a:p>
            <a:pPr algn="ctr"/>
            <a:r>
              <a:rPr sz="1300" b="0" i="0">
                <a:solidFill>
                  <a:srgbClr val="0E1330"/>
                </a:solidFill>
                <a:latin typeface="Calibri"/>
              </a:rPr>
              <a:t>Server Actions</a:t>
            </a:r>
          </a:p>
        </p:txBody>
      </p:sp>
      <p:sp>
        <p:nvSpPr>
          <p:cNvPr id="34" name="Rounded Rectangle 33"/>
          <p:cNvSpPr/>
          <p:nvPr/>
        </p:nvSpPr>
        <p:spPr>
          <a:xfrm>
            <a:off x="5257799" y="3511296"/>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257799" y="3511296"/>
            <a:ext cx="1655063" cy="457200"/>
          </a:xfrm>
          <a:prstGeom prst="rect">
            <a:avLst/>
          </a:prstGeom>
          <a:noFill/>
        </p:spPr>
        <p:txBody>
          <a:bodyPr wrap="square" lIns="0" rIns="0" tIns="0" bIns="0" anchor="ctr">
            <a:spAutoFit/>
          </a:bodyPr>
          <a:lstStyle/>
          <a:p>
            <a:pPr algn="ctr"/>
            <a:r>
              <a:rPr sz="1300" b="0" i="0">
                <a:solidFill>
                  <a:srgbClr val="0E1330"/>
                </a:solidFill>
                <a:latin typeface="Calibri"/>
              </a:rPr>
              <a:t>Route handlers</a:t>
            </a:r>
          </a:p>
        </p:txBody>
      </p:sp>
      <p:cxnSp>
        <p:nvCxnSpPr>
          <p:cNvPr id="36" name="Connector 35"/>
          <p:cNvCxnSpPr/>
          <p:nvPr/>
        </p:nvCxnSpPr>
        <p:spPr>
          <a:xfrm>
            <a:off x="7095743" y="3063240"/>
            <a:ext cx="256032" cy="0"/>
          </a:xfrm>
          <a:prstGeom prst="line">
            <a:avLst/>
          </a:prstGeom>
          <a:ln w="22225">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7379207" y="1600200"/>
            <a:ext cx="1965960" cy="320040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379207" y="1600200"/>
            <a:ext cx="1965960" cy="566928"/>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379207" y="1600200"/>
            <a:ext cx="1965960" cy="566928"/>
          </a:xfrm>
          <a:prstGeom prst="rect">
            <a:avLst/>
          </a:prstGeom>
          <a:noFill/>
        </p:spPr>
        <p:txBody>
          <a:bodyPr wrap="square" lIns="0" rIns="0" tIns="0" bIns="0" anchor="ctr">
            <a:spAutoFit/>
          </a:bodyPr>
          <a:lstStyle/>
          <a:p>
            <a:pPr algn="ctr"/>
            <a:r>
              <a:rPr sz="1500" b="1" i="0">
                <a:solidFill>
                  <a:srgbClr val="FFFFFF"/>
                </a:solidFill>
                <a:latin typeface="Calibri"/>
              </a:rPr>
              <a:t>Domain modules</a:t>
            </a:r>
          </a:p>
        </p:txBody>
      </p:sp>
      <p:sp>
        <p:nvSpPr>
          <p:cNvPr id="40" name="Rounded Rectangle 39"/>
          <p:cNvSpPr/>
          <p:nvPr/>
        </p:nvSpPr>
        <p:spPr>
          <a:xfrm>
            <a:off x="7534655" y="2377440"/>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534655" y="2377440"/>
            <a:ext cx="1655063" cy="457200"/>
          </a:xfrm>
          <a:prstGeom prst="rect">
            <a:avLst/>
          </a:prstGeom>
          <a:noFill/>
        </p:spPr>
        <p:txBody>
          <a:bodyPr wrap="square" lIns="0" rIns="0" tIns="0" bIns="0" anchor="ctr">
            <a:spAutoFit/>
          </a:bodyPr>
          <a:lstStyle/>
          <a:p>
            <a:pPr algn="ctr"/>
            <a:r>
              <a:rPr sz="1300" b="0" i="0">
                <a:solidFill>
                  <a:srgbClr val="0E1330"/>
                </a:solidFill>
                <a:latin typeface="Calibri"/>
              </a:rPr>
              <a:t>auth · workspace</a:t>
            </a:r>
          </a:p>
        </p:txBody>
      </p:sp>
      <p:sp>
        <p:nvSpPr>
          <p:cNvPr id="42" name="Rounded Rectangle 41"/>
          <p:cNvSpPr/>
          <p:nvPr/>
        </p:nvSpPr>
        <p:spPr>
          <a:xfrm>
            <a:off x="7534655" y="2944368"/>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534655" y="2944368"/>
            <a:ext cx="1655063" cy="457200"/>
          </a:xfrm>
          <a:prstGeom prst="rect">
            <a:avLst/>
          </a:prstGeom>
          <a:noFill/>
        </p:spPr>
        <p:txBody>
          <a:bodyPr wrap="square" lIns="0" rIns="0" tIns="0" bIns="0" anchor="ctr">
            <a:spAutoFit/>
          </a:bodyPr>
          <a:lstStyle/>
          <a:p>
            <a:pPr algn="ctr"/>
            <a:r>
              <a:rPr sz="1300" b="0" i="0">
                <a:solidFill>
                  <a:srgbClr val="0E1330"/>
                </a:solidFill>
                <a:latin typeface="Calibri"/>
              </a:rPr>
              <a:t>student-events</a:t>
            </a:r>
          </a:p>
        </p:txBody>
      </p:sp>
      <p:sp>
        <p:nvSpPr>
          <p:cNvPr id="44" name="Rounded Rectangle 43"/>
          <p:cNvSpPr/>
          <p:nvPr/>
        </p:nvSpPr>
        <p:spPr>
          <a:xfrm>
            <a:off x="7534655" y="3511296"/>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534655" y="3511296"/>
            <a:ext cx="1655063" cy="457200"/>
          </a:xfrm>
          <a:prstGeom prst="rect">
            <a:avLst/>
          </a:prstGeom>
          <a:noFill/>
        </p:spPr>
        <p:txBody>
          <a:bodyPr wrap="square" lIns="0" rIns="0" tIns="0" bIns="0" anchor="ctr">
            <a:spAutoFit/>
          </a:bodyPr>
          <a:lstStyle/>
          <a:p>
            <a:pPr algn="ctr"/>
            <a:r>
              <a:rPr sz="1300" b="0" i="0">
                <a:solidFill>
                  <a:srgbClr val="0E1330"/>
                </a:solidFill>
                <a:latin typeface="Calibri"/>
              </a:rPr>
              <a:t>registration-window</a:t>
            </a:r>
          </a:p>
        </p:txBody>
      </p:sp>
      <p:sp>
        <p:nvSpPr>
          <p:cNvPr id="46" name="Rounded Rectangle 45"/>
          <p:cNvSpPr/>
          <p:nvPr/>
        </p:nvSpPr>
        <p:spPr>
          <a:xfrm>
            <a:off x="7534655" y="4078224"/>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34655" y="4078224"/>
            <a:ext cx="1655063" cy="457200"/>
          </a:xfrm>
          <a:prstGeom prst="rect">
            <a:avLst/>
          </a:prstGeom>
          <a:noFill/>
        </p:spPr>
        <p:txBody>
          <a:bodyPr wrap="square" lIns="0" rIns="0" tIns="0" bIns="0" anchor="ctr">
            <a:spAutoFit/>
          </a:bodyPr>
          <a:lstStyle/>
          <a:p>
            <a:pPr algn="ctr"/>
            <a:r>
              <a:rPr sz="1300" b="0" i="0">
                <a:solidFill>
                  <a:srgbClr val="0E1330"/>
                </a:solidFill>
                <a:latin typeface="Calibri"/>
              </a:rPr>
              <a:t>seat-ops</a:t>
            </a:r>
          </a:p>
        </p:txBody>
      </p:sp>
      <p:cxnSp>
        <p:nvCxnSpPr>
          <p:cNvPr id="48" name="Connector 47"/>
          <p:cNvCxnSpPr/>
          <p:nvPr/>
        </p:nvCxnSpPr>
        <p:spPr>
          <a:xfrm>
            <a:off x="9372599" y="3063240"/>
            <a:ext cx="256033" cy="0"/>
          </a:xfrm>
          <a:prstGeom prst="line">
            <a:avLst/>
          </a:prstGeom>
          <a:ln w="22225">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656063" y="1600200"/>
            <a:ext cx="1965960" cy="320040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9656063" y="1600200"/>
            <a:ext cx="1965960" cy="566928"/>
          </a:xfrm>
          <a:prstGeom prst="roundRect">
            <a:avLst>
              <a:gd name="adj" fmla="val 18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656063" y="1600200"/>
            <a:ext cx="1965960" cy="566928"/>
          </a:xfrm>
          <a:prstGeom prst="rect">
            <a:avLst/>
          </a:prstGeom>
          <a:noFill/>
        </p:spPr>
        <p:txBody>
          <a:bodyPr wrap="square" lIns="0" rIns="0" tIns="0" bIns="0" anchor="ctr">
            <a:spAutoFit/>
          </a:bodyPr>
          <a:lstStyle/>
          <a:p>
            <a:pPr algn="ctr"/>
            <a:r>
              <a:rPr sz="1500" b="1" i="0">
                <a:solidFill>
                  <a:srgbClr val="FFFFFF"/>
                </a:solidFill>
                <a:latin typeface="Calibri"/>
              </a:rPr>
              <a:t>Data</a:t>
            </a:r>
          </a:p>
        </p:txBody>
      </p:sp>
      <p:sp>
        <p:nvSpPr>
          <p:cNvPr id="52" name="Rounded Rectangle 51"/>
          <p:cNvSpPr/>
          <p:nvPr/>
        </p:nvSpPr>
        <p:spPr>
          <a:xfrm>
            <a:off x="9811511" y="2377440"/>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11511" y="2377440"/>
            <a:ext cx="1655063" cy="457200"/>
          </a:xfrm>
          <a:prstGeom prst="rect">
            <a:avLst/>
          </a:prstGeom>
          <a:noFill/>
        </p:spPr>
        <p:txBody>
          <a:bodyPr wrap="square" lIns="0" rIns="0" tIns="0" bIns="0" anchor="ctr">
            <a:spAutoFit/>
          </a:bodyPr>
          <a:lstStyle/>
          <a:p>
            <a:pPr algn="ctr"/>
            <a:r>
              <a:rPr sz="1300" b="0" i="0">
                <a:solidFill>
                  <a:srgbClr val="0E1330"/>
                </a:solidFill>
                <a:latin typeface="Calibri"/>
              </a:rPr>
              <a:t>Drizzle ORM</a:t>
            </a:r>
          </a:p>
        </p:txBody>
      </p:sp>
      <p:sp>
        <p:nvSpPr>
          <p:cNvPr id="54" name="Rounded Rectangle 53"/>
          <p:cNvSpPr/>
          <p:nvPr/>
        </p:nvSpPr>
        <p:spPr>
          <a:xfrm>
            <a:off x="9811511" y="2944368"/>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811511" y="2944368"/>
            <a:ext cx="1655063" cy="457200"/>
          </a:xfrm>
          <a:prstGeom prst="rect">
            <a:avLst/>
          </a:prstGeom>
          <a:noFill/>
        </p:spPr>
        <p:txBody>
          <a:bodyPr wrap="square" lIns="0" rIns="0" tIns="0" bIns="0" anchor="ctr">
            <a:spAutoFit/>
          </a:bodyPr>
          <a:lstStyle/>
          <a:p>
            <a:pPr algn="ctr"/>
            <a:r>
              <a:rPr sz="1300" b="0" i="0">
                <a:solidFill>
                  <a:srgbClr val="0E1330"/>
                </a:solidFill>
                <a:latin typeface="Calibri"/>
              </a:rPr>
              <a:t>PostgreSQL</a:t>
            </a:r>
          </a:p>
        </p:txBody>
      </p:sp>
      <p:sp>
        <p:nvSpPr>
          <p:cNvPr id="56" name="Rounded Rectangle 55"/>
          <p:cNvSpPr/>
          <p:nvPr/>
        </p:nvSpPr>
        <p:spPr>
          <a:xfrm>
            <a:off x="9811511" y="3511296"/>
            <a:ext cx="1655063" cy="457200"/>
          </a:xfrm>
          <a:prstGeom prst="roundRect">
            <a:avLst>
              <a:gd name="adj" fmla="val 20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811511" y="3511296"/>
            <a:ext cx="1655063" cy="457200"/>
          </a:xfrm>
          <a:prstGeom prst="rect">
            <a:avLst/>
          </a:prstGeom>
          <a:noFill/>
        </p:spPr>
        <p:txBody>
          <a:bodyPr wrap="square" lIns="0" rIns="0" tIns="0" bIns="0" anchor="ctr">
            <a:spAutoFit/>
          </a:bodyPr>
          <a:lstStyle/>
          <a:p>
            <a:pPr algn="ctr"/>
            <a:r>
              <a:rPr sz="1300" b="0" i="0">
                <a:solidFill>
                  <a:srgbClr val="0E1330"/>
                </a:solidFill>
                <a:latin typeface="Calibri"/>
              </a:rPr>
              <a:t>Row locks · constraints</a:t>
            </a:r>
          </a:p>
        </p:txBody>
      </p:sp>
      <p:sp>
        <p:nvSpPr>
          <p:cNvPr id="58" name="Rounded Rectangle 57"/>
          <p:cNvSpPr/>
          <p:nvPr/>
        </p:nvSpPr>
        <p:spPr>
          <a:xfrm>
            <a:off x="4434840" y="5257800"/>
            <a:ext cx="5120640" cy="777240"/>
          </a:xfrm>
          <a:prstGeom prst="roundRect">
            <a:avLst>
              <a:gd name="adj" fmla="val 12000"/>
            </a:avLst>
          </a:prstGeom>
          <a:solidFill>
            <a:srgbClr val="FBF1DC"/>
          </a:solidFill>
          <a:ln w="12700">
            <a:solidFill>
              <a:srgbClr val="E9B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RadioTower-ink.png"/>
          <p:cNvPicPr>
            <a:picLocks noChangeAspect="1"/>
          </p:cNvPicPr>
          <p:nvPr/>
        </p:nvPicPr>
        <p:blipFill>
          <a:blip r:embed="rId3"/>
          <a:stretch>
            <a:fillRect/>
          </a:stretch>
        </p:blipFill>
        <p:spPr>
          <a:xfrm>
            <a:off x="4617720" y="5440680"/>
            <a:ext cx="411480" cy="411480"/>
          </a:xfrm>
          <a:prstGeom prst="rect">
            <a:avLst/>
          </a:prstGeom>
        </p:spPr>
      </p:pic>
      <p:sp>
        <p:nvSpPr>
          <p:cNvPr id="60" name="TextBox 59"/>
          <p:cNvSpPr txBox="1"/>
          <p:nvPr/>
        </p:nvSpPr>
        <p:spPr>
          <a:xfrm>
            <a:off x="5166360" y="5257800"/>
            <a:ext cx="4297680" cy="777240"/>
          </a:xfrm>
          <a:prstGeom prst="rect">
            <a:avLst/>
          </a:prstGeom>
          <a:noFill/>
        </p:spPr>
        <p:txBody>
          <a:bodyPr wrap="square" lIns="0" rIns="0" tIns="0" bIns="0" anchor="ctr">
            <a:spAutoFit/>
          </a:bodyPr>
          <a:lstStyle/>
          <a:p>
            <a:pPr algn="l"/>
            <a:r>
              <a:rPr sz="1400" b="1" i="0">
                <a:solidFill>
                  <a:srgbClr val="0E1330"/>
                </a:solidFill>
                <a:latin typeface="Calibri"/>
              </a:rPr>
              <a:t>Supabase Realtime (optional)  </a:t>
            </a:r>
            <a:r>
              <a:rPr sz="1300" b="0" i="0">
                <a:solidFill>
                  <a:srgbClr val="555B73"/>
                </a:solidFill>
                <a:latin typeface="Calibri"/>
              </a:rPr>
              <a:t>database changes pushed to open pages; pages also refresh every 30 s</a:t>
            </a:r>
          </a:p>
        </p:txBody>
      </p:sp>
      <p:cxnSp>
        <p:nvCxnSpPr>
          <p:cNvPr id="61" name="Connector 60"/>
          <p:cNvCxnSpPr/>
          <p:nvPr/>
        </p:nvCxnSpPr>
        <p:spPr>
          <a:xfrm>
            <a:off x="10561320" y="4828032"/>
            <a:ext cx="0" cy="813816"/>
          </a:xfrm>
          <a:prstGeom prst="line">
            <a:avLst/>
          </a:prstGeom>
          <a:ln w="19050">
            <a:solidFill>
              <a:srgbClr val="E9B44C"/>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9582912" y="5641848"/>
            <a:ext cx="978408" cy="0"/>
          </a:xfrm>
          <a:prstGeom prst="line">
            <a:avLst/>
          </a:prstGeom>
          <a:ln w="19050">
            <a:solidFill>
              <a:srgbClr val="E9B44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536192" y="5641848"/>
            <a:ext cx="2871216" cy="0"/>
          </a:xfrm>
          <a:prstGeom prst="line">
            <a:avLst/>
          </a:prstGeom>
          <a:ln w="19050">
            <a:solidFill>
              <a:srgbClr val="E9B44C"/>
            </a:solidFill>
            <a:prstDash val="dash"/>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1536192" y="4828032"/>
            <a:ext cx="0" cy="813816"/>
          </a:xfrm>
          <a:prstGeom prst="line">
            <a:avLst/>
          </a:prstGeom>
          <a:ln w="19050">
            <a:solidFill>
              <a:srgbClr val="E9B44C"/>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TECHNOLOGY STACK AND TOOLS</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Verified from package.json and the repository</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09 / 16</a:t>
            </a:r>
          </a:p>
        </p:txBody>
      </p:sp>
      <p:sp>
        <p:nvSpPr>
          <p:cNvPr id="8" name="Rounded Rectangle 7"/>
          <p:cNvSpPr/>
          <p:nvPr/>
        </p:nvSpPr>
        <p:spPr>
          <a:xfrm>
            <a:off x="548640" y="1554480"/>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ode2-ink.png"/>
          <p:cNvPicPr>
            <a:picLocks noChangeAspect="1"/>
          </p:cNvPicPr>
          <p:nvPr/>
        </p:nvPicPr>
        <p:blipFill>
          <a:blip r:embed="rId3"/>
          <a:stretch>
            <a:fillRect/>
          </a:stretch>
        </p:blipFill>
        <p:spPr>
          <a:xfrm>
            <a:off x="804672" y="1801368"/>
            <a:ext cx="384048" cy="384048"/>
          </a:xfrm>
          <a:prstGeom prst="rect">
            <a:avLst/>
          </a:prstGeom>
        </p:spPr>
      </p:pic>
      <p:sp>
        <p:nvSpPr>
          <p:cNvPr id="10" name="TextBox 9"/>
          <p:cNvSpPr txBox="1"/>
          <p:nvPr/>
        </p:nvSpPr>
        <p:spPr>
          <a:xfrm>
            <a:off x="1325880" y="1755648"/>
            <a:ext cx="2560320" cy="329184"/>
          </a:xfrm>
          <a:prstGeom prst="rect">
            <a:avLst/>
          </a:prstGeom>
          <a:noFill/>
        </p:spPr>
        <p:txBody>
          <a:bodyPr wrap="square" lIns="0" rIns="0" tIns="0" bIns="0" anchor="t">
            <a:spAutoFit/>
          </a:bodyPr>
          <a:lstStyle/>
          <a:p>
            <a:pPr algn="l"/>
            <a:r>
              <a:rPr sz="1200" b="1" i="0">
                <a:solidFill>
                  <a:srgbClr val="555B73"/>
                </a:solidFill>
                <a:latin typeface="Calibri"/>
              </a:rPr>
              <a:t>LANGUAGE</a:t>
            </a:r>
          </a:p>
        </p:txBody>
      </p:sp>
      <p:sp>
        <p:nvSpPr>
          <p:cNvPr id="11" name="TextBox 10"/>
          <p:cNvSpPr txBox="1"/>
          <p:nvPr/>
        </p:nvSpPr>
        <p:spPr>
          <a:xfrm>
            <a:off x="1325880" y="2084831"/>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TypeScript 5</a:t>
            </a:r>
          </a:p>
        </p:txBody>
      </p:sp>
      <p:sp>
        <p:nvSpPr>
          <p:cNvPr id="12" name="Rounded Rectangle 11"/>
          <p:cNvSpPr/>
          <p:nvPr/>
        </p:nvSpPr>
        <p:spPr>
          <a:xfrm>
            <a:off x="4297679" y="1554480"/>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ayers-ink.png"/>
          <p:cNvPicPr>
            <a:picLocks noChangeAspect="1"/>
          </p:cNvPicPr>
          <p:nvPr/>
        </p:nvPicPr>
        <p:blipFill>
          <a:blip r:embed="rId4"/>
          <a:stretch>
            <a:fillRect/>
          </a:stretch>
        </p:blipFill>
        <p:spPr>
          <a:xfrm>
            <a:off x="4553712" y="1801368"/>
            <a:ext cx="384048" cy="384048"/>
          </a:xfrm>
          <a:prstGeom prst="rect">
            <a:avLst/>
          </a:prstGeom>
        </p:spPr>
      </p:pic>
      <p:sp>
        <p:nvSpPr>
          <p:cNvPr id="14" name="TextBox 13"/>
          <p:cNvSpPr txBox="1"/>
          <p:nvPr/>
        </p:nvSpPr>
        <p:spPr>
          <a:xfrm>
            <a:off x="5074919" y="1755648"/>
            <a:ext cx="2560320" cy="329184"/>
          </a:xfrm>
          <a:prstGeom prst="rect">
            <a:avLst/>
          </a:prstGeom>
          <a:noFill/>
        </p:spPr>
        <p:txBody>
          <a:bodyPr wrap="square" lIns="0" rIns="0" tIns="0" bIns="0" anchor="t">
            <a:spAutoFit/>
          </a:bodyPr>
          <a:lstStyle/>
          <a:p>
            <a:pPr algn="l"/>
            <a:r>
              <a:rPr sz="1200" b="1" i="0">
                <a:solidFill>
                  <a:srgbClr val="555B73"/>
                </a:solidFill>
                <a:latin typeface="Calibri"/>
              </a:rPr>
              <a:t>FRAMEWORK</a:t>
            </a:r>
          </a:p>
        </p:txBody>
      </p:sp>
      <p:sp>
        <p:nvSpPr>
          <p:cNvPr id="15" name="TextBox 14"/>
          <p:cNvSpPr txBox="1"/>
          <p:nvPr/>
        </p:nvSpPr>
        <p:spPr>
          <a:xfrm>
            <a:off x="5074919" y="2084831"/>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Next.js 16.2 (App Router)</a:t>
            </a:r>
          </a:p>
          <a:p>
            <a:pPr algn="l">
              <a:lnSpc>
                <a:spcPct val="105000"/>
              </a:lnSpc>
            </a:pPr>
            <a:r>
              <a:rPr sz="1500" b="0" i="0">
                <a:solidFill>
                  <a:srgbClr val="0E1330"/>
                </a:solidFill>
                <a:latin typeface="Calibri"/>
              </a:rPr>
              <a:t>React 19.2</a:t>
            </a:r>
          </a:p>
        </p:txBody>
      </p:sp>
      <p:sp>
        <p:nvSpPr>
          <p:cNvPr id="16" name="Rounded Rectangle 15"/>
          <p:cNvSpPr/>
          <p:nvPr/>
        </p:nvSpPr>
        <p:spPr>
          <a:xfrm>
            <a:off x="8046719" y="1554480"/>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onitorSmartphone-ink.png"/>
          <p:cNvPicPr>
            <a:picLocks noChangeAspect="1"/>
          </p:cNvPicPr>
          <p:nvPr/>
        </p:nvPicPr>
        <p:blipFill>
          <a:blip r:embed="rId5"/>
          <a:stretch>
            <a:fillRect/>
          </a:stretch>
        </p:blipFill>
        <p:spPr>
          <a:xfrm>
            <a:off x="8302751" y="1801368"/>
            <a:ext cx="384048" cy="384048"/>
          </a:xfrm>
          <a:prstGeom prst="rect">
            <a:avLst/>
          </a:prstGeom>
        </p:spPr>
      </p:pic>
      <p:sp>
        <p:nvSpPr>
          <p:cNvPr id="18" name="TextBox 17"/>
          <p:cNvSpPr txBox="1"/>
          <p:nvPr/>
        </p:nvSpPr>
        <p:spPr>
          <a:xfrm>
            <a:off x="8823959" y="1755648"/>
            <a:ext cx="2560320" cy="329184"/>
          </a:xfrm>
          <a:prstGeom prst="rect">
            <a:avLst/>
          </a:prstGeom>
          <a:noFill/>
        </p:spPr>
        <p:txBody>
          <a:bodyPr wrap="square" lIns="0" rIns="0" tIns="0" bIns="0" anchor="t">
            <a:spAutoFit/>
          </a:bodyPr>
          <a:lstStyle/>
          <a:p>
            <a:pPr algn="l"/>
            <a:r>
              <a:rPr sz="1200" b="1" i="0">
                <a:solidFill>
                  <a:srgbClr val="555B73"/>
                </a:solidFill>
                <a:latin typeface="Calibri"/>
              </a:rPr>
              <a:t>INTERFACE</a:t>
            </a:r>
          </a:p>
        </p:txBody>
      </p:sp>
      <p:sp>
        <p:nvSpPr>
          <p:cNvPr id="19" name="TextBox 18"/>
          <p:cNvSpPr txBox="1"/>
          <p:nvPr/>
        </p:nvSpPr>
        <p:spPr>
          <a:xfrm>
            <a:off x="8823959" y="2084831"/>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Tailwind CSS 4 · Base UI</a:t>
            </a:r>
          </a:p>
          <a:p>
            <a:pPr algn="l">
              <a:lnSpc>
                <a:spcPct val="105000"/>
              </a:lnSpc>
            </a:pPr>
            <a:r>
              <a:rPr sz="1500" b="0" i="0">
                <a:solidFill>
                  <a:srgbClr val="0E1330"/>
                </a:solidFill>
                <a:latin typeface="Calibri"/>
              </a:rPr>
              <a:t>Lucide icons · Framer Motion</a:t>
            </a:r>
          </a:p>
        </p:txBody>
      </p:sp>
      <p:sp>
        <p:nvSpPr>
          <p:cNvPr id="20" name="Rounded Rectangle 19"/>
          <p:cNvSpPr/>
          <p:nvPr/>
        </p:nvSpPr>
        <p:spPr>
          <a:xfrm>
            <a:off x="548640" y="3090672"/>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ileCheck-ink.png"/>
          <p:cNvPicPr>
            <a:picLocks noChangeAspect="1"/>
          </p:cNvPicPr>
          <p:nvPr/>
        </p:nvPicPr>
        <p:blipFill>
          <a:blip r:embed="rId6"/>
          <a:stretch>
            <a:fillRect/>
          </a:stretch>
        </p:blipFill>
        <p:spPr>
          <a:xfrm>
            <a:off x="804672" y="3337560"/>
            <a:ext cx="384048" cy="384048"/>
          </a:xfrm>
          <a:prstGeom prst="rect">
            <a:avLst/>
          </a:prstGeom>
        </p:spPr>
      </p:pic>
      <p:sp>
        <p:nvSpPr>
          <p:cNvPr id="22" name="TextBox 21"/>
          <p:cNvSpPr txBox="1"/>
          <p:nvPr/>
        </p:nvSpPr>
        <p:spPr>
          <a:xfrm>
            <a:off x="1325880" y="3291840"/>
            <a:ext cx="2560320" cy="329184"/>
          </a:xfrm>
          <a:prstGeom prst="rect">
            <a:avLst/>
          </a:prstGeom>
          <a:noFill/>
        </p:spPr>
        <p:txBody>
          <a:bodyPr wrap="square" lIns="0" rIns="0" tIns="0" bIns="0" anchor="t">
            <a:spAutoFit/>
          </a:bodyPr>
          <a:lstStyle/>
          <a:p>
            <a:pPr algn="l"/>
            <a:r>
              <a:rPr sz="1200" b="1" i="0">
                <a:solidFill>
                  <a:srgbClr val="555B73"/>
                </a:solidFill>
                <a:latin typeface="Calibri"/>
              </a:rPr>
              <a:t>FORMS AND VALIDATION</a:t>
            </a:r>
          </a:p>
        </p:txBody>
      </p:sp>
      <p:sp>
        <p:nvSpPr>
          <p:cNvPr id="23" name="TextBox 22"/>
          <p:cNvSpPr txBox="1"/>
          <p:nvPr/>
        </p:nvSpPr>
        <p:spPr>
          <a:xfrm>
            <a:off x="1325880" y="3621024"/>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React Hook Form 7</a:t>
            </a:r>
          </a:p>
          <a:p>
            <a:pPr algn="l">
              <a:lnSpc>
                <a:spcPct val="105000"/>
              </a:lnSpc>
            </a:pPr>
            <a:r>
              <a:rPr sz="1500" b="0" i="0">
                <a:solidFill>
                  <a:srgbClr val="0E1330"/>
                </a:solidFill>
                <a:latin typeface="Calibri"/>
              </a:rPr>
              <a:t>Zod 4 (server-side)</a:t>
            </a:r>
          </a:p>
        </p:txBody>
      </p:sp>
      <p:sp>
        <p:nvSpPr>
          <p:cNvPr id="24" name="Rounded Rectangle 23"/>
          <p:cNvSpPr/>
          <p:nvPr/>
        </p:nvSpPr>
        <p:spPr>
          <a:xfrm>
            <a:off x="4297679" y="3090672"/>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Database-ink.png"/>
          <p:cNvPicPr>
            <a:picLocks noChangeAspect="1"/>
          </p:cNvPicPr>
          <p:nvPr/>
        </p:nvPicPr>
        <p:blipFill>
          <a:blip r:embed="rId7"/>
          <a:stretch>
            <a:fillRect/>
          </a:stretch>
        </p:blipFill>
        <p:spPr>
          <a:xfrm>
            <a:off x="4553712" y="3337560"/>
            <a:ext cx="384048" cy="384048"/>
          </a:xfrm>
          <a:prstGeom prst="rect">
            <a:avLst/>
          </a:prstGeom>
        </p:spPr>
      </p:pic>
      <p:sp>
        <p:nvSpPr>
          <p:cNvPr id="26" name="TextBox 25"/>
          <p:cNvSpPr txBox="1"/>
          <p:nvPr/>
        </p:nvSpPr>
        <p:spPr>
          <a:xfrm>
            <a:off x="5074919" y="3291840"/>
            <a:ext cx="2560320" cy="329184"/>
          </a:xfrm>
          <a:prstGeom prst="rect">
            <a:avLst/>
          </a:prstGeom>
          <a:noFill/>
        </p:spPr>
        <p:txBody>
          <a:bodyPr wrap="square" lIns="0" rIns="0" tIns="0" bIns="0" anchor="t">
            <a:spAutoFit/>
          </a:bodyPr>
          <a:lstStyle/>
          <a:p>
            <a:pPr algn="l"/>
            <a:r>
              <a:rPr sz="1200" b="1" i="0">
                <a:solidFill>
                  <a:srgbClr val="555B73"/>
                </a:solidFill>
                <a:latin typeface="Calibri"/>
              </a:rPr>
              <a:t>DATA</a:t>
            </a:r>
          </a:p>
        </p:txBody>
      </p:sp>
      <p:sp>
        <p:nvSpPr>
          <p:cNvPr id="27" name="TextBox 26"/>
          <p:cNvSpPr txBox="1"/>
          <p:nvPr/>
        </p:nvSpPr>
        <p:spPr>
          <a:xfrm>
            <a:off x="5074919" y="3621024"/>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PostgreSQL</a:t>
            </a:r>
          </a:p>
          <a:p>
            <a:pPr algn="l">
              <a:lnSpc>
                <a:spcPct val="105000"/>
              </a:lnSpc>
            </a:pPr>
            <a:r>
              <a:rPr sz="1500" b="0" i="0">
                <a:solidFill>
                  <a:srgbClr val="0E1330"/>
                </a:solidFill>
                <a:latin typeface="Calibri"/>
              </a:rPr>
              <a:t>Drizzle ORM 0.45 · drizzle-kit</a:t>
            </a:r>
          </a:p>
        </p:txBody>
      </p:sp>
      <p:sp>
        <p:nvSpPr>
          <p:cNvPr id="28" name="Rounded Rectangle 27"/>
          <p:cNvSpPr/>
          <p:nvPr/>
        </p:nvSpPr>
        <p:spPr>
          <a:xfrm>
            <a:off x="8046719" y="3090672"/>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KeyRound-ink.png"/>
          <p:cNvPicPr>
            <a:picLocks noChangeAspect="1"/>
          </p:cNvPicPr>
          <p:nvPr/>
        </p:nvPicPr>
        <p:blipFill>
          <a:blip r:embed="rId8"/>
          <a:stretch>
            <a:fillRect/>
          </a:stretch>
        </p:blipFill>
        <p:spPr>
          <a:xfrm>
            <a:off x="8302751" y="3337560"/>
            <a:ext cx="384048" cy="384048"/>
          </a:xfrm>
          <a:prstGeom prst="rect">
            <a:avLst/>
          </a:prstGeom>
        </p:spPr>
      </p:pic>
      <p:sp>
        <p:nvSpPr>
          <p:cNvPr id="30" name="TextBox 29"/>
          <p:cNvSpPr txBox="1"/>
          <p:nvPr/>
        </p:nvSpPr>
        <p:spPr>
          <a:xfrm>
            <a:off x="8823959" y="3291840"/>
            <a:ext cx="2560320" cy="329184"/>
          </a:xfrm>
          <a:prstGeom prst="rect">
            <a:avLst/>
          </a:prstGeom>
          <a:noFill/>
        </p:spPr>
        <p:txBody>
          <a:bodyPr wrap="square" lIns="0" rIns="0" tIns="0" bIns="0" anchor="t">
            <a:spAutoFit/>
          </a:bodyPr>
          <a:lstStyle/>
          <a:p>
            <a:pPr algn="l"/>
            <a:r>
              <a:rPr sz="1200" b="1" i="0">
                <a:solidFill>
                  <a:srgbClr val="555B73"/>
                </a:solidFill>
                <a:latin typeface="Calibri"/>
              </a:rPr>
              <a:t>AUTHENTICATION</a:t>
            </a:r>
          </a:p>
        </p:txBody>
      </p:sp>
      <p:sp>
        <p:nvSpPr>
          <p:cNvPr id="31" name="TextBox 30"/>
          <p:cNvSpPr txBox="1"/>
          <p:nvPr/>
        </p:nvSpPr>
        <p:spPr>
          <a:xfrm>
            <a:off x="8823959" y="3621024"/>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jose — JWT (HS256)</a:t>
            </a:r>
          </a:p>
          <a:p>
            <a:pPr algn="l">
              <a:lnSpc>
                <a:spcPct val="105000"/>
              </a:lnSpc>
            </a:pPr>
            <a:r>
              <a:rPr sz="1500" b="0" i="0">
                <a:solidFill>
                  <a:srgbClr val="0E1330"/>
                </a:solidFill>
                <a:latin typeface="Calibri"/>
              </a:rPr>
              <a:t>bcryptjs (cost 12)</a:t>
            </a:r>
          </a:p>
        </p:txBody>
      </p:sp>
      <p:sp>
        <p:nvSpPr>
          <p:cNvPr id="32" name="Rounded Rectangle 31"/>
          <p:cNvSpPr/>
          <p:nvPr/>
        </p:nvSpPr>
        <p:spPr>
          <a:xfrm>
            <a:off x="548640" y="4626864"/>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RadioTower-ink.png"/>
          <p:cNvPicPr>
            <a:picLocks noChangeAspect="1"/>
          </p:cNvPicPr>
          <p:nvPr/>
        </p:nvPicPr>
        <p:blipFill>
          <a:blip r:embed="rId9"/>
          <a:stretch>
            <a:fillRect/>
          </a:stretch>
        </p:blipFill>
        <p:spPr>
          <a:xfrm>
            <a:off x="804672" y="4873752"/>
            <a:ext cx="384048" cy="384048"/>
          </a:xfrm>
          <a:prstGeom prst="rect">
            <a:avLst/>
          </a:prstGeom>
        </p:spPr>
      </p:pic>
      <p:sp>
        <p:nvSpPr>
          <p:cNvPr id="34" name="TextBox 33"/>
          <p:cNvSpPr txBox="1"/>
          <p:nvPr/>
        </p:nvSpPr>
        <p:spPr>
          <a:xfrm>
            <a:off x="1325880" y="4828031"/>
            <a:ext cx="2560320" cy="329184"/>
          </a:xfrm>
          <a:prstGeom prst="rect">
            <a:avLst/>
          </a:prstGeom>
          <a:noFill/>
        </p:spPr>
        <p:txBody>
          <a:bodyPr wrap="square" lIns="0" rIns="0" tIns="0" bIns="0" anchor="t">
            <a:spAutoFit/>
          </a:bodyPr>
          <a:lstStyle/>
          <a:p>
            <a:pPr algn="l"/>
            <a:r>
              <a:rPr sz="1200" b="1" i="0">
                <a:solidFill>
                  <a:srgbClr val="555B73"/>
                </a:solidFill>
                <a:latin typeface="Calibri"/>
              </a:rPr>
              <a:t>LIVE UPDATES AND DOCUMENTS</a:t>
            </a:r>
          </a:p>
        </p:txBody>
      </p:sp>
      <p:sp>
        <p:nvSpPr>
          <p:cNvPr id="35" name="TextBox 34"/>
          <p:cNvSpPr txBox="1"/>
          <p:nvPr/>
        </p:nvSpPr>
        <p:spPr>
          <a:xfrm>
            <a:off x="1325880" y="5157216"/>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Supabase JS (Realtime)</a:t>
            </a:r>
          </a:p>
          <a:p>
            <a:pPr algn="l">
              <a:lnSpc>
                <a:spcPct val="105000"/>
              </a:lnSpc>
            </a:pPr>
            <a:r>
              <a:rPr sz="1500" b="0" i="0">
                <a:solidFill>
                  <a:srgbClr val="0E1330"/>
                </a:solidFill>
                <a:latin typeface="Calibri"/>
              </a:rPr>
              <a:t>jsPDF — receipts and reports</a:t>
            </a:r>
          </a:p>
        </p:txBody>
      </p:sp>
      <p:sp>
        <p:nvSpPr>
          <p:cNvPr id="36" name="Rounded Rectangle 35"/>
          <p:cNvSpPr/>
          <p:nvPr/>
        </p:nvSpPr>
        <p:spPr>
          <a:xfrm>
            <a:off x="4297679" y="4626864"/>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TestTubeDiagonal-ink.png"/>
          <p:cNvPicPr>
            <a:picLocks noChangeAspect="1"/>
          </p:cNvPicPr>
          <p:nvPr/>
        </p:nvPicPr>
        <p:blipFill>
          <a:blip r:embed="rId10"/>
          <a:stretch>
            <a:fillRect/>
          </a:stretch>
        </p:blipFill>
        <p:spPr>
          <a:xfrm>
            <a:off x="4553712" y="4873752"/>
            <a:ext cx="384048" cy="384048"/>
          </a:xfrm>
          <a:prstGeom prst="rect">
            <a:avLst/>
          </a:prstGeom>
        </p:spPr>
      </p:pic>
      <p:sp>
        <p:nvSpPr>
          <p:cNvPr id="38" name="TextBox 37"/>
          <p:cNvSpPr txBox="1"/>
          <p:nvPr/>
        </p:nvSpPr>
        <p:spPr>
          <a:xfrm>
            <a:off x="5074919" y="4828031"/>
            <a:ext cx="2560320" cy="329184"/>
          </a:xfrm>
          <a:prstGeom prst="rect">
            <a:avLst/>
          </a:prstGeom>
          <a:noFill/>
        </p:spPr>
        <p:txBody>
          <a:bodyPr wrap="square" lIns="0" rIns="0" tIns="0" bIns="0" anchor="t">
            <a:spAutoFit/>
          </a:bodyPr>
          <a:lstStyle/>
          <a:p>
            <a:pPr algn="l"/>
            <a:r>
              <a:rPr sz="1200" b="1" i="0">
                <a:solidFill>
                  <a:srgbClr val="555B73"/>
                </a:solidFill>
                <a:latin typeface="Calibri"/>
              </a:rPr>
              <a:t>TESTING</a:t>
            </a:r>
          </a:p>
        </p:txBody>
      </p:sp>
      <p:sp>
        <p:nvSpPr>
          <p:cNvPr id="39" name="TextBox 38"/>
          <p:cNvSpPr txBox="1"/>
          <p:nvPr/>
        </p:nvSpPr>
        <p:spPr>
          <a:xfrm>
            <a:off x="5074919" y="5157216"/>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node:test via tsx</a:t>
            </a:r>
          </a:p>
          <a:p>
            <a:pPr algn="l">
              <a:lnSpc>
                <a:spcPct val="105000"/>
              </a:lnSpc>
            </a:pPr>
            <a:r>
              <a:rPr sz="1500" b="0" i="0">
                <a:solidFill>
                  <a:srgbClr val="0E1330"/>
                </a:solidFill>
                <a:latin typeface="Calibri"/>
              </a:rPr>
              <a:t>Playwright 1.64 · axe-core</a:t>
            </a:r>
          </a:p>
        </p:txBody>
      </p:sp>
      <p:sp>
        <p:nvSpPr>
          <p:cNvPr id="40" name="Rounded Rectangle 39"/>
          <p:cNvSpPr/>
          <p:nvPr/>
        </p:nvSpPr>
        <p:spPr>
          <a:xfrm>
            <a:off x="8046719" y="4626864"/>
            <a:ext cx="3474720" cy="1353312"/>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Boxes-ink.png"/>
          <p:cNvPicPr>
            <a:picLocks noChangeAspect="1"/>
          </p:cNvPicPr>
          <p:nvPr/>
        </p:nvPicPr>
        <p:blipFill>
          <a:blip r:embed="rId11"/>
          <a:stretch>
            <a:fillRect/>
          </a:stretch>
        </p:blipFill>
        <p:spPr>
          <a:xfrm>
            <a:off x="8302751" y="4873752"/>
            <a:ext cx="384048" cy="384048"/>
          </a:xfrm>
          <a:prstGeom prst="rect">
            <a:avLst/>
          </a:prstGeom>
        </p:spPr>
      </p:pic>
      <p:sp>
        <p:nvSpPr>
          <p:cNvPr id="42" name="TextBox 41"/>
          <p:cNvSpPr txBox="1"/>
          <p:nvPr/>
        </p:nvSpPr>
        <p:spPr>
          <a:xfrm>
            <a:off x="8823959" y="4828031"/>
            <a:ext cx="2560320" cy="329184"/>
          </a:xfrm>
          <a:prstGeom prst="rect">
            <a:avLst/>
          </a:prstGeom>
          <a:noFill/>
        </p:spPr>
        <p:txBody>
          <a:bodyPr wrap="square" lIns="0" rIns="0" tIns="0" bIns="0" anchor="t">
            <a:spAutoFit/>
          </a:bodyPr>
          <a:lstStyle/>
          <a:p>
            <a:pPr algn="l"/>
            <a:r>
              <a:rPr sz="1200" b="1" i="0">
                <a:solidFill>
                  <a:srgbClr val="555B73"/>
                </a:solidFill>
                <a:latin typeface="Calibri"/>
              </a:rPr>
              <a:t>TOOLING</a:t>
            </a:r>
          </a:p>
        </p:txBody>
      </p:sp>
      <p:sp>
        <p:nvSpPr>
          <p:cNvPr id="43" name="TextBox 42"/>
          <p:cNvSpPr txBox="1"/>
          <p:nvPr/>
        </p:nvSpPr>
        <p:spPr>
          <a:xfrm>
            <a:off x="8823959" y="5157216"/>
            <a:ext cx="2606040" cy="777240"/>
          </a:xfrm>
          <a:prstGeom prst="rect">
            <a:avLst/>
          </a:prstGeom>
          <a:noFill/>
        </p:spPr>
        <p:txBody>
          <a:bodyPr wrap="square" lIns="0" rIns="0" tIns="0" bIns="0" anchor="t">
            <a:spAutoFit/>
          </a:bodyPr>
          <a:lstStyle/>
          <a:p>
            <a:pPr algn="l">
              <a:lnSpc>
                <a:spcPct val="105000"/>
              </a:lnSpc>
            </a:pPr>
            <a:r>
              <a:rPr sz="1500" b="0" i="0">
                <a:solidFill>
                  <a:srgbClr val="0E1330"/>
                </a:solidFill>
                <a:latin typeface="Calibri"/>
              </a:rPr>
              <a:t>Git · npm · ESLint</a:t>
            </a:r>
          </a:p>
          <a:p>
            <a:pPr algn="l">
              <a:lnSpc>
                <a:spcPct val="105000"/>
              </a:lnSpc>
            </a:pPr>
            <a:r>
              <a:rPr sz="1500" b="0" i="0">
                <a:solidFill>
                  <a:srgbClr val="0E1330"/>
                </a:solidFill>
                <a:latin typeface="Calibri"/>
              </a:rPr>
              <a:t>TypeScript compiler (tsc)</a:t>
            </a:r>
          </a:p>
        </p:txBody>
      </p:sp>
      <p:sp>
        <p:nvSpPr>
          <p:cNvPr id="44" name="TextBox 43"/>
          <p:cNvSpPr txBox="1"/>
          <p:nvPr/>
        </p:nvSpPr>
        <p:spPr>
          <a:xfrm>
            <a:off x="548640" y="6126480"/>
            <a:ext cx="11064240" cy="256032"/>
          </a:xfrm>
          <a:prstGeom prst="rect">
            <a:avLst/>
          </a:prstGeom>
          <a:noFill/>
        </p:spPr>
        <p:txBody>
          <a:bodyPr wrap="square" lIns="0" rIns="0" tIns="0" bIns="0" anchor="t">
            <a:spAutoFit/>
          </a:bodyPr>
          <a:lstStyle/>
          <a:p>
            <a:pPr algn="l"/>
            <a:r>
              <a:rPr sz="1200" b="0" i="0">
                <a:solidFill>
                  <a:srgbClr val="555B73"/>
                </a:solidFill>
                <a:latin typeface="Calibri"/>
              </a:rPr>
              <a:t>Hosting: documented for a Node.js platform with pooled PostgreSQL; not yet deployed for a live registration cycle.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SYSTEM MODULES AND USER ROLES</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Each role sees only its own part of the department</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10 / 16</a:t>
            </a:r>
          </a:p>
        </p:txBody>
      </p:sp>
      <p:sp>
        <p:nvSpPr>
          <p:cNvPr id="8" name="Rounded Rectangle 7"/>
          <p:cNvSpPr/>
          <p:nvPr/>
        </p:nvSpPr>
        <p:spPr>
          <a:xfrm>
            <a:off x="548640" y="1554480"/>
            <a:ext cx="2606040" cy="324612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1783080"/>
            <a:ext cx="548640" cy="54864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ilding2-ink.png"/>
          <p:cNvPicPr>
            <a:picLocks noChangeAspect="1"/>
          </p:cNvPicPr>
          <p:nvPr/>
        </p:nvPicPr>
        <p:blipFill>
          <a:blip r:embed="rId3"/>
          <a:stretch>
            <a:fillRect/>
          </a:stretch>
        </p:blipFill>
        <p:spPr>
          <a:xfrm>
            <a:off x="908913" y="1914753"/>
            <a:ext cx="285292" cy="285292"/>
          </a:xfrm>
          <a:prstGeom prst="rect">
            <a:avLst/>
          </a:prstGeom>
        </p:spPr>
      </p:pic>
      <p:sp>
        <p:nvSpPr>
          <p:cNvPr id="11" name="TextBox 10"/>
          <p:cNvSpPr txBox="1"/>
          <p:nvPr/>
        </p:nvSpPr>
        <p:spPr>
          <a:xfrm>
            <a:off x="1463040" y="1783080"/>
            <a:ext cx="1645920" cy="329184"/>
          </a:xfrm>
          <a:prstGeom prst="rect">
            <a:avLst/>
          </a:prstGeom>
          <a:noFill/>
        </p:spPr>
        <p:txBody>
          <a:bodyPr wrap="square" lIns="0" rIns="0" tIns="0" bIns="0" anchor="t">
            <a:spAutoFit/>
          </a:bodyPr>
          <a:lstStyle/>
          <a:p>
            <a:pPr algn="l"/>
            <a:r>
              <a:rPr sz="1700" b="1" i="0">
                <a:solidFill>
                  <a:srgbClr val="0E1330"/>
                </a:solidFill>
                <a:latin typeface="Calibri"/>
              </a:rPr>
              <a:t>Administrator</a:t>
            </a:r>
          </a:p>
        </p:txBody>
      </p:sp>
      <p:sp>
        <p:nvSpPr>
          <p:cNvPr id="12" name="TextBox 11"/>
          <p:cNvSpPr txBox="1"/>
          <p:nvPr/>
        </p:nvSpPr>
        <p:spPr>
          <a:xfrm>
            <a:off x="1463040" y="2103120"/>
            <a:ext cx="1645920" cy="274320"/>
          </a:xfrm>
          <a:prstGeom prst="rect">
            <a:avLst/>
          </a:prstGeom>
          <a:noFill/>
        </p:spPr>
        <p:txBody>
          <a:bodyPr wrap="square" lIns="0" rIns="0" tIns="0" bIns="0" anchor="t">
            <a:spAutoFit/>
          </a:bodyPr>
          <a:lstStyle/>
          <a:p>
            <a:pPr algn="l"/>
            <a:r>
              <a:rPr sz="1200" b="0" i="0">
                <a:solidFill>
                  <a:srgbClr val="555B73"/>
                </a:solidFill>
                <a:latin typeface="Calibri"/>
              </a:rPr>
              <a:t>Every class</a:t>
            </a:r>
          </a:p>
        </p:txBody>
      </p:sp>
      <p:sp>
        <p:nvSpPr>
          <p:cNvPr id="13" name="TextBox 12"/>
          <p:cNvSpPr txBox="1"/>
          <p:nvPr/>
        </p:nvSpPr>
        <p:spPr>
          <a:xfrm>
            <a:off x="777240" y="2651760"/>
            <a:ext cx="2286000" cy="2103120"/>
          </a:xfrm>
          <a:prstGeom prst="rect">
            <a:avLst/>
          </a:prstGeom>
          <a:noFill/>
        </p:spPr>
        <p:txBody>
          <a:bodyPr wrap="square" lIns="0" rIns="0" tIns="0" bIns="0" anchor="t">
            <a:spAutoFit/>
          </a:bodyPr>
          <a:lstStyle/>
          <a:p>
            <a:pPr marL="256032" indent="-256032">
              <a:spcAft>
                <a:spcPts val="900"/>
              </a:spcAft>
              <a:buClr>
                <a:srgbClr val="E9B44C"/>
              </a:buClr>
              <a:buFont typeface="Arial"/>
              <a:buChar char="•"/>
            </a:pPr>
            <a:r>
              <a:rPr sz="1600" b="0">
                <a:solidFill>
                  <a:srgbClr val="0E1330"/>
                </a:solidFill>
                <a:latin typeface="Calibri"/>
              </a:rPr>
              <a:t>Year Servers and cohorts</a:t>
            </a:r>
          </a:p>
          <a:p>
            <a:pPr marL="256032" indent="-256032">
              <a:spcAft>
                <a:spcPts val="900"/>
              </a:spcAft>
              <a:buClr>
                <a:srgbClr val="E9B44C"/>
              </a:buClr>
              <a:buFont typeface="Arial"/>
              <a:buChar char="•"/>
            </a:pPr>
            <a:r>
              <a:rPr sz="1600" b="0">
                <a:solidFill>
                  <a:srgbClr val="0E1330"/>
                </a:solidFill>
                <a:latin typeface="Calibri"/>
              </a:rPr>
              <a:t>Faculties and departments</a:t>
            </a:r>
          </a:p>
          <a:p>
            <a:pPr marL="256032" indent="-256032">
              <a:spcAft>
                <a:spcPts val="900"/>
              </a:spcAft>
              <a:buClr>
                <a:srgbClr val="E9B44C"/>
              </a:buClr>
              <a:buFont typeface="Arial"/>
              <a:buChar char="•"/>
            </a:pPr>
            <a:r>
              <a:rPr sz="1600" b="0">
                <a:solidFill>
                  <a:srgbClr val="0E1330"/>
                </a:solidFill>
                <a:latin typeface="Calibri"/>
              </a:rPr>
              <a:t>Users and invite codes</a:t>
            </a:r>
          </a:p>
          <a:p>
            <a:pPr marL="256032" indent="-256032">
              <a:spcAft>
                <a:spcPts val="900"/>
              </a:spcAft>
              <a:buClr>
                <a:srgbClr val="E9B44C"/>
              </a:buClr>
              <a:buFont typeface="Arial"/>
              <a:buChar char="•"/>
            </a:pPr>
            <a:r>
              <a:rPr sz="1600" b="0">
                <a:solidFill>
                  <a:srgbClr val="0E1330"/>
                </a:solidFill>
                <a:latin typeface="Calibri"/>
              </a:rPr>
              <a:t>Audit log, maintenance mode</a:t>
            </a:r>
          </a:p>
        </p:txBody>
      </p:sp>
      <p:sp>
        <p:nvSpPr>
          <p:cNvPr id="14" name="Rounded Rectangle 13"/>
          <p:cNvSpPr/>
          <p:nvPr/>
        </p:nvSpPr>
        <p:spPr>
          <a:xfrm>
            <a:off x="3364992" y="1554480"/>
            <a:ext cx="2606040" cy="324612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93592" y="1783080"/>
            <a:ext cx="548640" cy="54864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Cog-ink.png"/>
          <p:cNvPicPr>
            <a:picLocks noChangeAspect="1"/>
          </p:cNvPicPr>
          <p:nvPr/>
        </p:nvPicPr>
        <p:blipFill>
          <a:blip r:embed="rId4"/>
          <a:stretch>
            <a:fillRect/>
          </a:stretch>
        </p:blipFill>
        <p:spPr>
          <a:xfrm>
            <a:off x="3725265" y="1914753"/>
            <a:ext cx="285292" cy="285292"/>
          </a:xfrm>
          <a:prstGeom prst="rect">
            <a:avLst/>
          </a:prstGeom>
        </p:spPr>
      </p:pic>
      <p:sp>
        <p:nvSpPr>
          <p:cNvPr id="17" name="TextBox 16"/>
          <p:cNvSpPr txBox="1"/>
          <p:nvPr/>
        </p:nvSpPr>
        <p:spPr>
          <a:xfrm>
            <a:off x="4279392" y="1783080"/>
            <a:ext cx="1645920" cy="329184"/>
          </a:xfrm>
          <a:prstGeom prst="rect">
            <a:avLst/>
          </a:prstGeom>
          <a:noFill/>
        </p:spPr>
        <p:txBody>
          <a:bodyPr wrap="square" lIns="0" rIns="0" tIns="0" bIns="0" anchor="t">
            <a:spAutoFit/>
          </a:bodyPr>
          <a:lstStyle/>
          <a:p>
            <a:pPr algn="l"/>
            <a:r>
              <a:rPr sz="1700" b="1" i="0">
                <a:solidFill>
                  <a:srgbClr val="0E1330"/>
                </a:solidFill>
                <a:latin typeface="Calibri"/>
              </a:rPr>
              <a:t>Coordinator</a:t>
            </a:r>
          </a:p>
        </p:txBody>
      </p:sp>
      <p:sp>
        <p:nvSpPr>
          <p:cNvPr id="18" name="TextBox 17"/>
          <p:cNvSpPr txBox="1"/>
          <p:nvPr/>
        </p:nvSpPr>
        <p:spPr>
          <a:xfrm>
            <a:off x="4279392" y="2103120"/>
            <a:ext cx="1645920" cy="274320"/>
          </a:xfrm>
          <a:prstGeom prst="rect">
            <a:avLst/>
          </a:prstGeom>
          <a:noFill/>
        </p:spPr>
        <p:txBody>
          <a:bodyPr wrap="square" lIns="0" rIns="0" tIns="0" bIns="0" anchor="t">
            <a:spAutoFit/>
          </a:bodyPr>
          <a:lstStyle/>
          <a:p>
            <a:pPr algn="l"/>
            <a:r>
              <a:rPr sz="1200" b="0" i="0">
                <a:solidFill>
                  <a:srgbClr val="555B73"/>
                </a:solidFill>
                <a:latin typeface="Calibri"/>
              </a:rPr>
              <a:t>Own programme</a:t>
            </a:r>
          </a:p>
        </p:txBody>
      </p:sp>
      <p:sp>
        <p:nvSpPr>
          <p:cNvPr id="19" name="TextBox 18"/>
          <p:cNvSpPr txBox="1"/>
          <p:nvPr/>
        </p:nvSpPr>
        <p:spPr>
          <a:xfrm>
            <a:off x="3593592" y="2651760"/>
            <a:ext cx="2286000" cy="2103120"/>
          </a:xfrm>
          <a:prstGeom prst="rect">
            <a:avLst/>
          </a:prstGeom>
          <a:noFill/>
        </p:spPr>
        <p:txBody>
          <a:bodyPr wrap="square" lIns="0" rIns="0" tIns="0" bIns="0" anchor="t">
            <a:spAutoFit/>
          </a:bodyPr>
          <a:lstStyle/>
          <a:p>
            <a:pPr marL="256032" indent="-256032">
              <a:spcAft>
                <a:spcPts val="900"/>
              </a:spcAft>
              <a:buClr>
                <a:srgbClr val="E9B44C"/>
              </a:buClr>
              <a:buFont typeface="Arial"/>
              <a:buChar char="•"/>
            </a:pPr>
            <a:r>
              <a:rPr sz="1600" b="0">
                <a:solidFill>
                  <a:srgbClr val="0E1330"/>
                </a:solidFill>
                <a:latin typeface="Calibri"/>
              </a:rPr>
              <a:t>Registration events</a:t>
            </a:r>
          </a:p>
          <a:p>
            <a:pPr marL="256032" indent="-256032">
              <a:spcAft>
                <a:spcPts val="900"/>
              </a:spcAft>
              <a:buClr>
                <a:srgbClr val="E9B44C"/>
              </a:buClr>
              <a:buFont typeface="Arial"/>
              <a:buChar char="•"/>
            </a:pPr>
            <a:r>
              <a:rPr sz="1600" b="0">
                <a:solidFill>
                  <a:srgbClr val="0E1330"/>
                </a:solidFill>
                <a:latin typeface="Calibri"/>
              </a:rPr>
              <a:t>Baskets and subjects</a:t>
            </a:r>
          </a:p>
          <a:p>
            <a:pPr marL="256032" indent="-256032">
              <a:spcAft>
                <a:spcPts val="900"/>
              </a:spcAft>
              <a:buClr>
                <a:srgbClr val="E9B44C"/>
              </a:buClr>
              <a:buFont typeface="Arial"/>
              <a:buChar char="•"/>
            </a:pPr>
            <a:r>
              <a:rPr sz="1600" b="0">
                <a:solidFill>
                  <a:srgbClr val="0E1330"/>
                </a:solidFill>
                <a:latin typeface="Calibri"/>
              </a:rPr>
              <a:t>Class seat quotas</a:t>
            </a:r>
          </a:p>
          <a:p>
            <a:pPr marL="256032" indent="-256032">
              <a:spcAft>
                <a:spcPts val="900"/>
              </a:spcAft>
              <a:buClr>
                <a:srgbClr val="E9B44C"/>
              </a:buClr>
              <a:buFont typeface="Arial"/>
              <a:buChar char="•"/>
            </a:pPr>
            <a:r>
              <a:rPr sz="1600" b="0">
                <a:solidFill>
                  <a:srgbClr val="0E1330"/>
                </a:solidFill>
                <a:latin typeface="Calibri"/>
              </a:rPr>
              <a:t>Templates, reports, monitor</a:t>
            </a:r>
          </a:p>
        </p:txBody>
      </p:sp>
      <p:sp>
        <p:nvSpPr>
          <p:cNvPr id="20" name="Rounded Rectangle 19"/>
          <p:cNvSpPr/>
          <p:nvPr/>
        </p:nvSpPr>
        <p:spPr>
          <a:xfrm>
            <a:off x="6181344" y="1554480"/>
            <a:ext cx="2606040" cy="324612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409944" y="1783080"/>
            <a:ext cx="548640" cy="54864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Users-ink.png"/>
          <p:cNvPicPr>
            <a:picLocks noChangeAspect="1"/>
          </p:cNvPicPr>
          <p:nvPr/>
        </p:nvPicPr>
        <p:blipFill>
          <a:blip r:embed="rId5"/>
          <a:stretch>
            <a:fillRect/>
          </a:stretch>
        </p:blipFill>
        <p:spPr>
          <a:xfrm>
            <a:off x="6541617" y="1914753"/>
            <a:ext cx="285292" cy="285292"/>
          </a:xfrm>
          <a:prstGeom prst="rect">
            <a:avLst/>
          </a:prstGeom>
        </p:spPr>
      </p:pic>
      <p:sp>
        <p:nvSpPr>
          <p:cNvPr id="23" name="TextBox 22"/>
          <p:cNvSpPr txBox="1"/>
          <p:nvPr/>
        </p:nvSpPr>
        <p:spPr>
          <a:xfrm>
            <a:off x="7095744" y="1783080"/>
            <a:ext cx="1645920" cy="329184"/>
          </a:xfrm>
          <a:prstGeom prst="rect">
            <a:avLst/>
          </a:prstGeom>
          <a:noFill/>
        </p:spPr>
        <p:txBody>
          <a:bodyPr wrap="square" lIns="0" rIns="0" tIns="0" bIns="0" anchor="t">
            <a:spAutoFit/>
          </a:bodyPr>
          <a:lstStyle/>
          <a:p>
            <a:pPr algn="l"/>
            <a:r>
              <a:rPr sz="1700" b="1" i="0">
                <a:solidFill>
                  <a:srgbClr val="0E1330"/>
                </a:solidFill>
                <a:latin typeface="Calibri"/>
              </a:rPr>
              <a:t>Class tutor</a:t>
            </a:r>
          </a:p>
        </p:txBody>
      </p:sp>
      <p:sp>
        <p:nvSpPr>
          <p:cNvPr id="24" name="TextBox 23"/>
          <p:cNvSpPr txBox="1"/>
          <p:nvPr/>
        </p:nvSpPr>
        <p:spPr>
          <a:xfrm>
            <a:off x="7095744" y="2103120"/>
            <a:ext cx="1645920" cy="274320"/>
          </a:xfrm>
          <a:prstGeom prst="rect">
            <a:avLst/>
          </a:prstGeom>
          <a:noFill/>
        </p:spPr>
        <p:txBody>
          <a:bodyPr wrap="square" lIns="0" rIns="0" tIns="0" bIns="0" anchor="t">
            <a:spAutoFit/>
          </a:bodyPr>
          <a:lstStyle/>
          <a:p>
            <a:pPr algn="l"/>
            <a:r>
              <a:rPr sz="1200" b="0" i="0">
                <a:solidFill>
                  <a:srgbClr val="555B73"/>
                </a:solidFill>
                <a:latin typeface="Calibri"/>
              </a:rPr>
              <a:t>Assigned classes</a:t>
            </a:r>
          </a:p>
        </p:txBody>
      </p:sp>
      <p:sp>
        <p:nvSpPr>
          <p:cNvPr id="25" name="TextBox 24"/>
          <p:cNvSpPr txBox="1"/>
          <p:nvPr/>
        </p:nvSpPr>
        <p:spPr>
          <a:xfrm>
            <a:off x="6409944" y="2651760"/>
            <a:ext cx="2286000" cy="2103120"/>
          </a:xfrm>
          <a:prstGeom prst="rect">
            <a:avLst/>
          </a:prstGeom>
          <a:noFill/>
        </p:spPr>
        <p:txBody>
          <a:bodyPr wrap="square" lIns="0" rIns="0" tIns="0" bIns="0" anchor="t">
            <a:spAutoFit/>
          </a:bodyPr>
          <a:lstStyle/>
          <a:p>
            <a:pPr marL="256032" indent="-256032">
              <a:spcAft>
                <a:spcPts val="900"/>
              </a:spcAft>
              <a:buClr>
                <a:srgbClr val="E9B44C"/>
              </a:buClr>
              <a:buFont typeface="Arial"/>
              <a:buChar char="•"/>
            </a:pPr>
            <a:r>
              <a:rPr sz="1600" b="0">
                <a:solidFill>
                  <a:srgbClr val="0E1330"/>
                </a:solidFill>
                <a:latin typeface="Calibri"/>
              </a:rPr>
              <a:t>Class roster and CSV import</a:t>
            </a:r>
          </a:p>
          <a:p>
            <a:pPr marL="256032" indent="-256032">
              <a:spcAft>
                <a:spcPts val="900"/>
              </a:spcAft>
              <a:buClr>
                <a:srgbClr val="E9B44C"/>
              </a:buClr>
              <a:buFont typeface="Arial"/>
              <a:buChar char="•"/>
            </a:pPr>
            <a:r>
              <a:rPr sz="1600" b="0">
                <a:solidFill>
                  <a:srgbClr val="0E1330"/>
                </a:solidFill>
                <a:latin typeface="Calibri"/>
              </a:rPr>
              <a:t>Signup codes, password resets</a:t>
            </a:r>
          </a:p>
          <a:p>
            <a:pPr marL="256032" indent="-256032">
              <a:spcAft>
                <a:spcPts val="900"/>
              </a:spcAft>
              <a:buClr>
                <a:srgbClr val="E9B44C"/>
              </a:buClr>
              <a:buFont typeface="Arial"/>
              <a:buChar char="•"/>
            </a:pPr>
            <a:r>
              <a:rPr sz="1600" b="0">
                <a:solidFill>
                  <a:srgbClr val="0E1330"/>
                </a:solidFill>
                <a:latin typeface="Calibri"/>
              </a:rPr>
              <a:t>Live window controls</a:t>
            </a:r>
          </a:p>
          <a:p>
            <a:pPr marL="256032" indent="-256032">
              <a:spcAft>
                <a:spcPts val="900"/>
              </a:spcAft>
              <a:buClr>
                <a:srgbClr val="E9B44C"/>
              </a:buClr>
              <a:buFont typeface="Arial"/>
              <a:buChar char="•"/>
            </a:pPr>
            <a:r>
              <a:rPr sz="1600" b="0">
                <a:solidFill>
                  <a:srgbClr val="0E1330"/>
                </a:solidFill>
                <a:latin typeface="Calibri"/>
              </a:rPr>
              <a:t>Class reports</a:t>
            </a:r>
          </a:p>
        </p:txBody>
      </p:sp>
      <p:sp>
        <p:nvSpPr>
          <p:cNvPr id="26" name="Rounded Rectangle 25"/>
          <p:cNvSpPr/>
          <p:nvPr/>
        </p:nvSpPr>
        <p:spPr>
          <a:xfrm>
            <a:off x="8997696" y="1554480"/>
            <a:ext cx="2606040" cy="3246120"/>
          </a:xfrm>
          <a:prstGeom prst="roundRect">
            <a:avLst>
              <a:gd name="adj" fmla="val 6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296" y="1783080"/>
            <a:ext cx="548640" cy="54864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raduationCap-ink.png"/>
          <p:cNvPicPr>
            <a:picLocks noChangeAspect="1"/>
          </p:cNvPicPr>
          <p:nvPr/>
        </p:nvPicPr>
        <p:blipFill>
          <a:blip r:embed="rId6"/>
          <a:stretch>
            <a:fillRect/>
          </a:stretch>
        </p:blipFill>
        <p:spPr>
          <a:xfrm>
            <a:off x="9357969" y="1914753"/>
            <a:ext cx="285292" cy="285292"/>
          </a:xfrm>
          <a:prstGeom prst="rect">
            <a:avLst/>
          </a:prstGeom>
        </p:spPr>
      </p:pic>
      <p:sp>
        <p:nvSpPr>
          <p:cNvPr id="29" name="TextBox 28"/>
          <p:cNvSpPr txBox="1"/>
          <p:nvPr/>
        </p:nvSpPr>
        <p:spPr>
          <a:xfrm>
            <a:off x="9912096" y="1783080"/>
            <a:ext cx="1645920" cy="329184"/>
          </a:xfrm>
          <a:prstGeom prst="rect">
            <a:avLst/>
          </a:prstGeom>
          <a:noFill/>
        </p:spPr>
        <p:txBody>
          <a:bodyPr wrap="square" lIns="0" rIns="0" tIns="0" bIns="0" anchor="t">
            <a:spAutoFit/>
          </a:bodyPr>
          <a:lstStyle/>
          <a:p>
            <a:pPr algn="l"/>
            <a:r>
              <a:rPr sz="1700" b="1" i="0">
                <a:solidFill>
                  <a:srgbClr val="0E1330"/>
                </a:solidFill>
                <a:latin typeface="Calibri"/>
              </a:rPr>
              <a:t>Student</a:t>
            </a:r>
          </a:p>
        </p:txBody>
      </p:sp>
      <p:sp>
        <p:nvSpPr>
          <p:cNvPr id="30" name="TextBox 29"/>
          <p:cNvSpPr txBox="1"/>
          <p:nvPr/>
        </p:nvSpPr>
        <p:spPr>
          <a:xfrm>
            <a:off x="9912096" y="2103120"/>
            <a:ext cx="1645920" cy="274320"/>
          </a:xfrm>
          <a:prstGeom prst="rect">
            <a:avLst/>
          </a:prstGeom>
          <a:noFill/>
        </p:spPr>
        <p:txBody>
          <a:bodyPr wrap="square" lIns="0" rIns="0" tIns="0" bIns="0" anchor="t">
            <a:spAutoFit/>
          </a:bodyPr>
          <a:lstStyle/>
          <a:p>
            <a:pPr algn="l"/>
            <a:r>
              <a:rPr sz="1200" b="0" i="0">
                <a:solidFill>
                  <a:srgbClr val="555B73"/>
                </a:solidFill>
                <a:latin typeface="Calibri"/>
              </a:rPr>
              <a:t>Own registration</a:t>
            </a:r>
          </a:p>
        </p:txBody>
      </p:sp>
      <p:sp>
        <p:nvSpPr>
          <p:cNvPr id="31" name="TextBox 30"/>
          <p:cNvSpPr txBox="1"/>
          <p:nvPr/>
        </p:nvSpPr>
        <p:spPr>
          <a:xfrm>
            <a:off x="9226296" y="2651760"/>
            <a:ext cx="2286000" cy="2103120"/>
          </a:xfrm>
          <a:prstGeom prst="rect">
            <a:avLst/>
          </a:prstGeom>
          <a:noFill/>
        </p:spPr>
        <p:txBody>
          <a:bodyPr wrap="square" lIns="0" rIns="0" tIns="0" bIns="0" anchor="t">
            <a:spAutoFit/>
          </a:bodyPr>
          <a:lstStyle/>
          <a:p>
            <a:pPr marL="256032" indent="-256032">
              <a:spcAft>
                <a:spcPts val="900"/>
              </a:spcAft>
              <a:buClr>
                <a:srgbClr val="E9B44C"/>
              </a:buClr>
              <a:buFont typeface="Arial"/>
              <a:buChar char="•"/>
            </a:pPr>
            <a:r>
              <a:rPr sz="1600" b="0">
                <a:solidFill>
                  <a:srgbClr val="0E1330"/>
                </a:solidFill>
                <a:latin typeface="Calibri"/>
              </a:rPr>
              <a:t>Join a class with a code</a:t>
            </a:r>
          </a:p>
          <a:p>
            <a:pPr marL="256032" indent="-256032">
              <a:spcAft>
                <a:spcPts val="900"/>
              </a:spcAft>
              <a:buClr>
                <a:srgbClr val="E9B44C"/>
              </a:buClr>
              <a:buFont typeface="Arial"/>
              <a:buChar char="•"/>
            </a:pPr>
            <a:r>
              <a:rPr sz="1600" b="0">
                <a:solidFill>
                  <a:srgbClr val="0E1330"/>
                </a:solidFill>
                <a:latin typeface="Calibri"/>
              </a:rPr>
              <a:t>Subject explorer</a:t>
            </a:r>
          </a:p>
          <a:p>
            <a:pPr marL="256032" indent="-256032">
              <a:spcAft>
                <a:spcPts val="900"/>
              </a:spcAft>
              <a:buClr>
                <a:srgbClr val="E9B44C"/>
              </a:buClr>
              <a:buFont typeface="Arial"/>
              <a:buChar char="•"/>
            </a:pPr>
            <a:r>
              <a:rPr sz="1600" b="0">
                <a:solidFill>
                  <a:srgbClr val="0E1330"/>
                </a:solidFill>
                <a:latin typeface="Calibri"/>
              </a:rPr>
              <a:t>Register, change, cancel</a:t>
            </a:r>
          </a:p>
          <a:p>
            <a:pPr marL="256032" indent="-256032">
              <a:spcAft>
                <a:spcPts val="900"/>
              </a:spcAft>
              <a:buClr>
                <a:srgbClr val="E9B44C"/>
              </a:buClr>
              <a:buFont typeface="Arial"/>
              <a:buChar char="•"/>
            </a:pPr>
            <a:r>
              <a:rPr sz="1600" b="0">
                <a:solidFill>
                  <a:srgbClr val="0E1330"/>
                </a:solidFill>
                <a:latin typeface="Calibri"/>
              </a:rPr>
              <a:t>Receipt (PDF or print)</a:t>
            </a:r>
          </a:p>
        </p:txBody>
      </p:sp>
      <p:sp>
        <p:nvSpPr>
          <p:cNvPr id="32" name="Rounded Rectangle 31"/>
          <p:cNvSpPr/>
          <p:nvPr/>
        </p:nvSpPr>
        <p:spPr>
          <a:xfrm>
            <a:off x="548640" y="5074920"/>
            <a:ext cx="11064240" cy="868680"/>
          </a:xfrm>
          <a:prstGeom prst="roundRect">
            <a:avLst>
              <a:gd name="adj" fmla="val 8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2960" y="5074920"/>
            <a:ext cx="2194560" cy="868680"/>
          </a:xfrm>
          <a:prstGeom prst="rect">
            <a:avLst/>
          </a:prstGeom>
          <a:noFill/>
        </p:spPr>
        <p:txBody>
          <a:bodyPr wrap="square" lIns="0" rIns="0" tIns="0" bIns="0" anchor="ctr">
            <a:spAutoFit/>
          </a:bodyPr>
          <a:lstStyle/>
          <a:p>
            <a:pPr algn="l"/>
            <a:r>
              <a:rPr sz="1500" b="1" i="0">
                <a:solidFill>
                  <a:srgbClr val="E9B44C"/>
                </a:solidFill>
                <a:latin typeface="Calibri"/>
              </a:rPr>
              <a:t>Shared server core</a:t>
            </a:r>
          </a:p>
        </p:txBody>
      </p:sp>
      <p:sp>
        <p:nvSpPr>
          <p:cNvPr id="34" name="Rounded Rectangle 33"/>
          <p:cNvSpPr/>
          <p:nvPr/>
        </p:nvSpPr>
        <p:spPr>
          <a:xfrm>
            <a:off x="2971800" y="5294376"/>
            <a:ext cx="1298448" cy="429768"/>
          </a:xfrm>
          <a:prstGeom prst="roundRect">
            <a:avLst>
              <a:gd name="adj" fmla="val 40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71800" y="5294376"/>
            <a:ext cx="1298448" cy="429768"/>
          </a:xfrm>
          <a:prstGeom prst="rect">
            <a:avLst/>
          </a:prstGeom>
          <a:noFill/>
        </p:spPr>
        <p:txBody>
          <a:bodyPr wrap="square" lIns="0" rIns="0" tIns="0" bIns="0" anchor="ctr">
            <a:spAutoFit/>
          </a:bodyPr>
          <a:lstStyle/>
          <a:p>
            <a:pPr algn="ctr"/>
            <a:r>
              <a:rPr sz="1200" b="0" i="0">
                <a:solidFill>
                  <a:srgbClr val="FFFFFF"/>
                </a:solidFill>
                <a:latin typeface="Calibri"/>
              </a:rPr>
              <a:t>Sessions</a:t>
            </a:r>
          </a:p>
        </p:txBody>
      </p:sp>
      <p:sp>
        <p:nvSpPr>
          <p:cNvPr id="36" name="Rounded Rectangle 35"/>
          <p:cNvSpPr/>
          <p:nvPr/>
        </p:nvSpPr>
        <p:spPr>
          <a:xfrm>
            <a:off x="4389120" y="5294376"/>
            <a:ext cx="1298448" cy="429768"/>
          </a:xfrm>
          <a:prstGeom prst="roundRect">
            <a:avLst>
              <a:gd name="adj" fmla="val 40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4389120" y="5294376"/>
            <a:ext cx="1298448" cy="429768"/>
          </a:xfrm>
          <a:prstGeom prst="rect">
            <a:avLst/>
          </a:prstGeom>
          <a:noFill/>
        </p:spPr>
        <p:txBody>
          <a:bodyPr wrap="square" lIns="0" rIns="0" tIns="0" bIns="0" anchor="ctr">
            <a:spAutoFit/>
          </a:bodyPr>
          <a:lstStyle/>
          <a:p>
            <a:pPr algn="ctr"/>
            <a:r>
              <a:rPr sz="1200" b="0" i="0">
                <a:solidFill>
                  <a:srgbClr val="FFFFFF"/>
                </a:solidFill>
                <a:latin typeface="Calibri"/>
              </a:rPr>
              <a:t>Staff workspace</a:t>
            </a:r>
          </a:p>
        </p:txBody>
      </p:sp>
      <p:sp>
        <p:nvSpPr>
          <p:cNvPr id="38" name="Rounded Rectangle 37"/>
          <p:cNvSpPr/>
          <p:nvPr/>
        </p:nvSpPr>
        <p:spPr>
          <a:xfrm>
            <a:off x="5806440" y="5294376"/>
            <a:ext cx="1298448" cy="429768"/>
          </a:xfrm>
          <a:prstGeom prst="roundRect">
            <a:avLst>
              <a:gd name="adj" fmla="val 40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806440" y="5294376"/>
            <a:ext cx="1298448" cy="429768"/>
          </a:xfrm>
          <a:prstGeom prst="rect">
            <a:avLst/>
          </a:prstGeom>
          <a:noFill/>
        </p:spPr>
        <p:txBody>
          <a:bodyPr wrap="square" lIns="0" rIns="0" tIns="0" bIns="0" anchor="ctr">
            <a:spAutoFit/>
          </a:bodyPr>
          <a:lstStyle/>
          <a:p>
            <a:pPr algn="ctr"/>
            <a:r>
              <a:rPr sz="1200" b="0" i="0">
                <a:solidFill>
                  <a:srgbClr val="FFFFFF"/>
                </a:solidFill>
                <a:latin typeface="Calibri"/>
              </a:rPr>
              <a:t>Eligibility</a:t>
            </a:r>
          </a:p>
        </p:txBody>
      </p:sp>
      <p:sp>
        <p:nvSpPr>
          <p:cNvPr id="40" name="Rounded Rectangle 39"/>
          <p:cNvSpPr/>
          <p:nvPr/>
        </p:nvSpPr>
        <p:spPr>
          <a:xfrm>
            <a:off x="7223760" y="5294376"/>
            <a:ext cx="1298448" cy="429768"/>
          </a:xfrm>
          <a:prstGeom prst="roundRect">
            <a:avLst>
              <a:gd name="adj" fmla="val 40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223760" y="5294376"/>
            <a:ext cx="1298448" cy="429768"/>
          </a:xfrm>
          <a:prstGeom prst="rect">
            <a:avLst/>
          </a:prstGeom>
          <a:noFill/>
        </p:spPr>
        <p:txBody>
          <a:bodyPr wrap="square" lIns="0" rIns="0" tIns="0" bIns="0" anchor="ctr">
            <a:spAutoFit/>
          </a:bodyPr>
          <a:lstStyle/>
          <a:p>
            <a:pPr algn="ctr"/>
            <a:r>
              <a:rPr sz="1200" b="0" i="0">
                <a:solidFill>
                  <a:srgbClr val="FFFFFF"/>
                </a:solidFill>
                <a:latin typeface="Calibri"/>
              </a:rPr>
              <a:t>Window rule</a:t>
            </a:r>
          </a:p>
        </p:txBody>
      </p:sp>
      <p:sp>
        <p:nvSpPr>
          <p:cNvPr id="42" name="Rounded Rectangle 41"/>
          <p:cNvSpPr/>
          <p:nvPr/>
        </p:nvSpPr>
        <p:spPr>
          <a:xfrm>
            <a:off x="8641080" y="5294376"/>
            <a:ext cx="1298448" cy="429768"/>
          </a:xfrm>
          <a:prstGeom prst="roundRect">
            <a:avLst>
              <a:gd name="adj" fmla="val 40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641080" y="5294376"/>
            <a:ext cx="1298448" cy="429768"/>
          </a:xfrm>
          <a:prstGeom prst="rect">
            <a:avLst/>
          </a:prstGeom>
          <a:noFill/>
        </p:spPr>
        <p:txBody>
          <a:bodyPr wrap="square" lIns="0" rIns="0" tIns="0" bIns="0" anchor="ctr">
            <a:spAutoFit/>
          </a:bodyPr>
          <a:lstStyle/>
          <a:p>
            <a:pPr algn="ctr"/>
            <a:r>
              <a:rPr sz="1200" b="0" i="0">
                <a:solidFill>
                  <a:srgbClr val="FFFFFF"/>
                </a:solidFill>
                <a:latin typeface="Calibri"/>
              </a:rPr>
              <a:t>Seat operations</a:t>
            </a:r>
          </a:p>
        </p:txBody>
      </p:sp>
      <p:sp>
        <p:nvSpPr>
          <p:cNvPr id="44" name="Rounded Rectangle 43"/>
          <p:cNvSpPr/>
          <p:nvPr/>
        </p:nvSpPr>
        <p:spPr>
          <a:xfrm>
            <a:off x="10058400" y="5294376"/>
            <a:ext cx="1298448" cy="429768"/>
          </a:xfrm>
          <a:prstGeom prst="roundRect">
            <a:avLst>
              <a:gd name="adj" fmla="val 40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058400" y="5294376"/>
            <a:ext cx="1298448" cy="429768"/>
          </a:xfrm>
          <a:prstGeom prst="rect">
            <a:avLst/>
          </a:prstGeom>
          <a:noFill/>
        </p:spPr>
        <p:txBody>
          <a:bodyPr wrap="square" lIns="0" rIns="0" tIns="0" bIns="0" anchor="ctr">
            <a:spAutoFit/>
          </a:bodyPr>
          <a:lstStyle/>
          <a:p>
            <a:pPr algn="ctr"/>
            <a:r>
              <a:rPr sz="1200" b="0" i="0">
                <a:solidFill>
                  <a:srgbClr val="FFFFFF"/>
                </a:solidFill>
                <a:latin typeface="Calibri"/>
              </a:rPr>
              <a:t>Audit and replay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APPLICATION WORKFLOW</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From sign-in to receipt: one registration</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11 / 16</a:t>
            </a:r>
          </a:p>
        </p:txBody>
      </p:sp>
      <p:sp>
        <p:nvSpPr>
          <p:cNvPr id="8" name="TextBox 7"/>
          <p:cNvSpPr txBox="1"/>
          <p:nvPr/>
        </p:nvSpPr>
        <p:spPr>
          <a:xfrm>
            <a:off x="548640" y="1463040"/>
            <a:ext cx="5486400" cy="274320"/>
          </a:xfrm>
          <a:prstGeom prst="rect">
            <a:avLst/>
          </a:prstGeom>
          <a:noFill/>
        </p:spPr>
        <p:txBody>
          <a:bodyPr wrap="square" lIns="0" rIns="0" tIns="0" bIns="0" anchor="t">
            <a:spAutoFit/>
          </a:bodyPr>
          <a:lstStyle/>
          <a:p>
            <a:pPr algn="l"/>
            <a:r>
              <a:rPr sz="1200" b="1" i="0">
                <a:solidFill>
                  <a:srgbClr val="555B73"/>
                </a:solidFill>
                <a:latin typeface="Calibri"/>
              </a:rPr>
              <a:t>STUDENT</a:t>
            </a:r>
          </a:p>
        </p:txBody>
      </p:sp>
      <p:sp>
        <p:nvSpPr>
          <p:cNvPr id="9" name="Rounded Rectangle 8"/>
          <p:cNvSpPr/>
          <p:nvPr/>
        </p:nvSpPr>
        <p:spPr>
          <a:xfrm>
            <a:off x="548640" y="1828800"/>
            <a:ext cx="1508760" cy="822960"/>
          </a:xfrm>
          <a:prstGeom prst="roundRect">
            <a:avLst>
              <a:gd name="adj" fmla="val 14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1828800"/>
            <a:ext cx="1508760" cy="822960"/>
          </a:xfrm>
          <a:prstGeom prst="rect">
            <a:avLst/>
          </a:prstGeom>
          <a:noFill/>
        </p:spPr>
        <p:txBody>
          <a:bodyPr wrap="square" lIns="0" rIns="0" tIns="0" bIns="0" anchor="ctr">
            <a:spAutoFit/>
          </a:bodyPr>
          <a:lstStyle/>
          <a:p>
            <a:pPr algn="ctr">
              <a:lnSpc>
                <a:spcPct val="100000"/>
              </a:lnSpc>
            </a:pPr>
            <a:r>
              <a:rPr sz="1300" b="1" i="0">
                <a:solidFill>
                  <a:srgbClr val="FFFFFF"/>
                </a:solidFill>
                <a:latin typeface="Calibri"/>
              </a:rPr>
              <a:t>Sign in
register no. + password</a:t>
            </a:r>
          </a:p>
        </p:txBody>
      </p:sp>
      <p:sp>
        <p:nvSpPr>
          <p:cNvPr id="11" name="Diamond 10"/>
          <p:cNvSpPr/>
          <p:nvPr/>
        </p:nvSpPr>
        <p:spPr>
          <a:xfrm>
            <a:off x="2331720" y="1719072"/>
            <a:ext cx="1737360" cy="1042415"/>
          </a:xfrm>
          <a:prstGeom prst="diamond">
            <a:avLst/>
          </a:prstGeom>
          <a:solidFill>
            <a:srgbClr val="FBF1DC"/>
          </a:solidFill>
          <a:ln w="12700">
            <a:solidFill>
              <a:srgbClr val="E9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68879" y="1719072"/>
            <a:ext cx="1463039" cy="1042415"/>
          </a:xfrm>
          <a:prstGeom prst="rect">
            <a:avLst/>
          </a:prstGeom>
          <a:noFill/>
        </p:spPr>
        <p:txBody>
          <a:bodyPr wrap="square" lIns="0" rIns="0" tIns="0" bIns="0" anchor="ctr">
            <a:spAutoFit/>
          </a:bodyPr>
          <a:lstStyle/>
          <a:p>
            <a:pPr algn="ctr">
              <a:lnSpc>
                <a:spcPct val="95000"/>
              </a:lnSpc>
            </a:pPr>
            <a:r>
              <a:rPr sz="1200" b="0" i="0">
                <a:solidFill>
                  <a:srgbClr val="0E1330"/>
                </a:solidFill>
                <a:latin typeface="Calibri"/>
              </a:rPr>
              <a:t>Event for
my class?</a:t>
            </a:r>
          </a:p>
        </p:txBody>
      </p:sp>
      <p:sp>
        <p:nvSpPr>
          <p:cNvPr id="13" name="Diamond 12"/>
          <p:cNvSpPr/>
          <p:nvPr/>
        </p:nvSpPr>
        <p:spPr>
          <a:xfrm>
            <a:off x="4343400" y="1719072"/>
            <a:ext cx="1737360" cy="1042415"/>
          </a:xfrm>
          <a:prstGeom prst="diamond">
            <a:avLst/>
          </a:prstGeom>
          <a:solidFill>
            <a:srgbClr val="FBF1DC"/>
          </a:solidFill>
          <a:ln w="12700">
            <a:solidFill>
              <a:srgbClr val="E9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719072"/>
            <a:ext cx="1463039" cy="1042415"/>
          </a:xfrm>
          <a:prstGeom prst="rect">
            <a:avLst/>
          </a:prstGeom>
          <a:noFill/>
        </p:spPr>
        <p:txBody>
          <a:bodyPr wrap="square" lIns="0" rIns="0" tIns="0" bIns="0" anchor="ctr">
            <a:spAutoFit/>
          </a:bodyPr>
          <a:lstStyle/>
          <a:p>
            <a:pPr algn="ctr">
              <a:lnSpc>
                <a:spcPct val="95000"/>
              </a:lnSpc>
            </a:pPr>
            <a:r>
              <a:rPr sz="1200" b="0" i="0">
                <a:solidFill>
                  <a:srgbClr val="0E1330"/>
                </a:solidFill>
                <a:latin typeface="Calibri"/>
              </a:rPr>
              <a:t>Window open?
(server clock)</a:t>
            </a:r>
          </a:p>
        </p:txBody>
      </p:sp>
      <p:sp>
        <p:nvSpPr>
          <p:cNvPr id="15" name="Rounded Rectangle 14"/>
          <p:cNvSpPr/>
          <p:nvPr/>
        </p:nvSpPr>
        <p:spPr>
          <a:xfrm>
            <a:off x="6355080" y="1828800"/>
            <a:ext cx="1691640" cy="822960"/>
          </a:xfrm>
          <a:prstGeom prst="roundRect">
            <a:avLst>
              <a:gd name="adj" fmla="val 14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55080" y="1828800"/>
            <a:ext cx="1691640" cy="822960"/>
          </a:xfrm>
          <a:prstGeom prst="rect">
            <a:avLst/>
          </a:prstGeom>
          <a:noFill/>
        </p:spPr>
        <p:txBody>
          <a:bodyPr wrap="square" lIns="0" rIns="0" tIns="0" bIns="0" anchor="ctr">
            <a:spAutoFit/>
          </a:bodyPr>
          <a:lstStyle/>
          <a:p>
            <a:pPr algn="ctr">
              <a:lnSpc>
                <a:spcPct val="100000"/>
              </a:lnSpc>
            </a:pPr>
            <a:r>
              <a:rPr sz="1300" b="0" i="0">
                <a:solidFill>
                  <a:srgbClr val="0E1330"/>
                </a:solidFill>
                <a:latin typeface="Calibri"/>
              </a:rPr>
              <a:t>Pick one subject
per basket</a:t>
            </a:r>
          </a:p>
        </p:txBody>
      </p:sp>
      <p:sp>
        <p:nvSpPr>
          <p:cNvPr id="17" name="Rounded Rectangle 16"/>
          <p:cNvSpPr/>
          <p:nvPr/>
        </p:nvSpPr>
        <p:spPr>
          <a:xfrm>
            <a:off x="8321040" y="1828800"/>
            <a:ext cx="1463040" cy="822960"/>
          </a:xfrm>
          <a:prstGeom prst="roundRect">
            <a:avLst>
              <a:gd name="adj" fmla="val 14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21040" y="1828800"/>
            <a:ext cx="1463040" cy="822960"/>
          </a:xfrm>
          <a:prstGeom prst="rect">
            <a:avLst/>
          </a:prstGeom>
          <a:noFill/>
        </p:spPr>
        <p:txBody>
          <a:bodyPr wrap="square" lIns="0" rIns="0" tIns="0" bIns="0" anchor="ctr">
            <a:spAutoFit/>
          </a:bodyPr>
          <a:lstStyle/>
          <a:p>
            <a:pPr algn="ctr">
              <a:lnSpc>
                <a:spcPct val="100000"/>
              </a:lnSpc>
            </a:pPr>
            <a:r>
              <a:rPr sz="1300" b="1" i="0">
                <a:solidFill>
                  <a:srgbClr val="FFFFFF"/>
                </a:solidFill>
                <a:latin typeface="Calibri"/>
              </a:rPr>
              <a:t>Review and
confirm</a:t>
            </a:r>
          </a:p>
        </p:txBody>
      </p:sp>
      <p:cxnSp>
        <p:nvCxnSpPr>
          <p:cNvPr id="19" name="Connector 18"/>
          <p:cNvCxnSpPr/>
          <p:nvPr/>
        </p:nvCxnSpPr>
        <p:spPr>
          <a:xfrm>
            <a:off x="2075688" y="2240280"/>
            <a:ext cx="237744"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087368" y="2240280"/>
            <a:ext cx="237744"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99048" y="2240280"/>
            <a:ext cx="237744"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65008" y="2240280"/>
            <a:ext cx="237744"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331720" y="2788920"/>
            <a:ext cx="1737360" cy="457200"/>
          </a:xfrm>
          <a:prstGeom prst="rect">
            <a:avLst/>
          </a:prstGeom>
          <a:noFill/>
        </p:spPr>
        <p:txBody>
          <a:bodyPr wrap="square" lIns="0" rIns="0" tIns="0" bIns="0" anchor="t">
            <a:spAutoFit/>
          </a:bodyPr>
          <a:lstStyle/>
          <a:p>
            <a:pPr algn="ctr"/>
            <a:r>
              <a:rPr sz="1100" b="0" i="0">
                <a:solidFill>
                  <a:srgbClr val="555B73"/>
                </a:solidFill>
                <a:latin typeface="Calibri"/>
              </a:rPr>
              <a:t>no → class's own events only</a:t>
            </a:r>
          </a:p>
        </p:txBody>
      </p:sp>
      <p:sp>
        <p:nvSpPr>
          <p:cNvPr id="24" name="TextBox 23"/>
          <p:cNvSpPr txBox="1"/>
          <p:nvPr/>
        </p:nvSpPr>
        <p:spPr>
          <a:xfrm>
            <a:off x="4343400" y="2788920"/>
            <a:ext cx="1737360" cy="457200"/>
          </a:xfrm>
          <a:prstGeom prst="rect">
            <a:avLst/>
          </a:prstGeom>
          <a:noFill/>
        </p:spPr>
        <p:txBody>
          <a:bodyPr wrap="square" lIns="0" rIns="0" tIns="0" bIns="0" anchor="t">
            <a:spAutoFit/>
          </a:bodyPr>
          <a:lstStyle/>
          <a:p>
            <a:pPr algn="ctr"/>
            <a:r>
              <a:rPr sz="1100" b="0" i="0">
                <a:solidFill>
                  <a:srgbClr val="555B73"/>
                </a:solidFill>
                <a:latin typeface="Calibri"/>
              </a:rPr>
              <a:t>no → countdown or closed notice</a:t>
            </a:r>
          </a:p>
        </p:txBody>
      </p:sp>
      <p:sp>
        <p:nvSpPr>
          <p:cNvPr id="25" name="Rounded Rectangle 24"/>
          <p:cNvSpPr/>
          <p:nvPr/>
        </p:nvSpPr>
        <p:spPr>
          <a:xfrm>
            <a:off x="548640" y="3429000"/>
            <a:ext cx="11064240" cy="2697480"/>
          </a:xfrm>
          <a:prstGeom prst="roundRect">
            <a:avLst>
              <a:gd name="adj" fmla="val 4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3547872"/>
            <a:ext cx="7315200" cy="274320"/>
          </a:xfrm>
          <a:prstGeom prst="rect">
            <a:avLst/>
          </a:prstGeom>
          <a:noFill/>
        </p:spPr>
        <p:txBody>
          <a:bodyPr wrap="square" lIns="0" rIns="0" tIns="0" bIns="0" anchor="t">
            <a:spAutoFit/>
          </a:bodyPr>
          <a:lstStyle/>
          <a:p>
            <a:pPr algn="l"/>
            <a:r>
              <a:rPr sz="1200" b="1" i="0">
                <a:solidFill>
                  <a:srgbClr val="555B73"/>
                </a:solidFill>
                <a:latin typeface="Calibri"/>
              </a:rPr>
              <a:t>SERVER — ONE DATABASE TRANSACTION</a:t>
            </a:r>
          </a:p>
        </p:txBody>
      </p:sp>
      <p:cxnSp>
        <p:nvCxnSpPr>
          <p:cNvPr id="27" name="Connector 26"/>
          <p:cNvCxnSpPr/>
          <p:nvPr/>
        </p:nvCxnSpPr>
        <p:spPr>
          <a:xfrm>
            <a:off x="9052560" y="2670048"/>
            <a:ext cx="0" cy="740664"/>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4069080"/>
            <a:ext cx="1828800" cy="960120"/>
          </a:xfrm>
          <a:prstGeom prst="roundRect">
            <a:avLst>
              <a:gd name="adj" fmla="val 14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069080"/>
            <a:ext cx="1828800" cy="960120"/>
          </a:xfrm>
          <a:prstGeom prst="rect">
            <a:avLst/>
          </a:prstGeom>
          <a:noFill/>
        </p:spPr>
        <p:txBody>
          <a:bodyPr wrap="square" lIns="0" rIns="0" tIns="0" bIns="0" anchor="ctr">
            <a:spAutoFit/>
          </a:bodyPr>
          <a:lstStyle/>
          <a:p>
            <a:pPr algn="ctr">
              <a:lnSpc>
                <a:spcPct val="100000"/>
              </a:lnSpc>
            </a:pPr>
            <a:r>
              <a:rPr sz="1300" b="0" i="0">
                <a:solidFill>
                  <a:srgbClr val="0E1330"/>
                </a:solidFill>
                <a:latin typeface="Calibri"/>
              </a:rPr>
              <a:t>Re-check eligibility
and window</a:t>
            </a:r>
          </a:p>
        </p:txBody>
      </p:sp>
      <p:sp>
        <p:nvSpPr>
          <p:cNvPr id="30" name="Rounded Rectangle 29"/>
          <p:cNvSpPr/>
          <p:nvPr/>
        </p:nvSpPr>
        <p:spPr>
          <a:xfrm>
            <a:off x="2880360" y="4069080"/>
            <a:ext cx="1965960" cy="960120"/>
          </a:xfrm>
          <a:prstGeom prst="roundRect">
            <a:avLst>
              <a:gd name="adj" fmla="val 14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880360" y="4069080"/>
            <a:ext cx="1965960" cy="960120"/>
          </a:xfrm>
          <a:prstGeom prst="rect">
            <a:avLst/>
          </a:prstGeom>
          <a:noFill/>
        </p:spPr>
        <p:txBody>
          <a:bodyPr wrap="square" lIns="0" rIns="0" tIns="0" bIns="0" anchor="ctr">
            <a:spAutoFit/>
          </a:bodyPr>
          <a:lstStyle/>
          <a:p>
            <a:pPr algn="ctr">
              <a:lnSpc>
                <a:spcPct val="100000"/>
              </a:lnSpc>
            </a:pPr>
            <a:r>
              <a:rPr sz="1300" b="0" i="0">
                <a:solidFill>
                  <a:srgbClr val="0E1330"/>
                </a:solidFill>
                <a:latin typeface="Calibri"/>
              </a:rPr>
              <a:t>Lock registration and
subjects (FOR UPDATE,
in id order)</a:t>
            </a:r>
          </a:p>
        </p:txBody>
      </p:sp>
      <p:sp>
        <p:nvSpPr>
          <p:cNvPr id="32" name="Diamond 31"/>
          <p:cNvSpPr/>
          <p:nvPr/>
        </p:nvSpPr>
        <p:spPr>
          <a:xfrm>
            <a:off x="5120640" y="3977640"/>
            <a:ext cx="1874519" cy="1143000"/>
          </a:xfrm>
          <a:prstGeom prst="diamond">
            <a:avLst/>
          </a:prstGeom>
          <a:solidFill>
            <a:srgbClr val="FBF1DC"/>
          </a:solidFill>
          <a:ln w="12700">
            <a:solidFill>
              <a:srgbClr val="E9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57800" y="3977640"/>
            <a:ext cx="1600199" cy="1143000"/>
          </a:xfrm>
          <a:prstGeom prst="rect">
            <a:avLst/>
          </a:prstGeom>
          <a:noFill/>
        </p:spPr>
        <p:txBody>
          <a:bodyPr wrap="square" lIns="0" rIns="0" tIns="0" bIns="0" anchor="ctr">
            <a:spAutoFit/>
          </a:bodyPr>
          <a:lstStyle/>
          <a:p>
            <a:pPr algn="ctr">
              <a:lnSpc>
                <a:spcPct val="95000"/>
              </a:lnSpc>
            </a:pPr>
            <a:r>
              <a:rPr sz="1200" b="0" i="0">
                <a:solidFill>
                  <a:srgbClr val="0E1330"/>
                </a:solidFill>
                <a:latin typeface="Calibri"/>
              </a:rPr>
              <a:t>Seat and class
quota available?</a:t>
            </a:r>
          </a:p>
        </p:txBody>
      </p:sp>
      <p:sp>
        <p:nvSpPr>
          <p:cNvPr id="34" name="Rounded Rectangle 33"/>
          <p:cNvSpPr/>
          <p:nvPr/>
        </p:nvSpPr>
        <p:spPr>
          <a:xfrm>
            <a:off x="7269480" y="4069080"/>
            <a:ext cx="1874519" cy="960120"/>
          </a:xfrm>
          <a:prstGeom prst="roundRect">
            <a:avLst>
              <a:gd name="adj" fmla="val 14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269480" y="4069080"/>
            <a:ext cx="1874519" cy="960120"/>
          </a:xfrm>
          <a:prstGeom prst="rect">
            <a:avLst/>
          </a:prstGeom>
          <a:noFill/>
        </p:spPr>
        <p:txBody>
          <a:bodyPr wrap="square" lIns="0" rIns="0" tIns="0" bIns="0" anchor="ctr">
            <a:spAutoFit/>
          </a:bodyPr>
          <a:lstStyle/>
          <a:p>
            <a:pPr algn="ctr">
              <a:lnSpc>
                <a:spcPct val="100000"/>
              </a:lnSpc>
            </a:pPr>
            <a:r>
              <a:rPr sz="1300" b="0" i="0">
                <a:solidFill>
                  <a:srgbClr val="0E1330"/>
                </a:solidFill>
                <a:latin typeface="Calibri"/>
              </a:rPr>
              <a:t>Write choice, replay
and audit rows</a:t>
            </a:r>
          </a:p>
        </p:txBody>
      </p:sp>
      <p:sp>
        <p:nvSpPr>
          <p:cNvPr id="36" name="Rounded Rectangle 35"/>
          <p:cNvSpPr/>
          <p:nvPr/>
        </p:nvSpPr>
        <p:spPr>
          <a:xfrm>
            <a:off x="9418320" y="4069080"/>
            <a:ext cx="1965960" cy="960120"/>
          </a:xfrm>
          <a:prstGeom prst="roundRect">
            <a:avLst>
              <a:gd name="adj" fmla="val 14000"/>
            </a:avLst>
          </a:prstGeom>
          <a:solidFill>
            <a:srgbClr val="2F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418320" y="4069080"/>
            <a:ext cx="1965960" cy="960120"/>
          </a:xfrm>
          <a:prstGeom prst="rect">
            <a:avLst/>
          </a:prstGeom>
          <a:noFill/>
        </p:spPr>
        <p:txBody>
          <a:bodyPr wrap="square" lIns="0" rIns="0" tIns="0" bIns="0" anchor="ctr">
            <a:spAutoFit/>
          </a:bodyPr>
          <a:lstStyle/>
          <a:p>
            <a:pPr algn="ctr">
              <a:lnSpc>
                <a:spcPct val="100000"/>
              </a:lnSpc>
            </a:pPr>
            <a:r>
              <a:rPr sz="1300" b="1" i="0">
                <a:solidFill>
                  <a:srgbClr val="FFFFFF"/>
                </a:solidFill>
                <a:latin typeface="Calibri"/>
              </a:rPr>
              <a:t>Receipt number
(advisory lock) →
COMMIT</a:t>
            </a:r>
          </a:p>
        </p:txBody>
      </p:sp>
      <p:cxnSp>
        <p:nvCxnSpPr>
          <p:cNvPr id="38" name="Connector 37"/>
          <p:cNvCxnSpPr/>
          <p:nvPr/>
        </p:nvCxnSpPr>
        <p:spPr>
          <a:xfrm>
            <a:off x="2624328" y="4544568"/>
            <a:ext cx="237744"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64607" y="4544568"/>
            <a:ext cx="237745"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013448" y="4544568"/>
            <a:ext cx="237744"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162288" y="4544568"/>
            <a:ext cx="237744" cy="0"/>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949440" y="4160520"/>
            <a:ext cx="365760" cy="274320"/>
          </a:xfrm>
          <a:prstGeom prst="rect">
            <a:avLst/>
          </a:prstGeom>
          <a:noFill/>
        </p:spPr>
        <p:txBody>
          <a:bodyPr wrap="square" lIns="0" rIns="0" tIns="0" bIns="0" anchor="t">
            <a:spAutoFit/>
          </a:bodyPr>
          <a:lstStyle/>
          <a:p>
            <a:pPr algn="l"/>
            <a:r>
              <a:rPr sz="1100" b="1" i="0">
                <a:solidFill>
                  <a:srgbClr val="2F7D4F"/>
                </a:solidFill>
                <a:latin typeface="Calibri"/>
              </a:rPr>
              <a:t>yes</a:t>
            </a:r>
          </a:p>
        </p:txBody>
      </p:sp>
      <p:cxnSp>
        <p:nvCxnSpPr>
          <p:cNvPr id="43" name="Connector 42"/>
          <p:cNvCxnSpPr/>
          <p:nvPr/>
        </p:nvCxnSpPr>
        <p:spPr>
          <a:xfrm>
            <a:off x="6053328" y="5129784"/>
            <a:ext cx="0" cy="310896"/>
          </a:xfrm>
          <a:prstGeom prst="line">
            <a:avLst/>
          </a:prstGeom>
          <a:ln w="19050">
            <a:solidFill>
              <a:srgbClr val="B441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4800600" y="5440680"/>
            <a:ext cx="2514600" cy="548640"/>
          </a:xfrm>
          <a:prstGeom prst="roundRect">
            <a:avLst>
              <a:gd name="adj" fmla="val 14000"/>
            </a:avLst>
          </a:prstGeom>
          <a:solidFill>
            <a:srgbClr val="FC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800600" y="5440680"/>
            <a:ext cx="2514600" cy="548640"/>
          </a:xfrm>
          <a:prstGeom prst="rect">
            <a:avLst/>
          </a:prstGeom>
          <a:noFill/>
        </p:spPr>
        <p:txBody>
          <a:bodyPr wrap="square" lIns="0" rIns="0" tIns="0" bIns="0" anchor="ctr">
            <a:spAutoFit/>
          </a:bodyPr>
          <a:lstStyle/>
          <a:p>
            <a:pPr algn="ctr">
              <a:lnSpc>
                <a:spcPct val="100000"/>
              </a:lnSpc>
            </a:pPr>
            <a:r>
              <a:rPr sz="1100" b="0" i="0">
                <a:solidFill>
                  <a:srgbClr val="0E1330"/>
                </a:solidFill>
                <a:latin typeface="Calibri"/>
              </a:rPr>
              <a:t>No: ROLLBACK, code SEAT_TAKEN — nothing is written, picks are kept</a:t>
            </a:r>
          </a:p>
        </p:txBody>
      </p:sp>
      <p:sp>
        <p:nvSpPr>
          <p:cNvPr id="46" name="Rounded Rectangle 45"/>
          <p:cNvSpPr/>
          <p:nvPr/>
        </p:nvSpPr>
        <p:spPr>
          <a:xfrm>
            <a:off x="9418320" y="5349240"/>
            <a:ext cx="1965960" cy="640080"/>
          </a:xfrm>
          <a:prstGeom prst="roundRect">
            <a:avLst>
              <a:gd name="adj" fmla="val 14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418320" y="5349240"/>
            <a:ext cx="1965960" cy="640080"/>
          </a:xfrm>
          <a:prstGeom prst="rect">
            <a:avLst/>
          </a:prstGeom>
          <a:noFill/>
        </p:spPr>
        <p:txBody>
          <a:bodyPr wrap="square" lIns="0" rIns="0" tIns="0" bIns="0" anchor="ctr">
            <a:spAutoFit/>
          </a:bodyPr>
          <a:lstStyle/>
          <a:p>
            <a:pPr algn="ctr">
              <a:lnSpc>
                <a:spcPct val="100000"/>
              </a:lnSpc>
            </a:pPr>
            <a:r>
              <a:rPr sz="1300" b="1" i="0">
                <a:solidFill>
                  <a:srgbClr val="0E1330"/>
                </a:solidFill>
                <a:latin typeface="Calibri"/>
              </a:rPr>
              <a:t>Receipt shown;
seats update</a:t>
            </a:r>
          </a:p>
        </p:txBody>
      </p:sp>
      <p:cxnSp>
        <p:nvCxnSpPr>
          <p:cNvPr id="48" name="Connector 47"/>
          <p:cNvCxnSpPr/>
          <p:nvPr/>
        </p:nvCxnSpPr>
        <p:spPr>
          <a:xfrm>
            <a:off x="10396728" y="5047488"/>
            <a:ext cx="0" cy="283464"/>
          </a:xfrm>
          <a:prstGeom prst="line">
            <a:avLst/>
          </a:prstGeom>
          <a:ln w="19050">
            <a:solidFill>
              <a:srgbClr val="0E13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DATABASE DESIGN AND DATA MANAGEMENT</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Twelve core tables; integrity enforced by PostgreSQL</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12 / 16</a:t>
            </a:r>
          </a:p>
        </p:txBody>
      </p:sp>
      <p:sp>
        <p:nvSpPr>
          <p:cNvPr id="8" name="Rounded Rectangle 7"/>
          <p:cNvSpPr/>
          <p:nvPr/>
        </p:nvSpPr>
        <p:spPr>
          <a:xfrm>
            <a:off x="548640" y="155448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554480"/>
            <a:ext cx="1847088" cy="457200"/>
          </a:xfrm>
          <a:prstGeom prst="roundRect">
            <a:avLst>
              <a:gd name="adj" fmla="val 18000"/>
            </a:avLst>
          </a:prstGeom>
          <a:solidFill>
            <a:srgbClr val="E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85216" y="155448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academic_sessions</a:t>
            </a:r>
          </a:p>
        </p:txBody>
      </p:sp>
      <p:sp>
        <p:nvSpPr>
          <p:cNvPr id="11" name="TextBox 10"/>
          <p:cNvSpPr txBox="1"/>
          <p:nvPr/>
        </p:nvSpPr>
        <p:spPr>
          <a:xfrm>
            <a:off x="640080" y="205740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Year Server: start / end year, status</a:t>
            </a:r>
          </a:p>
        </p:txBody>
      </p:sp>
      <p:sp>
        <p:nvSpPr>
          <p:cNvPr id="12" name="Rounded Rectangle 11"/>
          <p:cNvSpPr/>
          <p:nvPr/>
        </p:nvSpPr>
        <p:spPr>
          <a:xfrm>
            <a:off x="2560320" y="155448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2560320" y="1554480"/>
            <a:ext cx="1847088" cy="457200"/>
          </a:xfrm>
          <a:prstGeom prst="roundRect">
            <a:avLst>
              <a:gd name="adj" fmla="val 1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96896" y="155448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registration_events</a:t>
            </a:r>
          </a:p>
        </p:txBody>
      </p:sp>
      <p:sp>
        <p:nvSpPr>
          <p:cNvPr id="15" name="TextBox 14"/>
          <p:cNvSpPr txBox="1"/>
          <p:nvPr/>
        </p:nvSpPr>
        <p:spPr>
          <a:xfrm>
            <a:off x="2651760" y="205740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cohort, session · window, status</a:t>
            </a:r>
          </a:p>
        </p:txBody>
      </p:sp>
      <p:sp>
        <p:nvSpPr>
          <p:cNvPr id="16" name="Rounded Rectangle 15"/>
          <p:cNvSpPr/>
          <p:nvPr/>
        </p:nvSpPr>
        <p:spPr>
          <a:xfrm>
            <a:off x="4572000" y="155448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572000" y="1554480"/>
            <a:ext cx="1847088" cy="457200"/>
          </a:xfrm>
          <a:prstGeom prst="roundRect">
            <a:avLst>
              <a:gd name="adj" fmla="val 1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08576" y="155448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elective_groups</a:t>
            </a:r>
          </a:p>
        </p:txBody>
      </p:sp>
      <p:sp>
        <p:nvSpPr>
          <p:cNvPr id="19" name="TextBox 18"/>
          <p:cNvSpPr txBox="1"/>
          <p:nvPr/>
        </p:nvSpPr>
        <p:spPr>
          <a:xfrm>
            <a:off x="4663440" y="205740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event · min / max choices</a:t>
            </a:r>
          </a:p>
        </p:txBody>
      </p:sp>
      <p:sp>
        <p:nvSpPr>
          <p:cNvPr id="20" name="Rounded Rectangle 19"/>
          <p:cNvSpPr/>
          <p:nvPr/>
        </p:nvSpPr>
        <p:spPr>
          <a:xfrm>
            <a:off x="6583680" y="155448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583680" y="1554480"/>
            <a:ext cx="1847088" cy="457200"/>
          </a:xfrm>
          <a:prstGeom prst="roundRect">
            <a:avLst>
              <a:gd name="adj" fmla="val 1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620256" y="155448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electives</a:t>
            </a:r>
          </a:p>
        </p:txBody>
      </p:sp>
      <p:sp>
        <p:nvSpPr>
          <p:cNvPr id="23" name="TextBox 22"/>
          <p:cNvSpPr txBox="1"/>
          <p:nvPr/>
        </p:nvSpPr>
        <p:spPr>
          <a:xfrm>
            <a:off x="6675120" y="205740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group · max / available seats</a:t>
            </a:r>
          </a:p>
        </p:txBody>
      </p:sp>
      <p:sp>
        <p:nvSpPr>
          <p:cNvPr id="24" name="Rounded Rectangle 23"/>
          <p:cNvSpPr/>
          <p:nvPr/>
        </p:nvSpPr>
        <p:spPr>
          <a:xfrm>
            <a:off x="548640" y="310896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548640" y="3108960"/>
            <a:ext cx="1847088" cy="457200"/>
          </a:xfrm>
          <a:prstGeom prst="roundRect">
            <a:avLst>
              <a:gd name="adj" fmla="val 18000"/>
            </a:avLst>
          </a:prstGeom>
          <a:solidFill>
            <a:srgbClr val="E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85216" y="310896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cohort_session_terms</a:t>
            </a:r>
          </a:p>
        </p:txBody>
      </p:sp>
      <p:sp>
        <p:nvSpPr>
          <p:cNvPr id="27" name="TextBox 26"/>
          <p:cNvSpPr txBox="1"/>
          <p:nvPr/>
        </p:nvSpPr>
        <p:spPr>
          <a:xfrm>
            <a:off x="640080" y="361188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cohort, session · year, semester</a:t>
            </a:r>
          </a:p>
        </p:txBody>
      </p:sp>
      <p:sp>
        <p:nvSpPr>
          <p:cNvPr id="28" name="Rounded Rectangle 27"/>
          <p:cNvSpPr/>
          <p:nvPr/>
        </p:nvSpPr>
        <p:spPr>
          <a:xfrm>
            <a:off x="2560320" y="310896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2560320" y="3108960"/>
            <a:ext cx="1847088" cy="457200"/>
          </a:xfrm>
          <a:prstGeom prst="roundRect">
            <a:avLst>
              <a:gd name="adj" fmla="val 1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596896" y="310896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event_sections</a:t>
            </a:r>
          </a:p>
        </p:txBody>
      </p:sp>
      <p:sp>
        <p:nvSpPr>
          <p:cNvPr id="31" name="TextBox 30"/>
          <p:cNvSpPr txBox="1"/>
          <p:nvPr/>
        </p:nvSpPr>
        <p:spPr>
          <a:xfrm>
            <a:off x="2651760" y="361188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(event, cohort), (class, cohort)</a:t>
            </a:r>
          </a:p>
        </p:txBody>
      </p:sp>
      <p:sp>
        <p:nvSpPr>
          <p:cNvPr id="32" name="Rounded Rectangle 31"/>
          <p:cNvSpPr/>
          <p:nvPr/>
        </p:nvSpPr>
        <p:spPr>
          <a:xfrm>
            <a:off x="4572000" y="310896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4572000" y="3108960"/>
            <a:ext cx="1847088" cy="457200"/>
          </a:xfrm>
          <a:prstGeom prst="roundRect">
            <a:avLst>
              <a:gd name="adj" fmla="val 18000"/>
            </a:avLst>
          </a:prstGeom>
          <a:solidFill>
            <a:srgbClr val="E6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608576" y="310896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registrations</a:t>
            </a:r>
          </a:p>
        </p:txBody>
      </p:sp>
      <p:sp>
        <p:nvSpPr>
          <p:cNvPr id="35" name="TextBox 34"/>
          <p:cNvSpPr txBox="1"/>
          <p:nvPr/>
        </p:nvSpPr>
        <p:spPr>
          <a:xfrm>
            <a:off x="4663440" y="361188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student, event · receipt</a:t>
            </a:r>
          </a:p>
        </p:txBody>
      </p:sp>
      <p:sp>
        <p:nvSpPr>
          <p:cNvPr id="36" name="Rounded Rectangle 35"/>
          <p:cNvSpPr/>
          <p:nvPr/>
        </p:nvSpPr>
        <p:spPr>
          <a:xfrm>
            <a:off x="6583680" y="310896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583680" y="3108960"/>
            <a:ext cx="1847088" cy="457200"/>
          </a:xfrm>
          <a:prstGeom prst="roundRect">
            <a:avLst>
              <a:gd name="adj" fmla="val 1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620256" y="3108960"/>
            <a:ext cx="1773936" cy="457200"/>
          </a:xfrm>
          <a:prstGeom prst="rect">
            <a:avLst/>
          </a:prstGeom>
          <a:noFill/>
        </p:spPr>
        <p:txBody>
          <a:bodyPr wrap="square" lIns="0" rIns="0" tIns="0" bIns="0" anchor="ctr">
            <a:spAutoFit/>
          </a:bodyPr>
          <a:lstStyle/>
          <a:p>
            <a:pPr algn="ctr"/>
            <a:r>
              <a:rPr sz="1100" b="1" i="0">
                <a:solidFill>
                  <a:srgbClr val="0E1330"/>
                </a:solidFill>
                <a:latin typeface="Consolas"/>
              </a:rPr>
              <a:t>elective_seat_
allocations</a:t>
            </a:r>
          </a:p>
        </p:txBody>
      </p:sp>
      <p:sp>
        <p:nvSpPr>
          <p:cNvPr id="39" name="TextBox 38"/>
          <p:cNvSpPr txBox="1"/>
          <p:nvPr/>
        </p:nvSpPr>
        <p:spPr>
          <a:xfrm>
            <a:off x="6675120" y="3611880"/>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elective, class · quota</a:t>
            </a:r>
          </a:p>
        </p:txBody>
      </p:sp>
      <p:sp>
        <p:nvSpPr>
          <p:cNvPr id="40" name="Rounded Rectangle 39"/>
          <p:cNvSpPr/>
          <p:nvPr/>
        </p:nvSpPr>
        <p:spPr>
          <a:xfrm>
            <a:off x="548640" y="466344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548640" y="4663440"/>
            <a:ext cx="1847088" cy="457200"/>
          </a:xfrm>
          <a:prstGeom prst="roundRect">
            <a:avLst>
              <a:gd name="adj" fmla="val 18000"/>
            </a:avLst>
          </a:prstGeom>
          <a:solidFill>
            <a:srgbClr val="E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85216" y="466344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academic_batches</a:t>
            </a:r>
          </a:p>
        </p:txBody>
      </p:sp>
      <p:sp>
        <p:nvSpPr>
          <p:cNvPr id="43" name="TextBox 42"/>
          <p:cNvSpPr txBox="1"/>
          <p:nvPr/>
        </p:nvSpPr>
        <p:spPr>
          <a:xfrm>
            <a:off x="640080" y="5166359"/>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programme · admission year</a:t>
            </a:r>
          </a:p>
        </p:txBody>
      </p:sp>
      <p:sp>
        <p:nvSpPr>
          <p:cNvPr id="44" name="Rounded Rectangle 43"/>
          <p:cNvSpPr/>
          <p:nvPr/>
        </p:nvSpPr>
        <p:spPr>
          <a:xfrm>
            <a:off x="2560320" y="466344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2560320" y="4663440"/>
            <a:ext cx="1847088" cy="457200"/>
          </a:xfrm>
          <a:prstGeom prst="roundRect">
            <a:avLst>
              <a:gd name="adj" fmla="val 18000"/>
            </a:avLst>
          </a:prstGeom>
          <a:solidFill>
            <a:srgbClr val="E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2596896" y="466344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sections</a:t>
            </a:r>
          </a:p>
        </p:txBody>
      </p:sp>
      <p:sp>
        <p:nvSpPr>
          <p:cNvPr id="47" name="TextBox 46"/>
          <p:cNvSpPr txBox="1"/>
          <p:nvPr/>
        </p:nvSpPr>
        <p:spPr>
          <a:xfrm>
            <a:off x="2651760" y="5166359"/>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cohort · class label (F, G…)</a:t>
            </a:r>
          </a:p>
        </p:txBody>
      </p:sp>
      <p:sp>
        <p:nvSpPr>
          <p:cNvPr id="48" name="Rounded Rectangle 47"/>
          <p:cNvSpPr/>
          <p:nvPr/>
        </p:nvSpPr>
        <p:spPr>
          <a:xfrm>
            <a:off x="4572000" y="466344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unded Rectangle 48"/>
          <p:cNvSpPr/>
          <p:nvPr/>
        </p:nvSpPr>
        <p:spPr>
          <a:xfrm>
            <a:off x="4572000" y="4663440"/>
            <a:ext cx="1847088" cy="457200"/>
          </a:xfrm>
          <a:prstGeom prst="roundRect">
            <a:avLst>
              <a:gd name="adj" fmla="val 18000"/>
            </a:avLst>
          </a:prstGeom>
          <a:solidFill>
            <a:srgbClr val="E6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4608576" y="466344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users</a:t>
            </a:r>
          </a:p>
        </p:txBody>
      </p:sp>
      <p:sp>
        <p:nvSpPr>
          <p:cNvPr id="51" name="TextBox 50"/>
          <p:cNvSpPr txBox="1"/>
          <p:nvPr/>
        </p:nvSpPr>
        <p:spPr>
          <a:xfrm>
            <a:off x="4663440" y="5166359"/>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role · register no. · FK class</a:t>
            </a:r>
          </a:p>
        </p:txBody>
      </p:sp>
      <p:sp>
        <p:nvSpPr>
          <p:cNvPr id="52" name="Rounded Rectangle 51"/>
          <p:cNvSpPr/>
          <p:nvPr/>
        </p:nvSpPr>
        <p:spPr>
          <a:xfrm>
            <a:off x="6583680" y="4663440"/>
            <a:ext cx="1847088" cy="1097280"/>
          </a:xfrm>
          <a:prstGeom prst="roundRect">
            <a:avLst>
              <a:gd name="adj" fmla="val 8000"/>
            </a:avLst>
          </a:prstGeom>
          <a:solidFill>
            <a:srgbClr val="FFFFFF"/>
          </a:solidFill>
          <a:ln w="9525">
            <a:solidFill>
              <a:srgbClr val="D9DC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6583680" y="4663440"/>
            <a:ext cx="1847088" cy="457200"/>
          </a:xfrm>
          <a:prstGeom prst="roundRect">
            <a:avLst>
              <a:gd name="adj" fmla="val 18000"/>
            </a:avLst>
          </a:prstGeom>
          <a:solidFill>
            <a:srgbClr val="E6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620256" y="4663440"/>
            <a:ext cx="1773936" cy="457200"/>
          </a:xfrm>
          <a:prstGeom prst="rect">
            <a:avLst/>
          </a:prstGeom>
          <a:noFill/>
        </p:spPr>
        <p:txBody>
          <a:bodyPr wrap="square" lIns="0" rIns="0" tIns="0" bIns="0" anchor="ctr">
            <a:spAutoFit/>
          </a:bodyPr>
          <a:lstStyle/>
          <a:p>
            <a:pPr algn="ctr"/>
            <a:r>
              <a:rPr sz="1150" b="1" i="0">
                <a:solidFill>
                  <a:srgbClr val="0E1330"/>
                </a:solidFill>
                <a:latin typeface="Consolas"/>
              </a:rPr>
              <a:t>student_registrations</a:t>
            </a:r>
          </a:p>
        </p:txBody>
      </p:sp>
      <p:sp>
        <p:nvSpPr>
          <p:cNvPr id="55" name="TextBox 54"/>
          <p:cNvSpPr txBox="1"/>
          <p:nvPr/>
        </p:nvSpPr>
        <p:spPr>
          <a:xfrm>
            <a:off x="6675120" y="5166359"/>
            <a:ext cx="1664208" cy="548640"/>
          </a:xfrm>
          <a:prstGeom prst="rect">
            <a:avLst/>
          </a:prstGeom>
          <a:noFill/>
        </p:spPr>
        <p:txBody>
          <a:bodyPr wrap="square" lIns="0" rIns="0" tIns="0" bIns="0" anchor="ctr">
            <a:spAutoFit/>
          </a:bodyPr>
          <a:lstStyle/>
          <a:p>
            <a:pPr algn="ctr">
              <a:lnSpc>
                <a:spcPct val="95000"/>
              </a:lnSpc>
            </a:pPr>
            <a:r>
              <a:rPr sz="1100" b="0" i="0">
                <a:solidFill>
                  <a:srgbClr val="555B73"/>
                </a:solidFill>
                <a:latin typeface="Calibri"/>
              </a:rPr>
              <a:t>FK student, event, group, elective</a:t>
            </a:r>
          </a:p>
        </p:txBody>
      </p:sp>
      <p:cxnSp>
        <p:nvCxnSpPr>
          <p:cNvPr id="56" name="Connector 55"/>
          <p:cNvCxnSpPr/>
          <p:nvPr/>
        </p:nvCxnSpPr>
        <p:spPr>
          <a:xfrm>
            <a:off x="2395728" y="2103120"/>
            <a:ext cx="164592" cy="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407408" y="2103120"/>
            <a:ext cx="164592" cy="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19088" y="2103120"/>
            <a:ext cx="164592" cy="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7507224" y="2651760"/>
            <a:ext cx="0" cy="45720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472184" y="2651760"/>
            <a:ext cx="0" cy="45720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472184" y="4206240"/>
            <a:ext cx="0" cy="45720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2395728" y="5212079"/>
            <a:ext cx="164592" cy="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483864" y="2651760"/>
            <a:ext cx="0" cy="45720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483864" y="4206240"/>
            <a:ext cx="0" cy="45720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4407408" y="5212079"/>
            <a:ext cx="164592" cy="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495544" y="4206240"/>
            <a:ext cx="0" cy="45720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419088" y="5212079"/>
            <a:ext cx="164592" cy="0"/>
          </a:xfrm>
          <a:prstGeom prst="line">
            <a:avLst/>
          </a:prstGeom>
          <a:ln w="15875">
            <a:solidFill>
              <a:srgbClr val="555B73"/>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48640" y="6080760"/>
            <a:ext cx="7863840" cy="274320"/>
          </a:xfrm>
          <a:prstGeom prst="rect">
            <a:avLst/>
          </a:prstGeom>
          <a:noFill/>
        </p:spPr>
        <p:txBody>
          <a:bodyPr wrap="square" lIns="0" rIns="0" tIns="0" bIns="0" anchor="t">
            <a:spAutoFit/>
          </a:bodyPr>
          <a:lstStyle/>
          <a:p>
            <a:pPr algn="l"/>
            <a:r>
              <a:rPr sz="1100" b="0" i="0">
                <a:solidFill>
                  <a:srgbClr val="555B73"/>
                </a:solidFill>
                <a:latin typeface="Calibri"/>
              </a:rPr>
              <a:t>Lines are foreign keys (one-to-many). Colours: academic structure · events and seats · people and registrations.</a:t>
            </a:r>
          </a:p>
        </p:txBody>
      </p:sp>
      <p:sp>
        <p:nvSpPr>
          <p:cNvPr id="69" name="Rounded Rectangle 68"/>
          <p:cNvSpPr/>
          <p:nvPr/>
        </p:nvSpPr>
        <p:spPr>
          <a:xfrm>
            <a:off x="9006840" y="1554480"/>
            <a:ext cx="2606040" cy="4480560"/>
          </a:xfrm>
          <a:prstGeom prst="roundRect">
            <a:avLst>
              <a:gd name="adj" fmla="val 5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9235440" y="1737360"/>
            <a:ext cx="2194560" cy="320040"/>
          </a:xfrm>
          <a:prstGeom prst="rect">
            <a:avLst/>
          </a:prstGeom>
          <a:noFill/>
        </p:spPr>
        <p:txBody>
          <a:bodyPr wrap="square" lIns="0" rIns="0" tIns="0" bIns="0" anchor="t">
            <a:spAutoFit/>
          </a:bodyPr>
          <a:lstStyle/>
          <a:p>
            <a:pPr algn="l"/>
            <a:r>
              <a:rPr sz="1600" b="1" i="0">
                <a:solidFill>
                  <a:srgbClr val="E9B44C"/>
                </a:solidFill>
                <a:latin typeface="Calibri"/>
              </a:rPr>
              <a:t>Integrity guarantees</a:t>
            </a:r>
          </a:p>
        </p:txBody>
      </p:sp>
      <p:sp>
        <p:nvSpPr>
          <p:cNvPr id="71" name="TextBox 70"/>
          <p:cNvSpPr txBox="1"/>
          <p:nvPr/>
        </p:nvSpPr>
        <p:spPr>
          <a:xfrm>
            <a:off x="9235440" y="2176272"/>
            <a:ext cx="2240280" cy="3749039"/>
          </a:xfrm>
          <a:prstGeom prst="rect">
            <a:avLst/>
          </a:prstGeom>
          <a:noFill/>
        </p:spPr>
        <p:txBody>
          <a:bodyPr wrap="square" lIns="0" rIns="0" tIns="0" bIns="0" anchor="t">
            <a:spAutoFit/>
          </a:bodyPr>
          <a:lstStyle/>
          <a:p>
            <a:pPr marL="256032" indent="-256032">
              <a:spcAft>
                <a:spcPts val="800"/>
              </a:spcAft>
              <a:buClr>
                <a:srgbClr val="E9B44C"/>
              </a:buClr>
              <a:buFont typeface="Arial"/>
              <a:buChar char="•"/>
            </a:pPr>
            <a:r>
              <a:rPr sz="1300" b="1">
                <a:solidFill>
                  <a:srgbClr val="FFFFFF"/>
                </a:solidFill>
                <a:latin typeface="Calibri"/>
              </a:rPr>
              <a:t>available_seats ≥ 0 </a:t>
            </a:r>
            <a:r>
              <a:rPr sz="1300" b="0">
                <a:solidFill>
                  <a:srgbClr val="B9BED3"/>
                </a:solidFill>
                <a:latin typeface="Calibri"/>
              </a:rPr>
              <a:t>on subjects and quotas</a:t>
            </a:r>
          </a:p>
          <a:p>
            <a:pPr marL="256032" indent="-256032">
              <a:spcAft>
                <a:spcPts val="800"/>
              </a:spcAft>
              <a:buClr>
                <a:srgbClr val="E9B44C"/>
              </a:buClr>
              <a:buFont typeface="Arial"/>
              <a:buChar char="•"/>
            </a:pPr>
            <a:r>
              <a:rPr sz="1300" b="1">
                <a:solidFill>
                  <a:srgbClr val="FFFFFF"/>
                </a:solidFill>
                <a:latin typeface="Calibri"/>
              </a:rPr>
              <a:t>One choice </a:t>
            </a:r>
            <a:r>
              <a:rPr sz="1300" b="0">
                <a:solidFill>
                  <a:srgbClr val="B9BED3"/>
                </a:solidFill>
                <a:latin typeface="Calibri"/>
              </a:rPr>
              <a:t>per student, event and basket (unique)</a:t>
            </a:r>
          </a:p>
          <a:p>
            <a:pPr marL="256032" indent="-256032">
              <a:spcAft>
                <a:spcPts val="800"/>
              </a:spcAft>
              <a:buClr>
                <a:srgbClr val="E9B44C"/>
              </a:buClr>
              <a:buFont typeface="Arial"/>
              <a:buChar char="•"/>
            </a:pPr>
            <a:r>
              <a:rPr sz="1300" b="1">
                <a:solidFill>
                  <a:srgbClr val="FFFFFF"/>
                </a:solidFill>
                <a:latin typeface="Calibri"/>
              </a:rPr>
              <a:t>Unique </a:t>
            </a:r>
            <a:r>
              <a:rPr sz="1300" b="0">
                <a:solidFill>
                  <a:srgbClr val="B9BED3"/>
                </a:solidFill>
                <a:latin typeface="Calibri"/>
              </a:rPr>
              <a:t>receipt number per registration</a:t>
            </a:r>
          </a:p>
          <a:p>
            <a:pPr marL="256032" indent="-256032">
              <a:spcAft>
                <a:spcPts val="800"/>
              </a:spcAft>
              <a:buClr>
                <a:srgbClr val="E9B44C"/>
              </a:buClr>
              <a:buFont typeface="Arial"/>
              <a:buChar char="•"/>
            </a:pPr>
            <a:r>
              <a:rPr sz="1300" b="1">
                <a:solidFill>
                  <a:srgbClr val="FFFFFF"/>
                </a:solidFill>
                <a:latin typeface="Calibri"/>
              </a:rPr>
              <a:t>Composite keys </a:t>
            </a:r>
            <a:r>
              <a:rPr sz="1300" b="0">
                <a:solidFill>
                  <a:srgbClr val="B9BED3"/>
                </a:solidFill>
                <a:latin typeface="Calibri"/>
              </a:rPr>
              <a:t>keep a class, a student and a code inside one cohort</a:t>
            </a:r>
          </a:p>
          <a:p>
            <a:pPr marL="256032" indent="-256032">
              <a:spcAft>
                <a:spcPts val="800"/>
              </a:spcAft>
              <a:buClr>
                <a:srgbClr val="E9B44C"/>
              </a:buClr>
              <a:buFont typeface="Arial"/>
              <a:buChar char="•"/>
            </a:pPr>
            <a:r>
              <a:rPr sz="1300" b="1">
                <a:solidFill>
                  <a:srgbClr val="FFFFFF"/>
                </a:solidFill>
                <a:latin typeface="Calibri"/>
              </a:rPr>
              <a:t>Reviewed SQL migrations </a:t>
            </a:r>
            <a:r>
              <a:rPr sz="1300" b="0">
                <a:solidFill>
                  <a:srgbClr val="B9BED3"/>
                </a:solidFill>
                <a:latin typeface="Calibri"/>
              </a:rPr>
              <a:t>with rollback scripts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SECURITY, VALIDATION AND RELIABILITY</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Protections implemented in the code</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13 / 16</a:t>
            </a:r>
          </a:p>
        </p:txBody>
      </p:sp>
      <p:sp>
        <p:nvSpPr>
          <p:cNvPr id="8" name="Rounded Rectangle 7"/>
          <p:cNvSpPr/>
          <p:nvPr/>
        </p:nvSpPr>
        <p:spPr>
          <a:xfrm>
            <a:off x="548640" y="155448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178308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ock-ink.png"/>
          <p:cNvPicPr>
            <a:picLocks noChangeAspect="1"/>
          </p:cNvPicPr>
          <p:nvPr/>
        </p:nvPicPr>
        <p:blipFill>
          <a:blip r:embed="rId3"/>
          <a:stretch>
            <a:fillRect/>
          </a:stretch>
        </p:blipFill>
        <p:spPr>
          <a:xfrm>
            <a:off x="897940" y="1903780"/>
            <a:ext cx="261518" cy="261518"/>
          </a:xfrm>
          <a:prstGeom prst="rect">
            <a:avLst/>
          </a:prstGeom>
        </p:spPr>
      </p:pic>
      <p:sp>
        <p:nvSpPr>
          <p:cNvPr id="11" name="TextBox 10"/>
          <p:cNvSpPr txBox="1"/>
          <p:nvPr/>
        </p:nvSpPr>
        <p:spPr>
          <a:xfrm>
            <a:off x="1417319" y="178308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Passwords</a:t>
            </a:r>
          </a:p>
        </p:txBody>
      </p:sp>
      <p:sp>
        <p:nvSpPr>
          <p:cNvPr id="12" name="TextBox 11"/>
          <p:cNvSpPr txBox="1"/>
          <p:nvPr/>
        </p:nvSpPr>
        <p:spPr>
          <a:xfrm>
            <a:off x="777240" y="242316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bcrypt (cost 12); policy blocks the register number and common defaults</a:t>
            </a:r>
          </a:p>
        </p:txBody>
      </p:sp>
      <p:sp>
        <p:nvSpPr>
          <p:cNvPr id="13" name="Rounded Rectangle 12"/>
          <p:cNvSpPr/>
          <p:nvPr/>
        </p:nvSpPr>
        <p:spPr>
          <a:xfrm>
            <a:off x="3364992" y="155448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93592" y="178308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KeyRound-ink.png"/>
          <p:cNvPicPr>
            <a:picLocks noChangeAspect="1"/>
          </p:cNvPicPr>
          <p:nvPr/>
        </p:nvPicPr>
        <p:blipFill>
          <a:blip r:embed="rId4"/>
          <a:stretch>
            <a:fillRect/>
          </a:stretch>
        </p:blipFill>
        <p:spPr>
          <a:xfrm>
            <a:off x="3714292" y="1903780"/>
            <a:ext cx="261518" cy="261518"/>
          </a:xfrm>
          <a:prstGeom prst="rect">
            <a:avLst/>
          </a:prstGeom>
        </p:spPr>
      </p:pic>
      <p:sp>
        <p:nvSpPr>
          <p:cNvPr id="16" name="TextBox 15"/>
          <p:cNvSpPr txBox="1"/>
          <p:nvPr/>
        </p:nvSpPr>
        <p:spPr>
          <a:xfrm>
            <a:off x="4233672" y="178308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Sessions</a:t>
            </a:r>
          </a:p>
        </p:txBody>
      </p:sp>
      <p:sp>
        <p:nvSpPr>
          <p:cNvPr id="17" name="TextBox 16"/>
          <p:cNvSpPr txBox="1"/>
          <p:nvPr/>
        </p:nvSpPr>
        <p:spPr>
          <a:xfrm>
            <a:off x="3593592" y="242316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Signed JWT in an httpOnly cookie, 2 hours; one active session per user</a:t>
            </a:r>
          </a:p>
        </p:txBody>
      </p:sp>
      <p:sp>
        <p:nvSpPr>
          <p:cNvPr id="18" name="Rounded Rectangle 17"/>
          <p:cNvSpPr/>
          <p:nvPr/>
        </p:nvSpPr>
        <p:spPr>
          <a:xfrm>
            <a:off x="6181344" y="155448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09944" y="178308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Hourglass-ink.png"/>
          <p:cNvPicPr>
            <a:picLocks noChangeAspect="1"/>
          </p:cNvPicPr>
          <p:nvPr/>
        </p:nvPicPr>
        <p:blipFill>
          <a:blip r:embed="rId5"/>
          <a:stretch>
            <a:fillRect/>
          </a:stretch>
        </p:blipFill>
        <p:spPr>
          <a:xfrm>
            <a:off x="6530644" y="1903780"/>
            <a:ext cx="261518" cy="261518"/>
          </a:xfrm>
          <a:prstGeom prst="rect">
            <a:avLst/>
          </a:prstGeom>
        </p:spPr>
      </p:pic>
      <p:sp>
        <p:nvSpPr>
          <p:cNvPr id="21" name="TextBox 20"/>
          <p:cNvSpPr txBox="1"/>
          <p:nvPr/>
        </p:nvSpPr>
        <p:spPr>
          <a:xfrm>
            <a:off x="7050024" y="178308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Rate limiting</a:t>
            </a:r>
          </a:p>
        </p:txBody>
      </p:sp>
      <p:sp>
        <p:nvSpPr>
          <p:cNvPr id="22" name="TextBox 21"/>
          <p:cNvSpPr txBox="1"/>
          <p:nvPr/>
        </p:nvSpPr>
        <p:spPr>
          <a:xfrm>
            <a:off x="6409944" y="242316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5 failed sign-ins lock the identifier for 15 minutes</a:t>
            </a:r>
          </a:p>
        </p:txBody>
      </p:sp>
      <p:sp>
        <p:nvSpPr>
          <p:cNvPr id="23" name="Rounded Rectangle 22"/>
          <p:cNvSpPr/>
          <p:nvPr/>
        </p:nvSpPr>
        <p:spPr>
          <a:xfrm>
            <a:off x="8997696" y="155448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226296" y="178308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Check-ink.png"/>
          <p:cNvPicPr>
            <a:picLocks noChangeAspect="1"/>
          </p:cNvPicPr>
          <p:nvPr/>
        </p:nvPicPr>
        <p:blipFill>
          <a:blip r:embed="rId6"/>
          <a:stretch>
            <a:fillRect/>
          </a:stretch>
        </p:blipFill>
        <p:spPr>
          <a:xfrm>
            <a:off x="9346996" y="1903780"/>
            <a:ext cx="261518" cy="261518"/>
          </a:xfrm>
          <a:prstGeom prst="rect">
            <a:avLst/>
          </a:prstGeom>
        </p:spPr>
      </p:pic>
      <p:sp>
        <p:nvSpPr>
          <p:cNvPr id="26" name="TextBox 25"/>
          <p:cNvSpPr txBox="1"/>
          <p:nvPr/>
        </p:nvSpPr>
        <p:spPr>
          <a:xfrm>
            <a:off x="9866376" y="178308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Scoped authorisation</a:t>
            </a:r>
          </a:p>
        </p:txBody>
      </p:sp>
      <p:sp>
        <p:nvSpPr>
          <p:cNvPr id="27" name="TextBox 26"/>
          <p:cNvSpPr txBox="1"/>
          <p:nvPr/>
        </p:nvSpPr>
        <p:spPr>
          <a:xfrm>
            <a:off x="9226296" y="242316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Role and class scope re-checked in every action; a cookie never grants access</a:t>
            </a:r>
          </a:p>
        </p:txBody>
      </p:sp>
      <p:sp>
        <p:nvSpPr>
          <p:cNvPr id="28" name="Rounded Rectangle 27"/>
          <p:cNvSpPr/>
          <p:nvPr/>
        </p:nvSpPr>
        <p:spPr>
          <a:xfrm>
            <a:off x="548640" y="356616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777240" y="379476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FileCheck-ink.png"/>
          <p:cNvPicPr>
            <a:picLocks noChangeAspect="1"/>
          </p:cNvPicPr>
          <p:nvPr/>
        </p:nvPicPr>
        <p:blipFill>
          <a:blip r:embed="rId7"/>
          <a:stretch>
            <a:fillRect/>
          </a:stretch>
        </p:blipFill>
        <p:spPr>
          <a:xfrm>
            <a:off x="897940" y="3915460"/>
            <a:ext cx="261518" cy="261518"/>
          </a:xfrm>
          <a:prstGeom prst="rect">
            <a:avLst/>
          </a:prstGeom>
        </p:spPr>
      </p:pic>
      <p:sp>
        <p:nvSpPr>
          <p:cNvPr id="31" name="TextBox 30"/>
          <p:cNvSpPr txBox="1"/>
          <p:nvPr/>
        </p:nvSpPr>
        <p:spPr>
          <a:xfrm>
            <a:off x="1417319" y="379476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Validation</a:t>
            </a:r>
          </a:p>
        </p:txBody>
      </p:sp>
      <p:sp>
        <p:nvSpPr>
          <p:cNvPr id="32" name="TextBox 31"/>
          <p:cNvSpPr txBox="1"/>
          <p:nvPr/>
        </p:nvSpPr>
        <p:spPr>
          <a:xfrm>
            <a:off x="777240" y="443484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Zod schemas on input; eligibility re-checked inside the transaction</a:t>
            </a:r>
          </a:p>
        </p:txBody>
      </p:sp>
      <p:sp>
        <p:nvSpPr>
          <p:cNvPr id="33" name="Rounded Rectangle 32"/>
          <p:cNvSpPr/>
          <p:nvPr/>
        </p:nvSpPr>
        <p:spPr>
          <a:xfrm>
            <a:off x="3364992" y="356616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593592" y="379476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Database-ink.png"/>
          <p:cNvPicPr>
            <a:picLocks noChangeAspect="1"/>
          </p:cNvPicPr>
          <p:nvPr/>
        </p:nvPicPr>
        <p:blipFill>
          <a:blip r:embed="rId8"/>
          <a:stretch>
            <a:fillRect/>
          </a:stretch>
        </p:blipFill>
        <p:spPr>
          <a:xfrm>
            <a:off x="3714292" y="3915460"/>
            <a:ext cx="261518" cy="261518"/>
          </a:xfrm>
          <a:prstGeom prst="rect">
            <a:avLst/>
          </a:prstGeom>
        </p:spPr>
      </p:pic>
      <p:sp>
        <p:nvSpPr>
          <p:cNvPr id="36" name="TextBox 35"/>
          <p:cNvSpPr txBox="1"/>
          <p:nvPr/>
        </p:nvSpPr>
        <p:spPr>
          <a:xfrm>
            <a:off x="4233672" y="379476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Transactions</a:t>
            </a:r>
          </a:p>
        </p:txBody>
      </p:sp>
      <p:sp>
        <p:nvSpPr>
          <p:cNvPr id="37" name="TextBox 36"/>
          <p:cNvSpPr txBox="1"/>
          <p:nvPr/>
        </p:nvSpPr>
        <p:spPr>
          <a:xfrm>
            <a:off x="3593592" y="443484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Row locks in a fixed order; constraints as a final guard</a:t>
            </a:r>
          </a:p>
        </p:txBody>
      </p:sp>
      <p:sp>
        <p:nvSpPr>
          <p:cNvPr id="38" name="Rounded Rectangle 37"/>
          <p:cNvSpPr/>
          <p:nvPr/>
        </p:nvSpPr>
        <p:spPr>
          <a:xfrm>
            <a:off x="6181344" y="356616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409944" y="379476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RotateCcw-ink.png"/>
          <p:cNvPicPr>
            <a:picLocks noChangeAspect="1"/>
          </p:cNvPicPr>
          <p:nvPr/>
        </p:nvPicPr>
        <p:blipFill>
          <a:blip r:embed="rId9"/>
          <a:stretch>
            <a:fillRect/>
          </a:stretch>
        </p:blipFill>
        <p:spPr>
          <a:xfrm>
            <a:off x="6530644" y="3915460"/>
            <a:ext cx="261518" cy="261518"/>
          </a:xfrm>
          <a:prstGeom prst="rect">
            <a:avLst/>
          </a:prstGeom>
        </p:spPr>
      </p:pic>
      <p:sp>
        <p:nvSpPr>
          <p:cNvPr id="41" name="TextBox 40"/>
          <p:cNvSpPr txBox="1"/>
          <p:nvPr/>
        </p:nvSpPr>
        <p:spPr>
          <a:xfrm>
            <a:off x="7050024" y="379476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No double submits</a:t>
            </a:r>
          </a:p>
        </p:txBody>
      </p:sp>
      <p:sp>
        <p:nvSpPr>
          <p:cNvPr id="42" name="TextBox 41"/>
          <p:cNvSpPr txBox="1"/>
          <p:nvPr/>
        </p:nvSpPr>
        <p:spPr>
          <a:xfrm>
            <a:off x="6409944" y="443484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Already-registered and already-cancelled states are refused</a:t>
            </a:r>
          </a:p>
        </p:txBody>
      </p:sp>
      <p:sp>
        <p:nvSpPr>
          <p:cNvPr id="43" name="Rounded Rectangle 42"/>
          <p:cNvSpPr/>
          <p:nvPr/>
        </p:nvSpPr>
        <p:spPr>
          <a:xfrm>
            <a:off x="8997696" y="3566160"/>
            <a:ext cx="2606040" cy="182880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226296" y="3794760"/>
            <a:ext cx="502920" cy="502920"/>
          </a:xfrm>
          <a:prstGeom prst="ellipse">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ScrollText-ink.png"/>
          <p:cNvPicPr>
            <a:picLocks noChangeAspect="1"/>
          </p:cNvPicPr>
          <p:nvPr/>
        </p:nvPicPr>
        <p:blipFill>
          <a:blip r:embed="rId10"/>
          <a:stretch>
            <a:fillRect/>
          </a:stretch>
        </p:blipFill>
        <p:spPr>
          <a:xfrm>
            <a:off x="9346996" y="3915460"/>
            <a:ext cx="261518" cy="261518"/>
          </a:xfrm>
          <a:prstGeom prst="rect">
            <a:avLst/>
          </a:prstGeom>
        </p:spPr>
      </p:pic>
      <p:sp>
        <p:nvSpPr>
          <p:cNvPr id="46" name="TextBox 45"/>
          <p:cNvSpPr txBox="1"/>
          <p:nvPr/>
        </p:nvSpPr>
        <p:spPr>
          <a:xfrm>
            <a:off x="9866376" y="3794760"/>
            <a:ext cx="1691640" cy="502920"/>
          </a:xfrm>
          <a:prstGeom prst="rect">
            <a:avLst/>
          </a:prstGeom>
          <a:noFill/>
        </p:spPr>
        <p:txBody>
          <a:bodyPr wrap="square" lIns="0" rIns="0" tIns="0" bIns="0" anchor="ctr">
            <a:spAutoFit/>
          </a:bodyPr>
          <a:lstStyle/>
          <a:p>
            <a:pPr algn="l">
              <a:lnSpc>
                <a:spcPct val="100000"/>
              </a:lnSpc>
            </a:pPr>
            <a:r>
              <a:rPr sz="1500" b="1" i="0">
                <a:solidFill>
                  <a:srgbClr val="0E1330"/>
                </a:solidFill>
                <a:latin typeface="Calibri"/>
              </a:rPr>
              <a:t>Audit and replay</a:t>
            </a:r>
          </a:p>
        </p:txBody>
      </p:sp>
      <p:sp>
        <p:nvSpPr>
          <p:cNvPr id="47" name="TextBox 46"/>
          <p:cNvSpPr txBox="1"/>
          <p:nvPr/>
        </p:nvSpPr>
        <p:spPr>
          <a:xfrm>
            <a:off x="9226296" y="4434840"/>
            <a:ext cx="2194560" cy="914400"/>
          </a:xfrm>
          <a:prstGeom prst="rect">
            <a:avLst/>
          </a:prstGeom>
          <a:noFill/>
        </p:spPr>
        <p:txBody>
          <a:bodyPr wrap="square" lIns="0" rIns="0" tIns="0" bIns="0" anchor="t">
            <a:spAutoFit/>
          </a:bodyPr>
          <a:lstStyle/>
          <a:p>
            <a:pPr algn="l">
              <a:lnSpc>
                <a:spcPct val="102000"/>
              </a:lnSpc>
            </a:pPr>
            <a:r>
              <a:rPr sz="1300" b="0" i="0">
                <a:solidFill>
                  <a:srgbClr val="555B73"/>
                </a:solidFill>
                <a:latin typeface="Calibri"/>
              </a:rPr>
              <a:t>Staff actions and every seat change are recorded</a:t>
            </a:r>
          </a:p>
        </p:txBody>
      </p:sp>
      <p:sp>
        <p:nvSpPr>
          <p:cNvPr id="48" name="Rounded Rectangle 47"/>
          <p:cNvSpPr/>
          <p:nvPr/>
        </p:nvSpPr>
        <p:spPr>
          <a:xfrm>
            <a:off x="548640" y="5596128"/>
            <a:ext cx="11064240" cy="566928"/>
          </a:xfrm>
          <a:prstGeom prst="roundRect">
            <a:avLst>
              <a:gd name="adj" fmla="val 12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596128"/>
            <a:ext cx="10698480" cy="566928"/>
          </a:xfrm>
          <a:prstGeom prst="rect">
            <a:avLst/>
          </a:prstGeom>
          <a:noFill/>
        </p:spPr>
        <p:txBody>
          <a:bodyPr wrap="square" lIns="0" rIns="0" tIns="0" bIns="0" anchor="ctr">
            <a:spAutoFit/>
          </a:bodyPr>
          <a:lstStyle/>
          <a:p>
            <a:pPr algn="l"/>
            <a:r>
              <a:rPr sz="1300" b="1" i="0">
                <a:solidFill>
                  <a:srgbClr val="0E1330"/>
                </a:solidFill>
                <a:latin typeface="Calibri"/>
              </a:rPr>
              <a:t>Known gap  </a:t>
            </a:r>
            <a:r>
              <a:rPr sz="1300" b="0" i="0">
                <a:solidFill>
                  <a:srgbClr val="555B73"/>
                </a:solidFill>
                <a:latin typeface="Calibri"/>
              </a:rPr>
              <a:t>The 8-character, letter-and-number policy falls short of NIST SP 800-63B-4 (15 characters, no composition rules); future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IMPLEMENTATION, TESTING AND OUTCOMES</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Verified on 15 October 2026 (commit bfd9bd8)</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14 / 16</a:t>
            </a:r>
          </a:p>
        </p:txBody>
      </p:sp>
      <p:sp>
        <p:nvSpPr>
          <p:cNvPr id="8" name="Rounded Rectangle 7"/>
          <p:cNvSpPr/>
          <p:nvPr/>
        </p:nvSpPr>
        <p:spPr>
          <a:xfrm>
            <a:off x="548640" y="1545336"/>
            <a:ext cx="4087368" cy="2017752"/>
          </a:xfrm>
          <a:prstGeom prst="roundRect">
            <a:avLst>
              <a:gd name="adj" fmla="val 3000"/>
            </a:avLst>
          </a:prstGeom>
          <a:solidFill>
            <a:srgbClr val="FFFFFF"/>
          </a:solidFill>
          <a:ln w="9525">
            <a:solidFill>
              <a:srgbClr val="D9DCE6"/>
            </a:solidFill>
          </a:ln>
          <a:effectLst>
            <a:outerShdw blurRad="190500" dist="38100" dir="5400000" algn="t" rotWithShape="0">
              <a:srgbClr val="0E1330">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13_electives_selected.jpg"/>
          <p:cNvPicPr>
            <a:picLocks noChangeAspect="1"/>
          </p:cNvPicPr>
          <p:nvPr/>
        </p:nvPicPr>
        <p:blipFill>
          <a:blip r:embed="rId3"/>
          <a:stretch>
            <a:fillRect/>
          </a:stretch>
        </p:blipFill>
        <p:spPr>
          <a:xfrm>
            <a:off x="603504" y="1600200"/>
            <a:ext cx="3977639" cy="1908024"/>
          </a:xfrm>
          <a:prstGeom prst="rect">
            <a:avLst/>
          </a:prstGeom>
          <a:ln w="6350">
            <a:solidFill>
              <a:srgbClr val="D9DCE6"/>
            </a:solidFill>
          </a:ln>
        </p:spPr>
      </p:pic>
      <p:sp>
        <p:nvSpPr>
          <p:cNvPr id="10" name="TextBox 9"/>
          <p:cNvSpPr txBox="1"/>
          <p:nvPr/>
        </p:nvSpPr>
        <p:spPr>
          <a:xfrm>
            <a:off x="548640" y="3599664"/>
            <a:ext cx="4114800" cy="256032"/>
          </a:xfrm>
          <a:prstGeom prst="rect">
            <a:avLst/>
          </a:prstGeom>
          <a:noFill/>
        </p:spPr>
        <p:txBody>
          <a:bodyPr wrap="square" lIns="0" rIns="0" tIns="0" bIns="0" anchor="t">
            <a:spAutoFit/>
          </a:bodyPr>
          <a:lstStyle/>
          <a:p>
            <a:pPr algn="l"/>
            <a:r>
              <a:rPr sz="1100" b="0" i="0">
                <a:solidFill>
                  <a:srgbClr val="555B73"/>
                </a:solidFill>
                <a:latin typeface="Calibri"/>
              </a:rPr>
              <a:t>Student picker: one subject chosen in each basket</a:t>
            </a:r>
          </a:p>
        </p:txBody>
      </p:sp>
      <p:sp>
        <p:nvSpPr>
          <p:cNvPr id="11" name="Rounded Rectangle 10"/>
          <p:cNvSpPr/>
          <p:nvPr/>
        </p:nvSpPr>
        <p:spPr>
          <a:xfrm>
            <a:off x="548640" y="3983712"/>
            <a:ext cx="4087368" cy="2017752"/>
          </a:xfrm>
          <a:prstGeom prst="roundRect">
            <a:avLst>
              <a:gd name="adj" fmla="val 3000"/>
            </a:avLst>
          </a:prstGeom>
          <a:solidFill>
            <a:srgbClr val="FFFFFF"/>
          </a:solidFill>
          <a:ln w="9525">
            <a:solidFill>
              <a:srgbClr val="D9DCE6"/>
            </a:solidFill>
          </a:ln>
          <a:effectLst>
            <a:outerShdw blurRad="190500" dist="38100" dir="5400000" algn="t" rotWithShape="0">
              <a:srgbClr val="0E1330">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24_tutor_window.jpg"/>
          <p:cNvPicPr>
            <a:picLocks noChangeAspect="1"/>
          </p:cNvPicPr>
          <p:nvPr/>
        </p:nvPicPr>
        <p:blipFill>
          <a:blip r:embed="rId4"/>
          <a:stretch>
            <a:fillRect/>
          </a:stretch>
        </p:blipFill>
        <p:spPr>
          <a:xfrm>
            <a:off x="603504" y="4038576"/>
            <a:ext cx="3977639" cy="1908024"/>
          </a:xfrm>
          <a:prstGeom prst="rect">
            <a:avLst/>
          </a:prstGeom>
          <a:ln w="6350">
            <a:solidFill>
              <a:srgbClr val="D9DCE6"/>
            </a:solidFill>
          </a:ln>
        </p:spPr>
      </p:pic>
      <p:sp>
        <p:nvSpPr>
          <p:cNvPr id="13" name="TextBox 12"/>
          <p:cNvSpPr txBox="1"/>
          <p:nvPr/>
        </p:nvSpPr>
        <p:spPr>
          <a:xfrm>
            <a:off x="548640" y="6038040"/>
            <a:ext cx="4114800" cy="256032"/>
          </a:xfrm>
          <a:prstGeom prst="rect">
            <a:avLst/>
          </a:prstGeom>
          <a:noFill/>
        </p:spPr>
        <p:txBody>
          <a:bodyPr wrap="square" lIns="0" rIns="0" tIns="0" bIns="0" anchor="t">
            <a:spAutoFit/>
          </a:bodyPr>
          <a:lstStyle/>
          <a:p>
            <a:pPr algn="l"/>
            <a:r>
              <a:rPr sz="1100" b="0" i="0">
                <a:solidFill>
                  <a:srgbClr val="555B73"/>
                </a:solidFill>
                <a:latin typeface="Calibri"/>
              </a:rPr>
              <a:t>Tutor live window controlling the registration</a:t>
            </a:r>
          </a:p>
        </p:txBody>
      </p:sp>
      <p:sp>
        <p:nvSpPr>
          <p:cNvPr id="14" name="Rounded Rectangle 13"/>
          <p:cNvSpPr/>
          <p:nvPr/>
        </p:nvSpPr>
        <p:spPr>
          <a:xfrm>
            <a:off x="5074920" y="1572768"/>
            <a:ext cx="3108960" cy="132588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30952" y="1709928"/>
            <a:ext cx="2743200" cy="594360"/>
          </a:xfrm>
          <a:prstGeom prst="rect">
            <a:avLst/>
          </a:prstGeom>
          <a:noFill/>
        </p:spPr>
        <p:txBody>
          <a:bodyPr wrap="square" lIns="0" rIns="0" tIns="0" bIns="0" anchor="t">
            <a:spAutoFit/>
          </a:bodyPr>
          <a:lstStyle/>
          <a:p>
            <a:pPr algn="l"/>
            <a:r>
              <a:rPr sz="3200" b="1" i="0">
                <a:solidFill>
                  <a:srgbClr val="0E1330"/>
                </a:solidFill>
                <a:latin typeface="Georgia"/>
              </a:rPr>
              <a:t>136 / 136</a:t>
            </a:r>
          </a:p>
        </p:txBody>
      </p:sp>
      <p:sp>
        <p:nvSpPr>
          <p:cNvPr id="16" name="TextBox 15"/>
          <p:cNvSpPr txBox="1"/>
          <p:nvPr/>
        </p:nvSpPr>
        <p:spPr>
          <a:xfrm>
            <a:off x="5330952" y="2286000"/>
            <a:ext cx="2743200" cy="274320"/>
          </a:xfrm>
          <a:prstGeom prst="rect">
            <a:avLst/>
          </a:prstGeom>
          <a:noFill/>
        </p:spPr>
        <p:txBody>
          <a:bodyPr wrap="square" lIns="0" rIns="0" tIns="0" bIns="0" anchor="t">
            <a:spAutoFit/>
          </a:bodyPr>
          <a:lstStyle/>
          <a:p>
            <a:pPr algn="l"/>
            <a:r>
              <a:rPr sz="1400" b="1" i="0">
                <a:solidFill>
                  <a:srgbClr val="0E1330"/>
                </a:solidFill>
                <a:latin typeface="Calibri"/>
              </a:rPr>
              <a:t>server-side tests pass</a:t>
            </a:r>
          </a:p>
        </p:txBody>
      </p:sp>
      <p:sp>
        <p:nvSpPr>
          <p:cNvPr id="17" name="TextBox 16"/>
          <p:cNvSpPr txBox="1"/>
          <p:nvPr/>
        </p:nvSpPr>
        <p:spPr>
          <a:xfrm>
            <a:off x="5330952" y="2551176"/>
            <a:ext cx="2743200" cy="274320"/>
          </a:xfrm>
          <a:prstGeom prst="rect">
            <a:avLst/>
          </a:prstGeom>
          <a:noFill/>
        </p:spPr>
        <p:txBody>
          <a:bodyPr wrap="square" lIns="0" rIns="0" tIns="0" bIns="0" anchor="t">
            <a:spAutoFit/>
          </a:bodyPr>
          <a:lstStyle/>
          <a:p>
            <a:pPr algn="l"/>
            <a:r>
              <a:rPr sz="1200" b="0" i="0">
                <a:solidFill>
                  <a:srgbClr val="555B73"/>
                </a:solidFill>
                <a:latin typeface="Calibri"/>
              </a:rPr>
              <a:t>18 suites, real PostgreSQL</a:t>
            </a:r>
          </a:p>
        </p:txBody>
      </p:sp>
      <p:sp>
        <p:nvSpPr>
          <p:cNvPr id="18" name="Rounded Rectangle 17"/>
          <p:cNvSpPr/>
          <p:nvPr/>
        </p:nvSpPr>
        <p:spPr>
          <a:xfrm>
            <a:off x="8366760" y="1572768"/>
            <a:ext cx="3108960" cy="132588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22792" y="1709928"/>
            <a:ext cx="2743200" cy="594360"/>
          </a:xfrm>
          <a:prstGeom prst="rect">
            <a:avLst/>
          </a:prstGeom>
          <a:noFill/>
        </p:spPr>
        <p:txBody>
          <a:bodyPr wrap="square" lIns="0" rIns="0" tIns="0" bIns="0" anchor="t">
            <a:spAutoFit/>
          </a:bodyPr>
          <a:lstStyle/>
          <a:p>
            <a:pPr algn="l"/>
            <a:r>
              <a:rPr sz="3200" b="1" i="0">
                <a:solidFill>
                  <a:srgbClr val="0E1330"/>
                </a:solidFill>
                <a:latin typeface="Georgia"/>
              </a:rPr>
              <a:t>36 / 36</a:t>
            </a:r>
          </a:p>
        </p:txBody>
      </p:sp>
      <p:sp>
        <p:nvSpPr>
          <p:cNvPr id="20" name="TextBox 19"/>
          <p:cNvSpPr txBox="1"/>
          <p:nvPr/>
        </p:nvSpPr>
        <p:spPr>
          <a:xfrm>
            <a:off x="8622792" y="2286000"/>
            <a:ext cx="2743200" cy="274320"/>
          </a:xfrm>
          <a:prstGeom prst="rect">
            <a:avLst/>
          </a:prstGeom>
          <a:noFill/>
        </p:spPr>
        <p:txBody>
          <a:bodyPr wrap="square" lIns="0" rIns="0" tIns="0" bIns="0" anchor="t">
            <a:spAutoFit/>
          </a:bodyPr>
          <a:lstStyle/>
          <a:p>
            <a:pPr algn="l"/>
            <a:r>
              <a:rPr sz="1400" b="1" i="0">
                <a:solidFill>
                  <a:srgbClr val="0E1330"/>
                </a:solidFill>
                <a:latin typeface="Calibri"/>
              </a:rPr>
              <a:t>browser tests pass</a:t>
            </a:r>
          </a:p>
        </p:txBody>
      </p:sp>
      <p:sp>
        <p:nvSpPr>
          <p:cNvPr id="21" name="TextBox 20"/>
          <p:cNvSpPr txBox="1"/>
          <p:nvPr/>
        </p:nvSpPr>
        <p:spPr>
          <a:xfrm>
            <a:off x="8622792" y="2551176"/>
            <a:ext cx="2743200" cy="274320"/>
          </a:xfrm>
          <a:prstGeom prst="rect">
            <a:avLst/>
          </a:prstGeom>
          <a:noFill/>
        </p:spPr>
        <p:txBody>
          <a:bodyPr wrap="square" lIns="0" rIns="0" tIns="0" bIns="0" anchor="t">
            <a:spAutoFit/>
          </a:bodyPr>
          <a:lstStyle/>
          <a:p>
            <a:pPr algn="l"/>
            <a:r>
              <a:rPr sz="1200" b="0" i="0">
                <a:solidFill>
                  <a:srgbClr val="555B73"/>
                </a:solidFill>
                <a:latin typeface="Calibri"/>
              </a:rPr>
              <a:t>Playwright, every role, with reloads</a:t>
            </a:r>
          </a:p>
        </p:txBody>
      </p:sp>
      <p:sp>
        <p:nvSpPr>
          <p:cNvPr id="22" name="Rounded Rectangle 21"/>
          <p:cNvSpPr/>
          <p:nvPr/>
        </p:nvSpPr>
        <p:spPr>
          <a:xfrm>
            <a:off x="5074920" y="3054096"/>
            <a:ext cx="3108960" cy="132588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330952" y="3191256"/>
            <a:ext cx="2743200" cy="594360"/>
          </a:xfrm>
          <a:prstGeom prst="rect">
            <a:avLst/>
          </a:prstGeom>
          <a:noFill/>
        </p:spPr>
        <p:txBody>
          <a:bodyPr wrap="square" lIns="0" rIns="0" tIns="0" bIns="0" anchor="t">
            <a:spAutoFit/>
          </a:bodyPr>
          <a:lstStyle/>
          <a:p>
            <a:pPr algn="l"/>
            <a:r>
              <a:rPr sz="3200" b="1" i="0">
                <a:solidFill>
                  <a:srgbClr val="0E1330"/>
                </a:solidFill>
                <a:latin typeface="Georgia"/>
              </a:rPr>
              <a:t>0</a:t>
            </a:r>
          </a:p>
        </p:txBody>
      </p:sp>
      <p:sp>
        <p:nvSpPr>
          <p:cNvPr id="24" name="TextBox 23"/>
          <p:cNvSpPr txBox="1"/>
          <p:nvPr/>
        </p:nvSpPr>
        <p:spPr>
          <a:xfrm>
            <a:off x="5330952" y="3767328"/>
            <a:ext cx="2743200" cy="274320"/>
          </a:xfrm>
          <a:prstGeom prst="rect">
            <a:avLst/>
          </a:prstGeom>
          <a:noFill/>
        </p:spPr>
        <p:txBody>
          <a:bodyPr wrap="square" lIns="0" rIns="0" tIns="0" bIns="0" anchor="t">
            <a:spAutoFit/>
          </a:bodyPr>
          <a:lstStyle/>
          <a:p>
            <a:pPr algn="l"/>
            <a:r>
              <a:rPr sz="1400" b="1" i="0">
                <a:solidFill>
                  <a:srgbClr val="0E1330"/>
                </a:solidFill>
                <a:latin typeface="Calibri"/>
              </a:rPr>
              <a:t>layout overflows</a:t>
            </a:r>
          </a:p>
        </p:txBody>
      </p:sp>
      <p:sp>
        <p:nvSpPr>
          <p:cNvPr id="25" name="TextBox 24"/>
          <p:cNvSpPr txBox="1"/>
          <p:nvPr/>
        </p:nvSpPr>
        <p:spPr>
          <a:xfrm>
            <a:off x="5330952" y="4032504"/>
            <a:ext cx="2743200" cy="274320"/>
          </a:xfrm>
          <a:prstGeom prst="rect">
            <a:avLst/>
          </a:prstGeom>
          <a:noFill/>
        </p:spPr>
        <p:txBody>
          <a:bodyPr wrap="square" lIns="0" rIns="0" tIns="0" bIns="0" anchor="t">
            <a:spAutoFit/>
          </a:bodyPr>
          <a:lstStyle/>
          <a:p>
            <a:pPr algn="l"/>
            <a:r>
              <a:rPr sz="1200" b="0" i="0">
                <a:solidFill>
                  <a:srgbClr val="555B73"/>
                </a:solidFill>
                <a:latin typeface="Calibri"/>
              </a:rPr>
              <a:t>22 pages × 7 screen sizes</a:t>
            </a:r>
          </a:p>
        </p:txBody>
      </p:sp>
      <p:sp>
        <p:nvSpPr>
          <p:cNvPr id="26" name="Rounded Rectangle 25"/>
          <p:cNvSpPr/>
          <p:nvPr/>
        </p:nvSpPr>
        <p:spPr>
          <a:xfrm>
            <a:off x="8366760" y="3054096"/>
            <a:ext cx="3108960" cy="1325880"/>
          </a:xfrm>
          <a:prstGeom prst="roundRect">
            <a:avLst>
              <a:gd name="adj" fmla="val 7000"/>
            </a:avLst>
          </a:prstGeom>
          <a:solidFill>
            <a:srgbClr val="F3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622792" y="3191256"/>
            <a:ext cx="2743200" cy="594360"/>
          </a:xfrm>
          <a:prstGeom prst="rect">
            <a:avLst/>
          </a:prstGeom>
          <a:noFill/>
        </p:spPr>
        <p:txBody>
          <a:bodyPr wrap="square" lIns="0" rIns="0" tIns="0" bIns="0" anchor="t">
            <a:spAutoFit/>
          </a:bodyPr>
          <a:lstStyle/>
          <a:p>
            <a:pPr algn="l"/>
            <a:r>
              <a:rPr sz="3200" b="1" i="0">
                <a:solidFill>
                  <a:srgbClr val="0E1330"/>
                </a:solidFill>
                <a:latin typeface="Georgia"/>
              </a:rPr>
              <a:t>0</a:t>
            </a:r>
          </a:p>
        </p:txBody>
      </p:sp>
      <p:sp>
        <p:nvSpPr>
          <p:cNvPr id="28" name="TextBox 27"/>
          <p:cNvSpPr txBox="1"/>
          <p:nvPr/>
        </p:nvSpPr>
        <p:spPr>
          <a:xfrm>
            <a:off x="8622792" y="3767328"/>
            <a:ext cx="2743200" cy="274320"/>
          </a:xfrm>
          <a:prstGeom prst="rect">
            <a:avLst/>
          </a:prstGeom>
          <a:noFill/>
        </p:spPr>
        <p:txBody>
          <a:bodyPr wrap="square" lIns="0" rIns="0" tIns="0" bIns="0" anchor="t">
            <a:spAutoFit/>
          </a:bodyPr>
          <a:lstStyle/>
          <a:p>
            <a:pPr algn="l"/>
            <a:r>
              <a:rPr sz="1400" b="1" i="0">
                <a:solidFill>
                  <a:srgbClr val="0E1330"/>
                </a:solidFill>
                <a:latin typeface="Calibri"/>
              </a:rPr>
              <a:t>accessibility violations</a:t>
            </a:r>
          </a:p>
        </p:txBody>
      </p:sp>
      <p:sp>
        <p:nvSpPr>
          <p:cNvPr id="29" name="TextBox 28"/>
          <p:cNvSpPr txBox="1"/>
          <p:nvPr/>
        </p:nvSpPr>
        <p:spPr>
          <a:xfrm>
            <a:off x="8622792" y="4032504"/>
            <a:ext cx="2743200" cy="274320"/>
          </a:xfrm>
          <a:prstGeom prst="rect">
            <a:avLst/>
          </a:prstGeom>
          <a:noFill/>
        </p:spPr>
        <p:txBody>
          <a:bodyPr wrap="square" lIns="0" rIns="0" tIns="0" bIns="0" anchor="t">
            <a:spAutoFit/>
          </a:bodyPr>
          <a:lstStyle/>
          <a:p>
            <a:pPr algn="l"/>
            <a:r>
              <a:rPr sz="1200" b="0" i="0">
                <a:solidFill>
                  <a:srgbClr val="555B73"/>
                </a:solidFill>
                <a:latin typeface="Calibri"/>
              </a:rPr>
              <a:t>axe-core, WCAG 2.1 A/AA</a:t>
            </a:r>
          </a:p>
        </p:txBody>
      </p:sp>
      <p:sp>
        <p:nvSpPr>
          <p:cNvPr id="30" name="Rounded Rectangle 29"/>
          <p:cNvSpPr/>
          <p:nvPr/>
        </p:nvSpPr>
        <p:spPr>
          <a:xfrm>
            <a:off x="5074920" y="4617720"/>
            <a:ext cx="6400800" cy="1508760"/>
          </a:xfrm>
          <a:prstGeom prst="roundRect">
            <a:avLst>
              <a:gd name="adj" fmla="val 6000"/>
            </a:avLst>
          </a:prstGeom>
          <a:solidFill>
            <a:srgbClr val="0E1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349240" y="4754880"/>
            <a:ext cx="5943600" cy="292608"/>
          </a:xfrm>
          <a:prstGeom prst="rect">
            <a:avLst/>
          </a:prstGeom>
          <a:noFill/>
        </p:spPr>
        <p:txBody>
          <a:bodyPr wrap="square" lIns="0" rIns="0" tIns="0" bIns="0" anchor="t">
            <a:spAutoFit/>
          </a:bodyPr>
          <a:lstStyle/>
          <a:p>
            <a:pPr algn="l"/>
            <a:r>
              <a:rPr sz="1500" b="1" i="0">
                <a:solidFill>
                  <a:srgbClr val="E9B44C"/>
                </a:solidFill>
                <a:latin typeface="Calibri"/>
              </a:rPr>
              <a:t>What testing found</a:t>
            </a:r>
          </a:p>
        </p:txBody>
      </p:sp>
      <p:sp>
        <p:nvSpPr>
          <p:cNvPr id="32" name="TextBox 31"/>
          <p:cNvSpPr txBox="1"/>
          <p:nvPr/>
        </p:nvSpPr>
        <p:spPr>
          <a:xfrm>
            <a:off x="5349240" y="5102352"/>
            <a:ext cx="5943600" cy="1005840"/>
          </a:xfrm>
          <a:prstGeom prst="rect">
            <a:avLst/>
          </a:prstGeom>
          <a:noFill/>
        </p:spPr>
        <p:txBody>
          <a:bodyPr wrap="square" lIns="0" rIns="0" tIns="0" bIns="0" anchor="t">
            <a:spAutoFit/>
          </a:bodyPr>
          <a:lstStyle/>
          <a:p>
            <a:pPr marL="256032" indent="-256032">
              <a:spcAft>
                <a:spcPts val="400"/>
              </a:spcAft>
              <a:buClr>
                <a:srgbClr val="E9B44C"/>
              </a:buClr>
              <a:buFont typeface="Arial"/>
              <a:buChar char="•"/>
            </a:pPr>
            <a:r>
              <a:rPr sz="1300" b="1">
                <a:solidFill>
                  <a:srgbClr val="FFFFFF"/>
                </a:solidFill>
                <a:latin typeface="Calibri"/>
              </a:rPr>
              <a:t>14 defects found, 13 fixed </a:t>
            </a:r>
            <a:r>
              <a:rPr sz="1300" b="0">
                <a:solidFill>
                  <a:srgbClr val="B9BED3"/>
                </a:solidFill>
                <a:latin typeface="Calibri"/>
              </a:rPr>
              <a:t>— incl. a crashing countdown page and a session-revocation security fault</a:t>
            </a:r>
          </a:p>
          <a:p>
            <a:pPr marL="256032" indent="-256032">
              <a:spcAft>
                <a:spcPts val="400"/>
              </a:spcAft>
              <a:buClr>
                <a:srgbClr val="E9B44C"/>
              </a:buClr>
              <a:buFont typeface="Arial"/>
              <a:buChar char="•"/>
            </a:pPr>
            <a:r>
              <a:rPr sz="1300" b="1">
                <a:solidFill>
                  <a:srgbClr val="FFFFFF"/>
                </a:solidFill>
                <a:latin typeface="Calibri"/>
              </a:rPr>
              <a:t>Not yet tested: </a:t>
            </a:r>
            <a:r>
              <a:rPr sz="1300" b="0">
                <a:solidFill>
                  <a:srgbClr val="B9BED3"/>
                </a:solidFill>
                <a:latin typeface="Calibri"/>
              </a:rPr>
              <a:t>load, realtime with Supabase, other browsers, real users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29768"/>
            <a:ext cx="118872" cy="118872"/>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749808" y="356616"/>
            <a:ext cx="7315200" cy="274320"/>
          </a:xfrm>
          <a:prstGeom prst="rect">
            <a:avLst/>
          </a:prstGeom>
          <a:noFill/>
        </p:spPr>
        <p:txBody>
          <a:bodyPr wrap="square" lIns="0" rIns="0" tIns="0" bIns="0" anchor="t">
            <a:spAutoFit/>
          </a:bodyPr>
          <a:lstStyle/>
          <a:p>
            <a:pPr algn="l"/>
            <a:r>
              <a:rPr sz="1200" b="1" i="0">
                <a:solidFill>
                  <a:srgbClr val="555B73"/>
                </a:solidFill>
                <a:latin typeface="Calibri"/>
              </a:rPr>
              <a:t>OFFICIAL DOCUMENT</a:t>
            </a:r>
          </a:p>
        </p:txBody>
      </p:sp>
      <p:sp>
        <p:nvSpPr>
          <p:cNvPr id="4" name="Title"/>
          <p:cNvSpPr txBox="1"/>
          <p:nvPr/>
        </p:nvSpPr>
        <p:spPr>
          <a:xfrm>
            <a:off x="548640" y="658368"/>
            <a:ext cx="10607040" cy="685800"/>
          </a:xfrm>
          <a:prstGeom prst="rect">
            <a:avLst/>
          </a:prstGeom>
          <a:noFill/>
        </p:spPr>
        <p:txBody>
          <a:bodyPr wrap="square" lIns="0" rIns="0" tIns="0" bIns="0" anchor="t">
            <a:spAutoFit/>
          </a:bodyPr>
          <a:lstStyle/>
          <a:p>
            <a:pPr algn="l"/>
            <a:r>
              <a:rPr sz="3000" b="0" i="0">
                <a:solidFill>
                  <a:srgbClr val="0E1330"/>
                </a:solidFill>
                <a:latin typeface="Georgia"/>
              </a:rPr>
              <a:t>PROJECT COMPLETION LETTER</a:t>
            </a:r>
          </a:p>
        </p:txBody>
      </p:sp>
      <p:pic>
        <p:nvPicPr>
          <p:cNvPr id="5" name="Picture 4" descr="electify-logo.png"/>
          <p:cNvPicPr>
            <a:picLocks noChangeAspect="1"/>
          </p:cNvPicPr>
          <p:nvPr/>
        </p:nvPicPr>
        <p:blipFill>
          <a:blip r:embed="rId2"/>
          <a:stretch>
            <a:fillRect/>
          </a:stretch>
        </p:blipFill>
        <p:spPr>
          <a:xfrm>
            <a:off x="548640" y="6400800"/>
            <a:ext cx="896112" cy="202659"/>
          </a:xfrm>
          <a:prstGeom prst="rect">
            <a:avLst/>
          </a:prstGeom>
        </p:spPr>
      </p:pic>
      <p:sp>
        <p:nvSpPr>
          <p:cNvPr id="6" name="TextBox 5"/>
          <p:cNvSpPr txBox="1"/>
          <p:nvPr/>
        </p:nvSpPr>
        <p:spPr>
          <a:xfrm>
            <a:off x="1572768" y="6391656"/>
            <a:ext cx="5486400" cy="228600"/>
          </a:xfrm>
          <a:prstGeom prst="rect">
            <a:avLst/>
          </a:prstGeom>
          <a:noFill/>
        </p:spPr>
        <p:txBody>
          <a:bodyPr wrap="square" lIns="0" rIns="0" tIns="0" bIns="0" anchor="t">
            <a:spAutoFit/>
          </a:bodyPr>
          <a:lstStyle/>
          <a:p>
            <a:pPr algn="l"/>
            <a:r>
              <a:rPr sz="1000" b="0" i="0">
                <a:solidFill>
                  <a:srgbClr val="555B73"/>
                </a:solidFill>
                <a:latin typeface="Calibri"/>
              </a:rPr>
              <a:t>MCA Project Review · SRM Institute of Science and Technology</a:t>
            </a:r>
          </a:p>
        </p:txBody>
      </p:sp>
      <p:sp>
        <p:nvSpPr>
          <p:cNvPr id="7" name="Slide number"/>
          <p:cNvSpPr txBox="1"/>
          <p:nvPr/>
        </p:nvSpPr>
        <p:spPr>
          <a:xfrm>
            <a:off x="10543032" y="6391656"/>
            <a:ext cx="1097280" cy="228600"/>
          </a:xfrm>
          <a:prstGeom prst="rect">
            <a:avLst/>
          </a:prstGeom>
          <a:noFill/>
        </p:spPr>
        <p:txBody>
          <a:bodyPr wrap="square" lIns="0" rIns="0" tIns="0" bIns="0" anchor="t">
            <a:spAutoFit/>
          </a:bodyPr>
          <a:lstStyle/>
          <a:p>
            <a:pPr algn="r"/>
            <a:r>
              <a:rPr sz="1100" b="0" i="0">
                <a:solidFill>
                  <a:srgbClr val="555B73"/>
                </a:solidFill>
                <a:latin typeface="Calibri"/>
              </a:rPr>
              <a:t>15 / 16</a:t>
            </a:r>
          </a:p>
        </p:txBody>
      </p:sp>
      <p:sp>
        <p:nvSpPr>
          <p:cNvPr id="8" name="Rounded Rectangle 7"/>
          <p:cNvSpPr/>
          <p:nvPr/>
        </p:nvSpPr>
        <p:spPr>
          <a:xfrm>
            <a:off x="3337560" y="1508760"/>
            <a:ext cx="5532120" cy="4663440"/>
          </a:xfrm>
          <a:prstGeom prst="roundRect">
            <a:avLst>
              <a:gd name="adj" fmla="val 3000"/>
            </a:avLst>
          </a:prstGeom>
          <a:solidFill>
            <a:srgbClr val="F3F4F8"/>
          </a:solidFill>
          <a:ln w="15875">
            <a:solidFill>
              <a:srgbClr val="555B7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FileCheck-ink.png"/>
          <p:cNvPicPr>
            <a:picLocks noChangeAspect="1"/>
          </p:cNvPicPr>
          <p:nvPr/>
        </p:nvPicPr>
        <p:blipFill>
          <a:blip r:embed="rId3"/>
          <a:stretch>
            <a:fillRect/>
          </a:stretch>
        </p:blipFill>
        <p:spPr>
          <a:xfrm>
            <a:off x="5779008" y="2423160"/>
            <a:ext cx="640080" cy="640080"/>
          </a:xfrm>
          <a:prstGeom prst="rect">
            <a:avLst/>
          </a:prstGeom>
        </p:spPr>
      </p:pic>
      <p:sp>
        <p:nvSpPr>
          <p:cNvPr id="10" name="TextBox 9"/>
          <p:cNvSpPr txBox="1"/>
          <p:nvPr/>
        </p:nvSpPr>
        <p:spPr>
          <a:xfrm>
            <a:off x="3566160" y="3246120"/>
            <a:ext cx="5074920" cy="457200"/>
          </a:xfrm>
          <a:prstGeom prst="rect">
            <a:avLst/>
          </a:prstGeom>
          <a:noFill/>
        </p:spPr>
        <p:txBody>
          <a:bodyPr wrap="square" lIns="0" rIns="0" tIns="0" bIns="0" anchor="t">
            <a:spAutoFit/>
          </a:bodyPr>
          <a:lstStyle/>
          <a:p>
            <a:pPr algn="ctr"/>
            <a:r>
              <a:rPr sz="1800" b="1" i="0">
                <a:solidFill>
                  <a:srgbClr val="0E1330"/>
                </a:solidFill>
                <a:latin typeface="Calibri"/>
              </a:rPr>
              <a:t>Insert the official Project Completion Letter</a:t>
            </a:r>
          </a:p>
        </p:txBody>
      </p:sp>
      <p:sp>
        <p:nvSpPr>
          <p:cNvPr id="11" name="TextBox 10"/>
          <p:cNvSpPr txBox="1"/>
          <p:nvPr/>
        </p:nvSpPr>
        <p:spPr>
          <a:xfrm>
            <a:off x="3566160" y="3749039"/>
            <a:ext cx="5074920" cy="1188720"/>
          </a:xfrm>
          <a:prstGeom prst="rect">
            <a:avLst/>
          </a:prstGeom>
          <a:noFill/>
        </p:spPr>
        <p:txBody>
          <a:bodyPr wrap="square" lIns="0" rIns="0" tIns="0" bIns="0" anchor="t">
            <a:spAutoFit/>
          </a:bodyPr>
          <a:lstStyle/>
          <a:p>
            <a:pPr algn="ctr">
              <a:lnSpc>
                <a:spcPct val="108000"/>
              </a:lnSpc>
            </a:pPr>
            <a:r>
              <a:rPr sz="1400" b="0" i="0">
                <a:solidFill>
                  <a:srgbClr val="555B73"/>
                </a:solidFill>
                <a:latin typeface="Calibri"/>
              </a:rPr>
              <a:t>Placeholder — the signed and sealed letter issued by the institution goes here, unchanged. It was not available when this deck was built.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330"/>
        </a:solidFill>
        <a:effectLst/>
      </p:bgPr>
    </p:bg>
    <p:spTree>
      <p:nvGrpSpPr>
        <p:cNvPr id="1" name=""/>
        <p:cNvGrpSpPr/>
        <p:nvPr/>
      </p:nvGrpSpPr>
      <p:grpSpPr/>
      <p:sp>
        <p:nvSpPr>
          <p:cNvPr id="2" name="Rounded Rectangle 1"/>
          <p:cNvSpPr/>
          <p:nvPr/>
        </p:nvSpPr>
        <p:spPr>
          <a:xfrm>
            <a:off x="891540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946404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001268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61320" y="14173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109960" y="14173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891540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9464040" y="196596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1001268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056132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1109960" y="196596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915400" y="251460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9464040" y="251460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012680" y="251460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0561320" y="251460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1109960" y="251460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91540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46404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0012680" y="3063240"/>
            <a:ext cx="420624" cy="420624"/>
          </a:xfrm>
          <a:prstGeom prst="roundRect">
            <a:avLst>
              <a:gd name="adj" fmla="val 18000"/>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56132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1109960" y="306324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915400" y="361188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464040" y="361188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0012680" y="361188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561320" y="361188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11109960" y="361188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891540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9464040" y="4160520"/>
            <a:ext cx="420624" cy="4206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1001268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1056132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11109960" y="4160520"/>
            <a:ext cx="420624" cy="420624"/>
          </a:xfrm>
          <a:prstGeom prst="roundRect">
            <a:avLst>
              <a:gd name="adj" fmla="val 18000"/>
            </a:avLst>
          </a:prstGeom>
          <a:solidFill>
            <a:srgbClr val="1B2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electify-logo-reverse.png"/>
          <p:cNvPicPr>
            <a:picLocks noChangeAspect="1"/>
          </p:cNvPicPr>
          <p:nvPr/>
        </p:nvPicPr>
        <p:blipFill>
          <a:blip r:embed="rId2"/>
          <a:stretch>
            <a:fillRect/>
          </a:stretch>
        </p:blipFill>
        <p:spPr>
          <a:xfrm>
            <a:off x="548640" y="713232"/>
            <a:ext cx="1463040" cy="330872"/>
          </a:xfrm>
          <a:prstGeom prst="rect">
            <a:avLst/>
          </a:prstGeom>
        </p:spPr>
      </p:pic>
      <p:sp>
        <p:nvSpPr>
          <p:cNvPr id="33" name="TextBox 32"/>
          <p:cNvSpPr txBox="1"/>
          <p:nvPr/>
        </p:nvSpPr>
        <p:spPr>
          <a:xfrm>
            <a:off x="548640" y="2057400"/>
            <a:ext cx="7772400" cy="1280160"/>
          </a:xfrm>
          <a:prstGeom prst="rect">
            <a:avLst/>
          </a:prstGeom>
          <a:noFill/>
        </p:spPr>
        <p:txBody>
          <a:bodyPr wrap="square" lIns="0" rIns="0" tIns="0" bIns="0" anchor="t">
            <a:spAutoFit/>
          </a:bodyPr>
          <a:lstStyle/>
          <a:p>
            <a:pPr algn="l"/>
            <a:r>
              <a:rPr sz="6600" b="0" i="0">
                <a:solidFill>
                  <a:srgbClr val="FFFFFF"/>
                </a:solidFill>
                <a:latin typeface="Georgia"/>
              </a:rPr>
              <a:t>Thank You</a:t>
            </a:r>
          </a:p>
        </p:txBody>
      </p:sp>
      <p:sp>
        <p:nvSpPr>
          <p:cNvPr id="34" name="TextBox 33"/>
          <p:cNvSpPr txBox="1"/>
          <p:nvPr/>
        </p:nvSpPr>
        <p:spPr>
          <a:xfrm>
            <a:off x="548640" y="3337560"/>
            <a:ext cx="7772400" cy="365760"/>
          </a:xfrm>
          <a:prstGeom prst="rect">
            <a:avLst/>
          </a:prstGeom>
          <a:noFill/>
        </p:spPr>
        <p:txBody>
          <a:bodyPr wrap="square" lIns="0" rIns="0" tIns="0" bIns="0" anchor="t">
            <a:spAutoFit/>
          </a:bodyPr>
          <a:lstStyle/>
          <a:p>
            <a:pPr algn="l"/>
            <a:r>
              <a:rPr sz="1800" b="0" i="1">
                <a:solidFill>
                  <a:srgbClr val="B9BED3"/>
                </a:solidFill>
                <a:latin typeface="Calibri"/>
              </a:rPr>
              <a:t>Questions are welcome.</a:t>
            </a:r>
          </a:p>
        </p:txBody>
      </p:sp>
      <p:sp>
        <p:nvSpPr>
          <p:cNvPr id="35" name="TextBox 34"/>
          <p:cNvSpPr txBox="1"/>
          <p:nvPr/>
        </p:nvSpPr>
        <p:spPr>
          <a:xfrm>
            <a:off x="548640" y="4343400"/>
            <a:ext cx="3566160" cy="256032"/>
          </a:xfrm>
          <a:prstGeom prst="rect">
            <a:avLst/>
          </a:prstGeom>
          <a:noFill/>
        </p:spPr>
        <p:txBody>
          <a:bodyPr wrap="square" lIns="0" rIns="0" tIns="0" bIns="0" anchor="t">
            <a:spAutoFit/>
          </a:bodyPr>
          <a:lstStyle/>
          <a:p>
            <a:pPr algn="l"/>
            <a:r>
              <a:rPr sz="1100" b="1" i="0">
                <a:solidFill>
                  <a:srgbClr val="B9BED3"/>
                </a:solidFill>
                <a:latin typeface="Calibri"/>
              </a:rPr>
              <a:t>STUDENT NAME</a:t>
            </a:r>
          </a:p>
        </p:txBody>
      </p:sp>
      <p:sp>
        <p:nvSpPr>
          <p:cNvPr id="36" name="TextBox 35"/>
          <p:cNvSpPr txBox="1"/>
          <p:nvPr/>
        </p:nvSpPr>
        <p:spPr>
          <a:xfrm>
            <a:off x="548640" y="4617720"/>
            <a:ext cx="3566160" cy="365760"/>
          </a:xfrm>
          <a:prstGeom prst="rect">
            <a:avLst/>
          </a:prstGeom>
          <a:noFill/>
        </p:spPr>
        <p:txBody>
          <a:bodyPr wrap="square" lIns="0" rIns="0" tIns="0" bIns="0" anchor="t">
            <a:spAutoFit/>
          </a:bodyPr>
          <a:lstStyle/>
          <a:p>
            <a:pPr algn="l"/>
            <a:r>
              <a:rPr sz="2000" b="1" i="0">
                <a:solidFill>
                  <a:srgbClr val="FFFFFF"/>
                </a:solidFill>
                <a:latin typeface="Calibri"/>
              </a:rPr>
              <a:t>MATHESHWARAN R</a:t>
            </a:r>
          </a:p>
        </p:txBody>
      </p:sp>
      <p:sp>
        <p:nvSpPr>
          <p:cNvPr id="37" name="TextBox 36"/>
          <p:cNvSpPr txBox="1"/>
          <p:nvPr/>
        </p:nvSpPr>
        <p:spPr>
          <a:xfrm>
            <a:off x="4297680" y="4343400"/>
            <a:ext cx="4206240" cy="256032"/>
          </a:xfrm>
          <a:prstGeom prst="rect">
            <a:avLst/>
          </a:prstGeom>
          <a:noFill/>
        </p:spPr>
        <p:txBody>
          <a:bodyPr wrap="square" lIns="0" rIns="0" tIns="0" bIns="0" anchor="t">
            <a:spAutoFit/>
          </a:bodyPr>
          <a:lstStyle/>
          <a:p>
            <a:pPr algn="l"/>
            <a:r>
              <a:rPr sz="1100" b="1" i="0">
                <a:solidFill>
                  <a:srgbClr val="B9BED3"/>
                </a:solidFill>
                <a:latin typeface="Calibri"/>
              </a:rPr>
              <a:t>REGISTRATION NUMBER</a:t>
            </a:r>
          </a:p>
        </p:txBody>
      </p:sp>
      <p:sp>
        <p:nvSpPr>
          <p:cNvPr id="38" name="TextBox 37"/>
          <p:cNvSpPr txBox="1"/>
          <p:nvPr/>
        </p:nvSpPr>
        <p:spPr>
          <a:xfrm>
            <a:off x="4297680" y="4617720"/>
            <a:ext cx="4206240" cy="365760"/>
          </a:xfrm>
          <a:prstGeom prst="rect">
            <a:avLst/>
          </a:prstGeom>
          <a:noFill/>
        </p:spPr>
        <p:txBody>
          <a:bodyPr wrap="square" lIns="0" rIns="0" tIns="0" bIns="0" anchor="t">
            <a:spAutoFit/>
          </a:bodyPr>
          <a:lstStyle/>
          <a:p>
            <a:pPr algn="l"/>
            <a:r>
              <a:rPr sz="2000" b="1" i="0">
                <a:solidFill>
                  <a:srgbClr val="FFFFFF"/>
                </a:solidFill>
                <a:latin typeface="Calibri"/>
              </a:rPr>
              <a:t>RA2532241010311</a:t>
            </a:r>
          </a:p>
        </p:txBody>
      </p:sp>
      <p:sp>
        <p:nvSpPr>
          <p:cNvPr id="39" name="TextBox 38"/>
          <p:cNvSpPr txBox="1"/>
          <p:nvPr/>
        </p:nvSpPr>
        <p:spPr>
          <a:xfrm>
            <a:off x="548640" y="5897880"/>
            <a:ext cx="8229600" cy="548640"/>
          </a:xfrm>
          <a:prstGeom prst="rect">
            <a:avLst/>
          </a:prstGeom>
          <a:noFill/>
        </p:spPr>
        <p:txBody>
          <a:bodyPr wrap="square" lIns="0" rIns="0" tIns="0" bIns="0" anchor="t">
            <a:spAutoFit/>
          </a:bodyPr>
          <a:lstStyle/>
          <a:p>
            <a:pPr algn="l">
              <a:lnSpc>
                <a:spcPct val="110000"/>
              </a:lnSpc>
            </a:pPr>
            <a:r>
              <a:rPr sz="1200" b="0" i="0">
                <a:solidFill>
                  <a:srgbClr val="B9BED3"/>
                </a:solidFill>
                <a:latin typeface="Calibri"/>
              </a:rPr>
              <a:t>Department of Computer Applications · Faculty of Science and Humanities</a:t>
            </a:r>
          </a:p>
          <a:p>
            <a:pPr algn="l">
              <a:lnSpc>
                <a:spcPct val="110000"/>
              </a:lnSpc>
            </a:pPr>
            <a:r>
              <a:rPr sz="1200" b="0" i="0">
                <a:solidFill>
                  <a:srgbClr val="B9BED3"/>
                </a:solidFill>
                <a:latin typeface="Calibri"/>
              </a:rPr>
              <a:t>SRM Institute of Science and Technology, Kattankulathur – 603 203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ELECTIFY: A REAL - TIME ELECTIVE REGISTRATION SYSTEM WITH TRANSACTIONAL SEAT MANAGEMENT</dc:title>
  <dc:subject>MCA project review presentation</dc:subject>
  <dc:creator>MATHESHWARAN 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