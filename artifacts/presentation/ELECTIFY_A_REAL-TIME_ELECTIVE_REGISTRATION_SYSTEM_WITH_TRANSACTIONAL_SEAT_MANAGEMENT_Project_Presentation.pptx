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2521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 title exactly as approved, yourself, and the guide. Electify is a web application for running elective registration in a department: it enforces seat limits exactly, keeps cohorts and academic years separate, and gives each staff role only the access it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Summarise the abstract: problem, solution, outcome. The numbers are from the test runs of 15 October 2026 on commit bfd9bd8: 136 server-side tests in 18 suites and 36 browser tests, all passing.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Domain: elective registration in a university department. Four roles use the system. The problem matters because of short windows, scarce seats and several cohorts running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Problem statement from Chapter 1.2 of the report. The lost-update anomaly: if an application reads a seat count, checks it and writes a new value in separate steps, two simultaneous requests can both succeed. </a:t>
            </a:r>
            <a:r>
              <a:rPr dirty="0" err="1"/>
              <a:t>Electify</a:t>
            </a:r>
            <a:r>
              <a:rPr dirty="0"/>
              <a:t> must also keep cohorts apart and must not trust values sent by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Objectives are from section 1.3.1 of the report and are verifiable: each maps to tests in Chapter 8. Allocation is first-come within the window; preference-based allocation, integration and notifications are explicitly future work. The system has not been deployed for a live registration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Section 3.1 of the report: where a department has no dedicated system, choices are collected on paper, in a shared spreadsheet, or through a general-purpose form. These work for small classes but fail when demand exceeds capacity, when cohorts share subjects and when students change their minds.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Section 3.2 and Chapter 5–6 of the report. The difference from the existing process: the seat rule is enforced at commit time by the database, not reconstructed afterwards. Realtime seat updates use </a:t>
            </a:r>
            <a:r>
              <a:rPr dirty="0" err="1"/>
              <a:t>Supabase</a:t>
            </a:r>
            <a:r>
              <a:rPr dirty="0"/>
              <a:t> Realtime when it is configured; pages also refresh every 30 seconds, so correctness never depends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Every request passes the edge proxy (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proxy.ts</a:t>
            </a:r>
            <a:r>
              <a:rPr dirty="0"/>
              <a:t>), which verifies the signed session cookie and routes by role. Pages are React Server Components; all changes go through Server Actions that call domain modules in </a:t>
            </a:r>
            <a:r>
              <a:rPr dirty="0" err="1"/>
              <a:t>src</a:t>
            </a:r>
            <a:r>
              <a:rPr dirty="0"/>
              <a:t>/lib. Drizzle ORM talks to PostgreSQL, which holds the row locks and constraints. </a:t>
            </a:r>
            <a:r>
              <a:rPr dirty="0" err="1"/>
              <a:t>Supabase</a:t>
            </a:r>
            <a:r>
              <a:rPr dirty="0"/>
              <a:t> Realtime is optional and only improves freshness.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Versions are those declared in </a:t>
            </a:r>
            <a:r>
              <a:rPr dirty="0" err="1"/>
              <a:t>package.json</a:t>
            </a:r>
            <a:r>
              <a:rPr dirty="0"/>
              <a:t>. Deployment is documented (docs/</a:t>
            </a:r>
            <a:r>
              <a:rPr dirty="0" err="1"/>
              <a:t>deployment.md</a:t>
            </a:r>
            <a:r>
              <a:rPr dirty="0"/>
              <a:t>) but the system has only been run in development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Table 4.4 of the report. A tutor can manage classes from any </a:t>
            </a:r>
            <a:r>
              <a:rPr dirty="0" err="1"/>
              <a:t>programme</a:t>
            </a:r>
            <a:r>
              <a:rPr dirty="0"/>
              <a:t> of their department, up to a limit set by the administrator (ten by default). The root administrator account cannot be deleted, deactivated or demoted. All roles share the same server core in </a:t>
            </a:r>
            <a:r>
              <a:rPr dirty="0" err="1"/>
              <a:t>src</a:t>
            </a:r>
            <a:r>
              <a:rPr dirty="0"/>
              <a:t>/lib.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registerElectives</a:t>
            </a:r>
            <a:r>
              <a:rPr dirty="0"/>
              <a:t> in </a:t>
            </a:r>
            <a:r>
              <a:rPr dirty="0" err="1"/>
              <a:t>src</a:t>
            </a:r>
            <a:r>
              <a:rPr dirty="0"/>
              <a:t>/app/actions/</a:t>
            </a:r>
            <a:r>
              <a:rPr dirty="0" err="1"/>
              <a:t>register.ts</a:t>
            </a:r>
            <a:r>
              <a:rPr dirty="0"/>
              <a:t>. Cheap checks happen first without locks. Inside the transaction the registration row and the chosen subjects are locked in a fixed order, so two transactions can never deadlock. </a:t>
            </a:r>
            <a:r>
              <a:rPr dirty="0" err="1"/>
              <a:t>takeSeat</a:t>
            </a:r>
            <a:r>
              <a:rPr dirty="0"/>
              <a:t> applies the subject capacity and any class quota. If any step fails the whole transaction rolls back. Changes take the new seat before releasing the old one; cancellations keep the record and return the seat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Simplified from </a:t>
            </a:r>
            <a:r>
              <a:rPr dirty="0" err="1"/>
              <a:t>src</a:t>
            </a:r>
            <a:r>
              <a:rPr dirty="0"/>
              <a:t>/lib/</a:t>
            </a:r>
            <a:r>
              <a:rPr dirty="0" err="1"/>
              <a:t>db</a:t>
            </a:r>
            <a:r>
              <a:rPr dirty="0"/>
              <a:t>/</a:t>
            </a:r>
            <a:r>
              <a:rPr dirty="0" err="1"/>
              <a:t>schema.ts</a:t>
            </a:r>
            <a:r>
              <a:rPr dirty="0"/>
              <a:t> (about 25 tables in total; login attempts, invite codes, audit logs, templates and subject profiles are omitted here). A cohort is a </a:t>
            </a:r>
            <a:r>
              <a:rPr dirty="0" err="1"/>
              <a:t>programme</a:t>
            </a:r>
            <a:r>
              <a:rPr dirty="0"/>
              <a:t> plus admission year; a class is a section of it; a Year Server links cohorts to an academic year with their study year and semester.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Each item is implemented: lib/</a:t>
            </a:r>
            <a:r>
              <a:rPr dirty="0" err="1"/>
              <a:t>auth.ts</a:t>
            </a:r>
            <a:r>
              <a:rPr dirty="0"/>
              <a:t>, lib/password-</a:t>
            </a:r>
            <a:r>
              <a:rPr dirty="0" err="1"/>
              <a:t>policy.ts</a:t>
            </a:r>
            <a:r>
              <a:rPr dirty="0"/>
              <a:t>, lib/</a:t>
            </a:r>
            <a:r>
              <a:rPr dirty="0" err="1"/>
              <a:t>workspace.ts</a:t>
            </a:r>
            <a:r>
              <a:rPr dirty="0"/>
              <a:t>, actions/</a:t>
            </a:r>
            <a:r>
              <a:rPr dirty="0" err="1"/>
              <a:t>register.ts</a:t>
            </a:r>
            <a:r>
              <a:rPr dirty="0"/>
              <a:t>. A revoked or replaced session is rejected on the next request and the user is sent to sign in. Root-administrator protection prevents deleting, deactivating or demoting the root account. The NIST gap is stated in section 4.6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All numbers come from the recorded runs (evidence in documentation/final-report/work/evidence). Screenshots show fictional demonstration data. Concurrency tests start several registrations at once for the last seat: exactly one succeeds. The one open defect (D7) is a reduced-motion hydration warning on the sign-in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Close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0" Type="http://schemas.openxmlformats.org/officeDocument/2006/relationships/image" Target="../media/image24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16.png"/><Relationship Id="rId5" Type="http://schemas.openxmlformats.org/officeDocument/2006/relationships/image" Target="../media/image28.png"/><Relationship Id="rId10" Type="http://schemas.openxmlformats.org/officeDocument/2006/relationships/image" Target="../media/image32.png"/><Relationship Id="rId4" Type="http://schemas.openxmlformats.org/officeDocument/2006/relationships/image" Target="../media/image30.png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r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35" y="566928"/>
            <a:ext cx="1776864" cy="621792"/>
          </a:xfrm>
          <a:prstGeom prst="rect">
            <a:avLst/>
          </a:prstGeom>
        </p:spPr>
      </p:pic>
      <p:pic>
        <p:nvPicPr>
          <p:cNvPr id="4" name="Picture 3" descr="electify-logo-rever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713232"/>
            <a:ext cx="1463040" cy="3308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600200"/>
            <a:ext cx="7498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9B44C"/>
                </a:solidFill>
                <a:latin typeface="Calibri"/>
              </a:rPr>
              <a:t>MCA PROJECT REVIEW</a:t>
            </a:r>
          </a:p>
        </p:txBody>
      </p:sp>
      <p:sp>
        <p:nvSpPr>
          <p:cNvPr id="6" name="Project title"/>
          <p:cNvSpPr txBox="1"/>
          <p:nvPr/>
        </p:nvSpPr>
        <p:spPr>
          <a:xfrm>
            <a:off x="548640" y="1965960"/>
            <a:ext cx="758952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0" i="0">
                <a:solidFill>
                  <a:srgbClr val="FFFFFF"/>
                </a:solidFill>
                <a:latin typeface="Georgia"/>
              </a:rPr>
              <a:t>ELECTIFY: A REAL - TIME ELECTIVE REGISTRATION SYSTEM WITH TRANSACTIONAL SEAT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9BED3"/>
                </a:solidFill>
                <a:latin typeface="Calibri"/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177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MATHESHWARAN 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8348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B9BED3"/>
                </a:solidFill>
                <a:latin typeface="Calibri"/>
              </a:rPr>
              <a:t>Register No. RA2532241010311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434340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9BED3"/>
                </a:solidFill>
                <a:latin typeface="Calibri"/>
              </a:rPr>
              <a:t>UNDER THE GUIDANCE 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46177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Dr. V. NISHA, M.Sc., M.Phil., Ph.D.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98348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B9BED3"/>
                </a:solidFill>
                <a:latin typeface="Calibri"/>
              </a:rPr>
              <a:t>Assistant Professor, Department of Computer 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B9BED3"/>
                </a:solidFill>
                <a:latin typeface="Calibri"/>
              </a:rPr>
              <a:t>Department of Computer Applications · Faculty of Science and Humanities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B9BED3"/>
                </a:solidFill>
                <a:latin typeface="Calibri"/>
              </a:rPr>
              <a:t>SRM Institute of Science and Technology, Kattankulathur – 603 203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417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464040" y="1417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12680" y="1417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61320" y="1417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1109960" y="1417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915400" y="196596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464040" y="196596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12680" y="196596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61320" y="196596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1109960" y="196596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915400" y="251460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464040" y="251460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012680" y="251460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61320" y="251460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1109960" y="251460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915400" y="306324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464040" y="306324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012680" y="306324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61320" y="306324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1109960" y="306324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915400" y="361188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464040" y="361188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0012680" y="361188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561320" y="361188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1109960" y="361188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915400" y="41605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464040" y="41605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012680" y="41605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561320" y="41605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1109960" y="41605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915400" y="480060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B9BED3"/>
                </a:solidFill>
                <a:latin typeface="Calibri"/>
              </a:rPr>
              <a:t>One seat, one student — confirmed in a single database transaction.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29768"/>
            <a:ext cx="118872" cy="118872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Kicker"/>
          <p:cNvSpPr txBox="1"/>
          <p:nvPr/>
        </p:nvSpPr>
        <p:spPr>
          <a:xfrm>
            <a:off x="749808" y="3566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ABSTRACT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0E1330"/>
                </a:solidFill>
                <a:latin typeface="Georgia"/>
              </a:rPr>
              <a:t>Fair, exact elective registration for a whole department</a:t>
            </a:r>
          </a:p>
        </p:txBody>
      </p:sp>
      <p:pic>
        <p:nvPicPr>
          <p:cNvPr id="5" name="Picture 4" descr="electif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896112" cy="2026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2768" y="639165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5B73"/>
                </a:solidFill>
                <a:latin typeface="Calibri"/>
              </a:rPr>
              <a:t>MCA Project Review · SRM Institute of Science and Technology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543032" y="639165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55B73"/>
                </a:solidFill>
                <a:latin typeface="Calibri"/>
              </a:rPr>
              <a:t>02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474720" cy="3063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874519"/>
            <a:ext cx="566928" cy="566928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riangleAlert-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742" y="2010582"/>
            <a:ext cx="294802" cy="2948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26060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E1330"/>
                </a:solidFill>
                <a:latin typeface="Calibri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28803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555B73"/>
                </a:solidFill>
                <a:latin typeface="Calibri"/>
              </a:rPr>
              <a:t>Seats are limited and the window is short. Forms and spreadsheets cannot enforce a seat limit at the moment of choice, and several cohorts run at once.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600200"/>
            <a:ext cx="3474720" cy="3063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4617719" y="1874519"/>
            <a:ext cx="566928" cy="566928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Workflow-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3782" y="2010582"/>
            <a:ext cx="294802" cy="29480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17719" y="26060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E1330"/>
                </a:solidFill>
                <a:latin typeface="Calibri"/>
              </a:rPr>
              <a:t>The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19" y="3063240"/>
            <a:ext cx="28803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555B73"/>
                </a:solidFill>
                <a:latin typeface="Calibri"/>
              </a:rPr>
              <a:t>A web application in which every registration, change and cancellation is one PostgreSQL transaction that locks the subject rows and applies capacity and class quotas.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600200"/>
            <a:ext cx="3474720" cy="306324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66759" y="1874519"/>
            <a:ext cx="566928" cy="566928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ircleCheck-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2822" y="2010582"/>
            <a:ext cx="294802" cy="29480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66759" y="26060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E1330"/>
                </a:solidFill>
                <a:latin typeface="Calibri"/>
              </a:rPr>
              <a:t>Verified 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3063240"/>
            <a:ext cx="28803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555B73"/>
                </a:solidFill>
                <a:latin typeface="Calibri"/>
              </a:rPr>
              <a:t>136/136 server-side tests and 36/36 browser tests pass; 0 layout overflows at 7 screen sizes; 0 automated accessibility violations (runs of 15 Oct 2026).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0E1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98348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E9B44C"/>
                </a:solidFill>
                <a:latin typeface="Calibri"/>
              </a:rPr>
              <a:t>Objectives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98348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Exact seat limits  ·  cohort and Year Server isolation  ·  scoped staff roles  ·  auditable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52160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55B73"/>
                </a:solidFill>
                <a:latin typeface="Calibri"/>
              </a:rPr>
              <a:t>Built with  Next.js 16 · React 19 · TypeScript · Drizzle ORM · PostgreSQL · optional Supabase Realtime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29768"/>
            <a:ext cx="118872" cy="118872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Kicker"/>
          <p:cNvSpPr txBox="1"/>
          <p:nvPr/>
        </p:nvSpPr>
        <p:spPr>
          <a:xfrm>
            <a:off x="749808" y="3566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INTRODUCTION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0E1330"/>
                </a:solidFill>
                <a:latin typeface="Georgia"/>
              </a:rPr>
              <a:t>What Electify is and who uses it</a:t>
            </a:r>
          </a:p>
        </p:txBody>
      </p:sp>
      <p:pic>
        <p:nvPicPr>
          <p:cNvPr id="5" name="Picture 4" descr="electif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896112" cy="2026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2768" y="639165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5B73"/>
                </a:solidFill>
                <a:latin typeface="Calibri"/>
              </a:rPr>
              <a:t>MCA Project Review · SRM Institute of Science and Technology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543032" y="639165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55B73"/>
                </a:solidFill>
                <a:latin typeface="Calibri"/>
              </a:rPr>
              <a:t>03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1206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600" b="0" i="0">
                <a:solidFill>
                  <a:srgbClr val="555B73"/>
                </a:solidFill>
                <a:latin typeface="Calibri"/>
              </a:rPr>
              <a:t>Electives let students shape part of their programme. Each semester, every class picks a subject from baskets such as Professional Elective I and Open Elective I, and each subject has a fixed number of seats.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600" b="0" i="0">
                <a:solidFill>
                  <a:srgbClr val="555B73"/>
                </a:solidFill>
                <a:latin typeface="Calibri"/>
              </a:rPr>
              <a:t>Electify runs that exercise on the department's own web application: the window, the seats, the choices and the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6355080" y="1773936"/>
            <a:ext cx="566928" cy="566928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Building2-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142" y="1909998"/>
            <a:ext cx="294802" cy="294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32320" y="1728216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E1330"/>
                </a:solidFill>
                <a:latin typeface="Calibri"/>
              </a:rPr>
              <a:t>System administrator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075688"/>
            <a:ext cx="4343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55B73"/>
                </a:solidFill>
                <a:latin typeface="Calibri"/>
              </a:rPr>
              <a:t>Year Servers, departments, staff accounts, audit 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679191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5080" y="2852927"/>
            <a:ext cx="566928" cy="566928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UserCog-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1142" y="2988990"/>
            <a:ext cx="294802" cy="2948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32320" y="2807208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E1330"/>
                </a:solidFill>
                <a:latin typeface="Calibri"/>
              </a:rPr>
              <a:t>Course coordinator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154679"/>
            <a:ext cx="4343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55B73"/>
                </a:solidFill>
                <a:latin typeface="Calibri"/>
              </a:rPr>
              <a:t>Events, baskets, subjects, class quotas, reports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758183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55080" y="3931920"/>
            <a:ext cx="566928" cy="566928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Users-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1142" y="4067982"/>
            <a:ext cx="294802" cy="29480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32320" y="3886199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E1330"/>
                </a:solidFill>
                <a:latin typeface="Calibri"/>
              </a:rPr>
              <a:t>Class tutor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233671"/>
            <a:ext cx="4343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55B73"/>
                </a:solidFill>
                <a:latin typeface="Calibri"/>
              </a:rPr>
              <a:t>Class roster, signup codes, live window, password resets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837176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55080" y="5010912"/>
            <a:ext cx="566928" cy="566928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GraduationCap-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1142" y="5146974"/>
            <a:ext cx="294802" cy="29480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132320" y="4965192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E1330"/>
                </a:solidFill>
                <a:latin typeface="Calibri"/>
              </a:rPr>
              <a:t>Student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312664"/>
            <a:ext cx="4343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55B73"/>
                </a:solidFill>
                <a:latin typeface="Calibri"/>
              </a:rPr>
              <a:t>Explores subjects, registers, changes or cancels, receipt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977639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41605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E1330"/>
                </a:solidFill>
                <a:latin typeface="Calibri"/>
              </a:rPr>
              <a:t>Why it matters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553712"/>
            <a:ext cx="466344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400"/>
              </a:spcAft>
              <a:buClr>
                <a:srgbClr val="E9B44C"/>
              </a:buClr>
              <a:buFont typeface="Arial"/>
              <a:buChar char="•"/>
            </a:pPr>
            <a:r>
              <a:rPr sz="1500" b="0">
                <a:solidFill>
                  <a:srgbClr val="0E1330"/>
                </a:solidFill>
                <a:latin typeface="Calibri"/>
              </a:rPr>
              <a:t>Most students act in the first minutes; popular subjects fill fast</a:t>
            </a:r>
          </a:p>
          <a:p>
            <a:pPr marL="256032" indent="-256032">
              <a:spcAft>
                <a:spcPts val="400"/>
              </a:spcAft>
              <a:buClr>
                <a:srgbClr val="E9B44C"/>
              </a:buClr>
              <a:buFont typeface="Arial"/>
              <a:buChar char="•"/>
            </a:pPr>
            <a:r>
              <a:rPr sz="1500" b="0">
                <a:solidFill>
                  <a:srgbClr val="0E1330"/>
                </a:solidFill>
                <a:latin typeface="Calibri"/>
              </a:rPr>
              <a:t>A seat promised twice means one student is moved later</a:t>
            </a:r>
          </a:p>
          <a:p>
            <a:pPr marL="256032" indent="-256032">
              <a:spcAft>
                <a:spcPts val="400"/>
              </a:spcAft>
              <a:buClr>
                <a:srgbClr val="E9B44C"/>
              </a:buClr>
              <a:buFont typeface="Arial"/>
              <a:buChar char="•"/>
            </a:pPr>
            <a:r>
              <a:rPr sz="1500" b="0">
                <a:solidFill>
                  <a:srgbClr val="0E1330"/>
                </a:solidFill>
                <a:latin typeface="Calibri"/>
              </a:rPr>
              <a:t>Two cohorts can share a class name such as MCA 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29768"/>
            <a:ext cx="118872" cy="118872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Kicker"/>
          <p:cNvSpPr txBox="1"/>
          <p:nvPr/>
        </p:nvSpPr>
        <p:spPr>
          <a:xfrm>
            <a:off x="749808" y="3566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0E1330"/>
                </a:solidFill>
                <a:latin typeface="Georgia"/>
              </a:rPr>
              <a:t>Read, check, write: how a simple form overbooks a subject</a:t>
            </a:r>
          </a:p>
        </p:txBody>
      </p:sp>
      <p:pic>
        <p:nvPicPr>
          <p:cNvPr id="5" name="Picture 4" descr="electif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896112" cy="2026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2768" y="639165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5B73"/>
                </a:solidFill>
                <a:latin typeface="Calibri"/>
              </a:rPr>
              <a:t>MCA Project Review · SRM Institute of Science and Technology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543032" y="639165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55B73"/>
                </a:solidFill>
                <a:latin typeface="Calibri"/>
              </a:rPr>
              <a:t>04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E1330"/>
                </a:solidFill>
                <a:latin typeface="Calibri"/>
              </a:rPr>
              <a:t>Two students submit at the same moment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1417320" cy="1051560"/>
          </a:xfrm>
          <a:prstGeom prst="roundRect">
            <a:avLst>
              <a:gd name="adj" fmla="val 10000"/>
            </a:avLst>
          </a:prstGeom>
          <a:solidFill>
            <a:srgbClr val="0E1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4173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Student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121408"/>
            <a:ext cx="1143000" cy="82296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0" y="2121408"/>
            <a:ext cx="11430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0E1330"/>
                </a:solidFill>
                <a:latin typeface="Calibri"/>
              </a:rPr>
              <a:t>reads
1 seat left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93392" y="2532888"/>
            <a:ext cx="265176" cy="0"/>
          </a:xfrm>
          <a:prstGeom prst="line">
            <a:avLst/>
          </a:prstGeom>
          <a:ln w="19050">
            <a:solidFill>
              <a:srgbClr val="555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57600" y="2121408"/>
            <a:ext cx="1143000" cy="82296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2121408"/>
            <a:ext cx="11430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0E1330"/>
                </a:solidFill>
                <a:latin typeface="Calibri"/>
              </a:rPr>
              <a:t>check
passes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83280" y="2532888"/>
            <a:ext cx="246888" cy="0"/>
          </a:xfrm>
          <a:prstGeom prst="line">
            <a:avLst/>
          </a:prstGeom>
          <a:ln w="19050">
            <a:solidFill>
              <a:srgbClr val="555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0" y="2121408"/>
            <a:ext cx="1143000" cy="82296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2121408"/>
            <a:ext cx="11430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0E1330"/>
                </a:solidFill>
                <a:latin typeface="Calibri"/>
              </a:rPr>
              <a:t>writes
0 seats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54880" y="2532888"/>
            <a:ext cx="246888" cy="0"/>
          </a:xfrm>
          <a:prstGeom prst="line">
            <a:avLst/>
          </a:prstGeom>
          <a:ln w="19050">
            <a:solidFill>
              <a:srgbClr val="555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8640" y="3429000"/>
            <a:ext cx="1417320" cy="1051560"/>
          </a:xfrm>
          <a:prstGeom prst="roundRect">
            <a:avLst>
              <a:gd name="adj" fmla="val 10000"/>
            </a:avLst>
          </a:prstGeom>
          <a:solidFill>
            <a:srgbClr val="0E1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14173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Student 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3538728"/>
            <a:ext cx="1143000" cy="82296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86000" y="3538728"/>
            <a:ext cx="11430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0E1330"/>
                </a:solidFill>
                <a:latin typeface="Calibri"/>
              </a:rPr>
              <a:t>reads
1 seat left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993392" y="3950208"/>
            <a:ext cx="265176" cy="0"/>
          </a:xfrm>
          <a:prstGeom prst="line">
            <a:avLst/>
          </a:prstGeom>
          <a:ln w="19050">
            <a:solidFill>
              <a:srgbClr val="555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657600" y="3538728"/>
            <a:ext cx="1143000" cy="82296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0" y="3538728"/>
            <a:ext cx="11430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0E1330"/>
                </a:solidFill>
                <a:latin typeface="Calibri"/>
              </a:rPr>
              <a:t>check
passes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383280" y="3950208"/>
            <a:ext cx="246888" cy="0"/>
          </a:xfrm>
          <a:prstGeom prst="line">
            <a:avLst/>
          </a:prstGeom>
          <a:ln w="19050">
            <a:solidFill>
              <a:srgbClr val="555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029200" y="3538728"/>
            <a:ext cx="1143000" cy="82296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0" y="3538728"/>
            <a:ext cx="11430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0E1330"/>
                </a:solidFill>
                <a:latin typeface="Calibri"/>
              </a:rPr>
              <a:t>writes
0 seats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754880" y="3950208"/>
            <a:ext cx="246888" cy="0"/>
          </a:xfrm>
          <a:prstGeom prst="line">
            <a:avLst/>
          </a:prstGeom>
          <a:ln w="19050">
            <a:solidFill>
              <a:srgbClr val="555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48640" y="4892040"/>
            <a:ext cx="5897880" cy="731520"/>
          </a:xfrm>
          <a:prstGeom prst="roundRect">
            <a:avLst>
              <a:gd name="adj" fmla="val 10000"/>
            </a:avLst>
          </a:prstGeom>
          <a:solidFill>
            <a:srgbClr val="FC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2" name="Picture 31" descr="CircleX-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056632"/>
            <a:ext cx="402336" cy="40233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98448" y="489204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B4413A"/>
                </a:solidFill>
                <a:latin typeface="Calibri"/>
              </a:rPr>
              <a:t>Both are confirmed. </a:t>
            </a:r>
            <a:r>
              <a:rPr sz="1500" b="0" i="0">
                <a:solidFill>
                  <a:srgbClr val="0E1330"/>
                </a:solidFill>
                <a:latin typeface="Calibri"/>
              </a:rPr>
              <a:t>One seat, two students: the classic lost update.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15544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E1330"/>
                </a:solidFill>
                <a:latin typeface="Calibri"/>
              </a:rPr>
              <a:t>Gaps in the current process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1965960"/>
            <a:ext cx="470916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900"/>
              </a:spcAft>
              <a:buClr>
                <a:srgbClr val="E9B44C"/>
              </a:buClr>
              <a:buFont typeface="Arial"/>
              <a:buChar char="•"/>
            </a:pPr>
            <a:r>
              <a:rPr sz="1600" b="0">
                <a:solidFill>
                  <a:srgbClr val="0E1330"/>
                </a:solidFill>
                <a:latin typeface="Calibri"/>
              </a:rPr>
              <a:t>Seat limits are not enforced when the choice is made</a:t>
            </a:r>
          </a:p>
          <a:p>
            <a:pPr marL="256032" indent="-256032">
              <a:spcAft>
                <a:spcPts val="900"/>
              </a:spcAft>
              <a:buClr>
                <a:srgbClr val="E9B44C"/>
              </a:buClr>
              <a:buFont typeface="Arial"/>
              <a:buChar char="•"/>
            </a:pPr>
            <a:r>
              <a:rPr sz="1600" b="0">
                <a:solidFill>
                  <a:srgbClr val="0E1330"/>
                </a:solidFill>
                <a:latin typeface="Calibri"/>
              </a:rPr>
              <a:t>Allocation is reconstructed later by staff, by hand</a:t>
            </a:r>
          </a:p>
          <a:p>
            <a:pPr marL="256032" indent="-256032">
              <a:spcAft>
                <a:spcPts val="900"/>
              </a:spcAft>
              <a:buClr>
                <a:srgbClr val="E9B44C"/>
              </a:buClr>
              <a:buFont typeface="Arial"/>
              <a:buChar char="•"/>
            </a:pPr>
            <a:r>
              <a:rPr sz="1600" b="0">
                <a:solidFill>
                  <a:srgbClr val="0E1330"/>
                </a:solidFill>
                <a:latin typeface="Calibri"/>
              </a:rPr>
              <a:t>Students cannot see remaining seats; staff cannot see progress</a:t>
            </a:r>
          </a:p>
          <a:p>
            <a:pPr marL="256032" indent="-256032">
              <a:spcAft>
                <a:spcPts val="900"/>
              </a:spcAft>
              <a:buClr>
                <a:srgbClr val="E9B44C"/>
              </a:buClr>
              <a:buFont typeface="Arial"/>
              <a:buChar char="•"/>
            </a:pPr>
            <a:r>
              <a:rPr sz="1600" b="0">
                <a:solidFill>
                  <a:srgbClr val="0E1330"/>
                </a:solidFill>
                <a:latin typeface="Calibri"/>
              </a:rPr>
              <a:t>Batches with the same class name can be mixed</a:t>
            </a:r>
          </a:p>
          <a:p>
            <a:pPr marL="256032" indent="-256032">
              <a:spcAft>
                <a:spcPts val="900"/>
              </a:spcAft>
              <a:buClr>
                <a:srgbClr val="E9B44C"/>
              </a:buClr>
              <a:buFont typeface="Arial"/>
              <a:buChar char="•"/>
            </a:pPr>
            <a:r>
              <a:rPr sz="1600" b="0">
                <a:solidFill>
                  <a:srgbClr val="0E1330"/>
                </a:solidFill>
                <a:latin typeface="Calibri"/>
              </a:rPr>
              <a:t>A browser value (such as a class cookie) must never widen access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4892040"/>
            <a:ext cx="4709160" cy="731520"/>
          </a:xfrm>
          <a:prstGeom prst="roundRect">
            <a:avLst>
              <a:gd name="adj" fmla="val 10000"/>
            </a:avLst>
          </a:prstGeom>
          <a:solidFill>
            <a:srgbClr val="0E1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0" y="489204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Needed: enforce capacity at commit time, isolate cohorts, scope every staff 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29768"/>
            <a:ext cx="118872" cy="118872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Kicker"/>
          <p:cNvSpPr txBox="1"/>
          <p:nvPr/>
        </p:nvSpPr>
        <p:spPr>
          <a:xfrm>
            <a:off x="749808" y="3566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OBJECTIVES AND SCOPE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0E1330"/>
                </a:solidFill>
                <a:latin typeface="Georgia"/>
              </a:rPr>
              <a:t>What the project set out to deliver</a:t>
            </a:r>
          </a:p>
        </p:txBody>
      </p:sp>
      <p:pic>
        <p:nvPicPr>
          <p:cNvPr id="5" name="Picture 4" descr="electif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896112" cy="2026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2768" y="639165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5B73"/>
                </a:solidFill>
                <a:latin typeface="Calibri"/>
              </a:rPr>
              <a:t>MCA Project Review · SRM Institute of Science and Technology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543032" y="639165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55B73"/>
                </a:solidFill>
                <a:latin typeface="Calibri"/>
              </a:rPr>
              <a:t>05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E1330"/>
                </a:solidFill>
                <a:latin typeface="Calibri"/>
              </a:rPr>
              <a:t>Core objectives — all implemented and verified</a:t>
            </a:r>
          </a:p>
        </p:txBody>
      </p:sp>
      <p:pic>
        <p:nvPicPr>
          <p:cNvPr id="9" name="Picture 8" descr="Armchair-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975104"/>
            <a:ext cx="329184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" y="1920240"/>
            <a:ext cx="6355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0E1330"/>
                </a:solidFill>
                <a:latin typeface="Calibri"/>
              </a:rPr>
              <a:t>Never exceed a subject's capacity or a class quota, even under simultaneous submissions</a:t>
            </a:r>
          </a:p>
        </p:txBody>
      </p:sp>
      <p:pic>
        <p:nvPicPr>
          <p:cNvPr id="11" name="Picture 10" descr="Layers-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578608"/>
            <a:ext cx="329184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1560" y="2523744"/>
            <a:ext cx="6355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0E1330"/>
                </a:solidFill>
                <a:latin typeface="Calibri"/>
              </a:rPr>
              <a:t>Model faculties → programmes → cohorts → classes; one Year Server per academic year</a:t>
            </a:r>
          </a:p>
        </p:txBody>
      </p:sp>
      <p:pic>
        <p:nvPicPr>
          <p:cNvPr id="13" name="Picture 12" descr="Ticket-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182112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51560" y="3127248"/>
            <a:ext cx="6355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0E1330"/>
                </a:solidFill>
                <a:latin typeface="Calibri"/>
              </a:rPr>
              <a:t>Onboard students only through a tutor-issued class signup code</a:t>
            </a:r>
          </a:p>
        </p:txBody>
      </p:sp>
      <p:pic>
        <p:nvPicPr>
          <p:cNvPr id="15" name="Picture 14" descr="Timer-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3785615"/>
            <a:ext cx="329184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1560" y="3730752"/>
            <a:ext cx="6355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0E1330"/>
                </a:solidFill>
                <a:latin typeface="Calibri"/>
              </a:rPr>
              <a:t>Enforce the registration window on the server clock</a:t>
            </a:r>
          </a:p>
        </p:txBody>
      </p:sp>
      <p:pic>
        <p:nvPicPr>
          <p:cNvPr id="17" name="Picture 16" descr="ScrollText-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4389120"/>
            <a:ext cx="329184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51560" y="4334256"/>
            <a:ext cx="6355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0E1330"/>
                </a:solidFill>
                <a:latin typeface="Calibri"/>
              </a:rPr>
              <a:t>Issue a numbered receipt; keep an audit log and a registration replay</a:t>
            </a:r>
          </a:p>
        </p:txBody>
      </p:sp>
      <p:pic>
        <p:nvPicPr>
          <p:cNvPr id="19" name="Picture 18" descr="ShieldCheck-in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4992624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51560" y="4937760"/>
            <a:ext cx="6355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0E1330"/>
                </a:solidFill>
                <a:latin typeface="Calibri"/>
              </a:rPr>
              <a:t>Limit every staff action to the classes the role and assignments allow</a:t>
            </a:r>
          </a:p>
        </p:txBody>
      </p:sp>
      <p:pic>
        <p:nvPicPr>
          <p:cNvPr id="21" name="Picture 20" descr="TestTubeDiagonal-in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" y="5596128"/>
            <a:ext cx="329184" cy="3291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1560" y="5541264"/>
            <a:ext cx="6355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0E1330"/>
                </a:solidFill>
                <a:latin typeface="Calibri"/>
              </a:rPr>
              <a:t>Verify with automated tests against a real PostgreSQL database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1508760"/>
            <a:ext cx="3794760" cy="22402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92440" y="16916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E1330"/>
                </a:solidFill>
                <a:latin typeface="Calibri"/>
              </a:rPr>
              <a:t>In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057400"/>
            <a:ext cx="33375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300"/>
              </a:spcAft>
              <a:buClr>
                <a:srgbClr val="E9B44C"/>
              </a:buClr>
              <a:buFont typeface="Arial"/>
              <a:buChar char="•"/>
            </a:pPr>
            <a:r>
              <a:rPr sz="1400" b="0">
                <a:solidFill>
                  <a:srgbClr val="0E1330"/>
                </a:solidFill>
                <a:latin typeface="Calibri"/>
              </a:rPr>
              <a:t>Four roles, one department workflow</a:t>
            </a:r>
          </a:p>
          <a:p>
            <a:pPr marL="256032" indent="-256032">
              <a:spcAft>
                <a:spcPts val="300"/>
              </a:spcAft>
              <a:buClr>
                <a:srgbClr val="E9B44C"/>
              </a:buClr>
              <a:buFont typeface="Arial"/>
              <a:buChar char="•"/>
            </a:pPr>
            <a:r>
              <a:rPr sz="1400" b="0">
                <a:solidFill>
                  <a:srgbClr val="0E1330"/>
                </a:solidFill>
                <a:latin typeface="Calibri"/>
              </a:rPr>
              <a:t>Year Servers and cohort isolation</a:t>
            </a:r>
          </a:p>
          <a:p>
            <a:pPr marL="256032" indent="-256032">
              <a:spcAft>
                <a:spcPts val="300"/>
              </a:spcAft>
              <a:buClr>
                <a:srgbClr val="E9B44C"/>
              </a:buClr>
              <a:buFont typeface="Arial"/>
              <a:buChar char="•"/>
            </a:pPr>
            <a:r>
              <a:rPr sz="1400" b="0">
                <a:solidFill>
                  <a:srgbClr val="0E1330"/>
                </a:solidFill>
                <a:latin typeface="Calibri"/>
              </a:rPr>
              <a:t>Live monitoring, reports, replay</a:t>
            </a:r>
          </a:p>
          <a:p>
            <a:pPr marL="256032" indent="-256032">
              <a:spcAft>
                <a:spcPts val="300"/>
              </a:spcAft>
              <a:buClr>
                <a:srgbClr val="E9B44C"/>
              </a:buClr>
              <a:buFont typeface="Arial"/>
              <a:buChar char="•"/>
            </a:pPr>
            <a:r>
              <a:rPr sz="1400" b="0">
                <a:solidFill>
                  <a:srgbClr val="0E1330"/>
                </a:solidFill>
                <a:latin typeface="Calibri"/>
              </a:rPr>
              <a:t>Subject explorer with seat counts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3931920"/>
            <a:ext cx="3794760" cy="2148840"/>
          </a:xfrm>
          <a:prstGeom prst="roundRect">
            <a:avLst>
              <a:gd name="adj" fmla="val 6000"/>
            </a:avLst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92440" y="411480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E1330"/>
                </a:solidFill>
                <a:latin typeface="Calibri"/>
              </a:rPr>
              <a:t>Out of scope (future work)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480560"/>
            <a:ext cx="33375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300"/>
              </a:spcAft>
              <a:buClr>
                <a:srgbClr val="E9B44C"/>
              </a:buClr>
              <a:buFont typeface="Arial"/>
              <a:buChar char="•"/>
            </a:pPr>
            <a:r>
              <a:rPr sz="1400" b="0">
                <a:solidFill>
                  <a:srgbClr val="0E1330"/>
                </a:solidFill>
                <a:latin typeface="Calibri"/>
              </a:rPr>
              <a:t>Preference-ranked allocation</a:t>
            </a:r>
          </a:p>
          <a:p>
            <a:pPr marL="256032" indent="-256032">
              <a:spcAft>
                <a:spcPts val="300"/>
              </a:spcAft>
              <a:buClr>
                <a:srgbClr val="E9B44C"/>
              </a:buClr>
              <a:buFont typeface="Arial"/>
              <a:buChar char="•"/>
            </a:pPr>
            <a:r>
              <a:rPr sz="1400" b="0">
                <a:solidFill>
                  <a:srgbClr val="0E1330"/>
                </a:solidFill>
                <a:latin typeface="Calibri"/>
              </a:rPr>
              <a:t>Central student-system integration</a:t>
            </a:r>
          </a:p>
          <a:p>
            <a:pPr marL="256032" indent="-256032">
              <a:spcAft>
                <a:spcPts val="300"/>
              </a:spcAft>
              <a:buClr>
                <a:srgbClr val="E9B44C"/>
              </a:buClr>
              <a:buFont typeface="Arial"/>
              <a:buChar char="•"/>
            </a:pPr>
            <a:r>
              <a:rPr sz="1400" b="0">
                <a:solidFill>
                  <a:srgbClr val="0E1330"/>
                </a:solidFill>
                <a:latin typeface="Calibri"/>
              </a:rPr>
              <a:t>E-mail or SMS notifications</a:t>
            </a:r>
          </a:p>
          <a:p>
            <a:pPr marL="256032" indent="-256032">
              <a:spcAft>
                <a:spcPts val="300"/>
              </a:spcAft>
              <a:buClr>
                <a:srgbClr val="E9B44C"/>
              </a:buClr>
              <a:buFont typeface="Arial"/>
              <a:buChar char="•"/>
            </a:pPr>
            <a:r>
              <a:rPr sz="1400" b="0">
                <a:solidFill>
                  <a:srgbClr val="0E1330"/>
                </a:solidFill>
                <a:latin typeface="Calibri"/>
              </a:rPr>
              <a:t>Production deployment and load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29768"/>
            <a:ext cx="118872" cy="118872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Kicker"/>
          <p:cNvSpPr txBox="1"/>
          <p:nvPr/>
        </p:nvSpPr>
        <p:spPr>
          <a:xfrm>
            <a:off x="749808" y="3566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EXISTING SYSTEM AND ITS LIMITATIONS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0E1330"/>
                </a:solidFill>
                <a:latin typeface="Georgia"/>
              </a:rPr>
              <a:t>Today: forms, spreadsheets and manual allocation</a:t>
            </a:r>
          </a:p>
        </p:txBody>
      </p:sp>
      <p:pic>
        <p:nvPicPr>
          <p:cNvPr id="5" name="Picture 4" descr="electif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896112" cy="2026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2768" y="639165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5B73"/>
                </a:solidFill>
                <a:latin typeface="Calibri"/>
              </a:rPr>
              <a:t>MCA Project Review · SRM Institute of Science and Technology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543032" y="639165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55B73"/>
                </a:solidFill>
                <a:latin typeface="Calibri"/>
              </a:rPr>
              <a:t>06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2331720" cy="141732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" name="Picture 8" descr="ClipboardCheck-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752" y="1828800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2395728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0E1330"/>
                </a:solidFill>
                <a:latin typeface="Calibri"/>
              </a:rPr>
              <a:t>Paper form or
online form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80" y="2395728"/>
            <a:ext cx="411480" cy="0"/>
          </a:xfrm>
          <a:prstGeom prst="line">
            <a:avLst/>
          </a:prstGeom>
          <a:ln w="22225">
            <a:solidFill>
              <a:srgbClr val="555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83280" y="1691640"/>
            <a:ext cx="2331720" cy="141732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Picture 12" descr="FileCheck-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1828800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83280" y="2395728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0E1330"/>
                </a:solidFill>
                <a:latin typeface="Calibri"/>
              </a:rPr>
              <a:t>Shared
spreadsheet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720" y="2395728"/>
            <a:ext cx="411480" cy="0"/>
          </a:xfrm>
          <a:prstGeom prst="line">
            <a:avLst/>
          </a:prstGeom>
          <a:ln w="22225">
            <a:solidFill>
              <a:srgbClr val="555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17920" y="1691640"/>
            <a:ext cx="2331720" cy="141732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Picture 16" descr="Users-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1" y="1828800"/>
            <a:ext cx="50292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17920" y="2395728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0E1330"/>
                </a:solidFill>
                <a:latin typeface="Calibri"/>
              </a:rPr>
              <a:t>Staff allocate
by hand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95360" y="2395728"/>
            <a:ext cx="411480" cy="0"/>
          </a:xfrm>
          <a:prstGeom prst="line">
            <a:avLst/>
          </a:prstGeom>
          <a:ln w="22225">
            <a:solidFill>
              <a:srgbClr val="555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52560" y="1691640"/>
            <a:ext cx="2331720" cy="141732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1" name="Picture 20" descr="TriangleAlert-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8672" y="1828800"/>
            <a:ext cx="502920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052560" y="2395728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0E1330"/>
                </a:solidFill>
                <a:latin typeface="Calibri"/>
              </a:rPr>
              <a:t>Disputes and
manual moves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52044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777240" y="3776472"/>
            <a:ext cx="146304" cy="146304"/>
          </a:xfrm>
          <a:prstGeom prst="ellipse">
            <a:avLst/>
          </a:prstGeom>
          <a:solidFill>
            <a:srgbClr val="B4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367588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1330"/>
                </a:solidFill>
                <a:latin typeface="Calibri"/>
              </a:rPr>
              <a:t>No limit at the moment of choice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02336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55B73"/>
                </a:solidFill>
                <a:latin typeface="Calibri"/>
              </a:rPr>
              <a:t>A form records a request; whether a seat exists is decided later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79" y="352044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26279" y="3776472"/>
            <a:ext cx="146304" cy="146304"/>
          </a:xfrm>
          <a:prstGeom prst="ellipse">
            <a:avLst/>
          </a:prstGeom>
          <a:solidFill>
            <a:srgbClr val="B4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00599" y="367588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1330"/>
                </a:solidFill>
                <a:latin typeface="Calibri"/>
              </a:rPr>
              <a:t>Opaque to students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599" y="402336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55B73"/>
                </a:solidFill>
                <a:latin typeface="Calibri"/>
              </a:rPr>
              <a:t>Nobody can see how many seats remain before choosing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352044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Oval 31"/>
          <p:cNvSpPr/>
          <p:nvPr/>
        </p:nvSpPr>
        <p:spPr>
          <a:xfrm>
            <a:off x="8275319" y="3776472"/>
            <a:ext cx="146304" cy="146304"/>
          </a:xfrm>
          <a:prstGeom prst="ellipse">
            <a:avLst/>
          </a:prstGeom>
          <a:solidFill>
            <a:srgbClr val="B4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49640" y="367588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1330"/>
                </a:solidFill>
                <a:latin typeface="Calibri"/>
              </a:rPr>
              <a:t>No live view for staff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402336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55B73"/>
                </a:solidFill>
                <a:latin typeface="Calibri"/>
              </a:rPr>
              <a:t>Who has registered is known only after the window closes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84632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Oval 35"/>
          <p:cNvSpPr/>
          <p:nvPr/>
        </p:nvSpPr>
        <p:spPr>
          <a:xfrm>
            <a:off x="777240" y="5102352"/>
            <a:ext cx="146304" cy="146304"/>
          </a:xfrm>
          <a:prstGeom prst="ellipse">
            <a:avLst/>
          </a:prstGeom>
          <a:solidFill>
            <a:srgbClr val="B4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51560" y="500176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1330"/>
                </a:solidFill>
                <a:latin typeface="Calibri"/>
              </a:rPr>
              <a:t>Changes handled informally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34924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55B73"/>
                </a:solidFill>
                <a:latin typeface="Calibri"/>
              </a:rPr>
              <a:t>Withdrawals leave no reliable record of what changed and when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79" y="484632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Oval 39"/>
          <p:cNvSpPr/>
          <p:nvPr/>
        </p:nvSpPr>
        <p:spPr>
          <a:xfrm>
            <a:off x="4526279" y="5102352"/>
            <a:ext cx="146304" cy="146304"/>
          </a:xfrm>
          <a:prstGeom prst="ellipse">
            <a:avLst/>
          </a:prstGeom>
          <a:solidFill>
            <a:srgbClr val="B4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00599" y="500176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1330"/>
                </a:solidFill>
                <a:latin typeface="Calibri"/>
              </a:rPr>
              <a:t>Cohorts can mix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599" y="534924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55B73"/>
                </a:solidFill>
                <a:latin typeface="Calibri"/>
              </a:rPr>
              <a:t>Different batches end up in the same sheet or form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19" y="484632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Oval 43"/>
          <p:cNvSpPr/>
          <p:nvPr/>
        </p:nvSpPr>
        <p:spPr>
          <a:xfrm>
            <a:off x="8275319" y="5102352"/>
            <a:ext cx="146304" cy="146304"/>
          </a:xfrm>
          <a:prstGeom prst="ellipse">
            <a:avLst/>
          </a:prstGeom>
          <a:solidFill>
            <a:srgbClr val="B4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49640" y="500176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1330"/>
                </a:solidFill>
                <a:latin typeface="Calibri"/>
              </a:rPr>
              <a:t>All-or-nothing access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534924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55B73"/>
                </a:solidFill>
                <a:latin typeface="Calibri"/>
              </a:rPr>
              <a:t>Anyone who can edit the sheet can alter anyone's entry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29768"/>
            <a:ext cx="118872" cy="118872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Kicker"/>
          <p:cNvSpPr txBox="1"/>
          <p:nvPr/>
        </p:nvSpPr>
        <p:spPr>
          <a:xfrm>
            <a:off x="749808" y="3566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PROPOSED SYSTEM AND KEY FEATURES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0E1330"/>
                </a:solidFill>
                <a:latin typeface="Georgia"/>
              </a:rPr>
              <a:t>Enforce the rule where the data lives</a:t>
            </a:r>
          </a:p>
        </p:txBody>
      </p:sp>
      <p:pic>
        <p:nvPicPr>
          <p:cNvPr id="5" name="Picture 4" descr="electif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896112" cy="2026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2768" y="639165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5B73"/>
                </a:solidFill>
                <a:latin typeface="Calibri"/>
              </a:rPr>
              <a:t>MCA Project Review · SRM Institute of Science and Technology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543032" y="639165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55B73"/>
                </a:solidFill>
                <a:latin typeface="Calibri"/>
              </a:rPr>
              <a:t>07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474720" cy="17830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59" y="1810512"/>
            <a:ext cx="530352" cy="530352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rmchair-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244" y="1937796"/>
            <a:ext cx="275783" cy="27578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08760" y="182880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1330"/>
                </a:solidFill>
                <a:latin typeface="Calibri"/>
              </a:rPr>
              <a:t>Transactional seat allocation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4688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400" b="0" i="0">
                <a:solidFill>
                  <a:srgbClr val="555B73"/>
                </a:solidFill>
                <a:latin typeface="Calibri"/>
              </a:rPr>
              <a:t>Rows locked in id order; capacity and class quotas checked inside one transaction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554480"/>
            <a:ext cx="3474720" cy="17830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71999" y="1810512"/>
            <a:ext cx="530352" cy="530352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erver-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284" y="1937796"/>
            <a:ext cx="275783" cy="27578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57799" y="182880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1330"/>
                </a:solidFill>
                <a:latin typeface="Calibri"/>
              </a:rPr>
              <a:t>Year Servers and cohort isolation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24688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400" b="0" i="0">
                <a:solidFill>
                  <a:srgbClr val="555B73"/>
                </a:solidFill>
                <a:latin typeface="Calibri"/>
              </a:rPr>
              <a:t>Each academic year is a workspace; composite keys keep a class inside its cohort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554480"/>
            <a:ext cx="3474720" cy="17830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21040" y="1810512"/>
            <a:ext cx="530352" cy="530352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Ticket-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8324" y="1937796"/>
            <a:ext cx="275783" cy="27578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006840" y="182880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1330"/>
                </a:solidFill>
                <a:latin typeface="Calibri"/>
              </a:rPr>
              <a:t>Class signup codes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4688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400" b="0" i="0">
                <a:solidFill>
                  <a:srgbClr val="555B73"/>
                </a:solidFill>
                <a:latin typeface="Calibri"/>
              </a:rPr>
              <a:t>A code names one class; uses are claimed atomically, so the limit holds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520439"/>
            <a:ext cx="3474720" cy="17830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822959" y="3776472"/>
            <a:ext cx="530352" cy="530352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Search-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244" y="3903756"/>
            <a:ext cx="275783" cy="27578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508760" y="3794759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1330"/>
                </a:solidFill>
                <a:latin typeface="Calibri"/>
              </a:rPr>
              <a:t>Subject explorer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43484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400" b="0" i="0">
                <a:solidFill>
                  <a:srgbClr val="555B73"/>
                </a:solidFill>
                <a:latin typeface="Calibri"/>
              </a:rPr>
              <a:t>Students read about subjects and see live seat counts before the window opens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79" y="3520439"/>
            <a:ext cx="3474720" cy="17830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1999" y="3776472"/>
            <a:ext cx="530352" cy="530352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Activity-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284" y="3903756"/>
            <a:ext cx="275783" cy="27578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257799" y="3794759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1330"/>
                </a:solidFill>
                <a:latin typeface="Calibri"/>
              </a:rPr>
              <a:t>Live monitor and replay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1999" y="443484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400" b="0" i="0">
                <a:solidFill>
                  <a:srgbClr val="555B73"/>
                </a:solidFill>
                <a:latin typeface="Calibri"/>
              </a:rPr>
              <a:t>Turnout, seat saturation and an ordered replay of who took which seat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19" y="3520439"/>
            <a:ext cx="3474720" cy="17830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Oval 33"/>
          <p:cNvSpPr/>
          <p:nvPr/>
        </p:nvSpPr>
        <p:spPr>
          <a:xfrm>
            <a:off x="8321040" y="3776472"/>
            <a:ext cx="530352" cy="530352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ScrollText-in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8324" y="3903756"/>
            <a:ext cx="275783" cy="27578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006840" y="3794759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1330"/>
                </a:solidFill>
                <a:latin typeface="Calibri"/>
              </a:rPr>
              <a:t>Receipts and audit 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43484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400" b="0" i="0">
                <a:solidFill>
                  <a:srgbClr val="555B73"/>
                </a:solidFill>
                <a:latin typeface="Calibri"/>
              </a:rPr>
              <a:t>Unique receipt numbers, JSON snapshots and an audit trail of staff actions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596128"/>
            <a:ext cx="1106424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5596128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F7D4F"/>
                </a:solidFill>
                <a:latin typeface="Calibri"/>
              </a:rPr>
              <a:t>Status  </a:t>
            </a:r>
            <a:r>
              <a:rPr sz="1400" b="0" i="0">
                <a:solidFill>
                  <a:srgbClr val="0E1330"/>
                </a:solidFill>
                <a:latin typeface="Calibri"/>
              </a:rPr>
              <a:t>All six features are implemented and covered by automated tests.   </a:t>
            </a:r>
            <a:r>
              <a:rPr sz="1400" b="1" i="0">
                <a:solidFill>
                  <a:srgbClr val="555B73"/>
                </a:solidFill>
                <a:latin typeface="Calibri"/>
              </a:rPr>
              <a:t>Planned  </a:t>
            </a:r>
            <a:r>
              <a:rPr sz="1400" b="0" i="0">
                <a:solidFill>
                  <a:srgbClr val="555B73"/>
                </a:solidFill>
                <a:latin typeface="Calibri"/>
              </a:rPr>
              <a:t>preference-ranked allocation · notifications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29768"/>
            <a:ext cx="118872" cy="118872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Kicker"/>
          <p:cNvSpPr txBox="1"/>
          <p:nvPr/>
        </p:nvSpPr>
        <p:spPr>
          <a:xfrm>
            <a:off x="749808" y="3566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0E1330"/>
                </a:solidFill>
                <a:latin typeface="Georgia"/>
              </a:rPr>
              <a:t>Five layers, one rule: the server decides</a:t>
            </a:r>
          </a:p>
        </p:txBody>
      </p:sp>
      <p:pic>
        <p:nvPicPr>
          <p:cNvPr id="5" name="Picture 4" descr="electif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896112" cy="2026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2768" y="639165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5B73"/>
                </a:solidFill>
                <a:latin typeface="Calibri"/>
              </a:rPr>
              <a:t>MCA Project Review · SRM Institute of Science and Technology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543032" y="639165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55B73"/>
                </a:solidFill>
                <a:latin typeface="Calibri"/>
              </a:rPr>
              <a:t>08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1965960" cy="32004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1965960" cy="566928"/>
          </a:xfrm>
          <a:prstGeom prst="roundRect">
            <a:avLst>
              <a:gd name="adj" fmla="val 18000"/>
            </a:avLst>
          </a:prstGeom>
          <a:solidFill>
            <a:srgbClr val="0E1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1965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Browser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2377440"/>
            <a:ext cx="1655063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2377440"/>
            <a:ext cx="16550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0E1330"/>
                </a:solidFill>
                <a:latin typeface="Calibri"/>
              </a:rPr>
              <a:t>Student portal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" y="2944368"/>
            <a:ext cx="1655063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2944368"/>
            <a:ext cx="16550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0E1330"/>
                </a:solidFill>
                <a:latin typeface="Calibri"/>
              </a:rPr>
              <a:t>Staff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55B73"/>
                </a:solidFill>
                <a:latin typeface="Calibri"/>
              </a:rPr>
              <a:t>HTTPS · httpOnly cookie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42032" y="3063240"/>
            <a:ext cx="256032" cy="0"/>
          </a:xfrm>
          <a:prstGeom prst="line">
            <a:avLst/>
          </a:prstGeom>
          <a:ln w="22225">
            <a:solidFill>
              <a:srgbClr val="0E13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25496" y="1600200"/>
            <a:ext cx="1965960" cy="32004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825496" y="1600200"/>
            <a:ext cx="1965960" cy="566928"/>
          </a:xfrm>
          <a:prstGeom prst="roundRect">
            <a:avLst>
              <a:gd name="adj" fmla="val 18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25496" y="1600200"/>
            <a:ext cx="1965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Routing proxy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80944" y="2377440"/>
            <a:ext cx="1655063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80944" y="2377440"/>
            <a:ext cx="16550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0E1330"/>
                </a:solidFill>
                <a:latin typeface="Consolas"/>
              </a:rPr>
              <a:t>src/proxy.ts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80944" y="2944368"/>
            <a:ext cx="1655063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80944" y="2944368"/>
            <a:ext cx="16550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0E1330"/>
                </a:solidFill>
                <a:latin typeface="Calibri"/>
              </a:rPr>
              <a:t>Verifies JWT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80944" y="3511296"/>
            <a:ext cx="1655063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80944" y="3511296"/>
            <a:ext cx="16550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0E1330"/>
                </a:solidFill>
                <a:latin typeface="Calibri"/>
              </a:rPr>
              <a:t>Role route guards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18888" y="3063240"/>
            <a:ext cx="256032" cy="0"/>
          </a:xfrm>
          <a:prstGeom prst="line">
            <a:avLst/>
          </a:prstGeom>
          <a:ln w="22225">
            <a:solidFill>
              <a:srgbClr val="0E13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2351" y="1600200"/>
            <a:ext cx="1965960" cy="32004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102351" y="1600200"/>
            <a:ext cx="1965960" cy="566928"/>
          </a:xfrm>
          <a:prstGeom prst="roundRect">
            <a:avLst>
              <a:gd name="adj" fmla="val 18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02351" y="1600200"/>
            <a:ext cx="1965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Next.js 16 App Router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57799" y="2377440"/>
            <a:ext cx="1655063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57799" y="2377440"/>
            <a:ext cx="16550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0E1330"/>
                </a:solidFill>
                <a:latin typeface="Calibri"/>
              </a:rPr>
              <a:t>Server Components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57799" y="2944368"/>
            <a:ext cx="1655063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57799" y="2944368"/>
            <a:ext cx="16550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0E1330"/>
                </a:solidFill>
                <a:latin typeface="Calibri"/>
              </a:rPr>
              <a:t>Server Actions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57799" y="3511296"/>
            <a:ext cx="1655063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57799" y="3511296"/>
            <a:ext cx="16550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0E1330"/>
                </a:solidFill>
                <a:latin typeface="Calibri"/>
              </a:rPr>
              <a:t>Route handlers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095743" y="3063240"/>
            <a:ext cx="256032" cy="0"/>
          </a:xfrm>
          <a:prstGeom prst="line">
            <a:avLst/>
          </a:prstGeom>
          <a:ln w="22225">
            <a:solidFill>
              <a:srgbClr val="0E13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379207" y="1600200"/>
            <a:ext cx="1965960" cy="32004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379207" y="1600200"/>
            <a:ext cx="1965960" cy="566928"/>
          </a:xfrm>
          <a:prstGeom prst="roundRect">
            <a:avLst>
              <a:gd name="adj" fmla="val 18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79207" y="1600200"/>
            <a:ext cx="1965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Domain modules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34655" y="2377440"/>
            <a:ext cx="1655063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34655" y="2377440"/>
            <a:ext cx="16550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0E1330"/>
                </a:solidFill>
                <a:latin typeface="Calibri"/>
              </a:rPr>
              <a:t>auth · workspace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34655" y="2944368"/>
            <a:ext cx="1655063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34655" y="2944368"/>
            <a:ext cx="16550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0E1330"/>
                </a:solidFill>
                <a:latin typeface="Calibri"/>
              </a:rPr>
              <a:t>student-events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34655" y="3511296"/>
            <a:ext cx="1655063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34655" y="3511296"/>
            <a:ext cx="16550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0E1330"/>
                </a:solidFill>
                <a:latin typeface="Calibri"/>
              </a:rPr>
              <a:t>registration-window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34655" y="4078224"/>
            <a:ext cx="1655063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534655" y="4078224"/>
            <a:ext cx="16550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0E1330"/>
                </a:solidFill>
                <a:latin typeface="Calibri"/>
              </a:rPr>
              <a:t>seat-ops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372599" y="3063240"/>
            <a:ext cx="256033" cy="0"/>
          </a:xfrm>
          <a:prstGeom prst="line">
            <a:avLst/>
          </a:prstGeom>
          <a:ln w="22225">
            <a:solidFill>
              <a:srgbClr val="0E13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9656063" y="1600200"/>
            <a:ext cx="1965960" cy="32004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9656063" y="1600200"/>
            <a:ext cx="1965960" cy="566928"/>
          </a:xfrm>
          <a:prstGeom prst="roundRect">
            <a:avLst>
              <a:gd name="adj" fmla="val 18000"/>
            </a:avLst>
          </a:prstGeom>
          <a:solidFill>
            <a:srgbClr val="0E1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656063" y="1600200"/>
            <a:ext cx="1965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11511" y="2377440"/>
            <a:ext cx="1655063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811511" y="2377440"/>
            <a:ext cx="16550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0E1330"/>
                </a:solidFill>
                <a:latin typeface="Calibri"/>
              </a:rPr>
              <a:t>Drizzle ORM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11511" y="2944368"/>
            <a:ext cx="1655063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811511" y="2944368"/>
            <a:ext cx="16550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0E1330"/>
                </a:solidFill>
                <a:latin typeface="Calibri"/>
              </a:rPr>
              <a:t>PostgreSQL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11511" y="3511296"/>
            <a:ext cx="1655063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811511" y="3511296"/>
            <a:ext cx="16550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0E1330"/>
                </a:solidFill>
                <a:latin typeface="Calibri"/>
              </a:rPr>
              <a:t>Row locks · constraints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434840" y="5257800"/>
            <a:ext cx="5120640" cy="777240"/>
          </a:xfrm>
          <a:prstGeom prst="roundRect">
            <a:avLst>
              <a:gd name="adj" fmla="val 12000"/>
            </a:avLst>
          </a:prstGeom>
          <a:solidFill>
            <a:srgbClr val="FBF1DC"/>
          </a:solidFill>
          <a:ln w="12700">
            <a:solidFill>
              <a:srgbClr val="E9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9" name="Picture 58" descr="RadioTower-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5440680"/>
            <a:ext cx="411480" cy="41148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166360" y="525780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E1330"/>
                </a:solidFill>
                <a:latin typeface="Calibri"/>
              </a:rPr>
              <a:t>Supabase Realtime (optional)  </a:t>
            </a:r>
            <a:r>
              <a:rPr sz="1300" b="0" i="0">
                <a:solidFill>
                  <a:srgbClr val="555B73"/>
                </a:solidFill>
                <a:latin typeface="Calibri"/>
              </a:rPr>
              <a:t>database changes pushed to open pages; pages also refresh every 30 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0561320" y="4828032"/>
            <a:ext cx="0" cy="813816"/>
          </a:xfrm>
          <a:prstGeom prst="line">
            <a:avLst/>
          </a:prstGeom>
          <a:ln w="19050">
            <a:solidFill>
              <a:srgbClr val="E9B44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9582912" y="5641848"/>
            <a:ext cx="978408" cy="0"/>
          </a:xfrm>
          <a:prstGeom prst="line">
            <a:avLst/>
          </a:prstGeom>
          <a:ln w="19050">
            <a:solidFill>
              <a:srgbClr val="E9B44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1536192" y="5641848"/>
            <a:ext cx="2871216" cy="0"/>
          </a:xfrm>
          <a:prstGeom prst="line">
            <a:avLst/>
          </a:prstGeom>
          <a:ln w="19050">
            <a:solidFill>
              <a:srgbClr val="E9B44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536192" y="4828032"/>
            <a:ext cx="0" cy="813816"/>
          </a:xfrm>
          <a:prstGeom prst="line">
            <a:avLst/>
          </a:prstGeom>
          <a:ln w="19050">
            <a:solidFill>
              <a:srgbClr val="E9B44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29768"/>
            <a:ext cx="118872" cy="118872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Kicker"/>
          <p:cNvSpPr txBox="1"/>
          <p:nvPr/>
        </p:nvSpPr>
        <p:spPr>
          <a:xfrm>
            <a:off x="749808" y="3566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TECHNOLOGY STACK AND TOOLS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0E1330"/>
                </a:solidFill>
                <a:latin typeface="Georgia"/>
              </a:rPr>
              <a:t>Verified from package.json and the repository</a:t>
            </a:r>
          </a:p>
        </p:txBody>
      </p:sp>
      <p:pic>
        <p:nvPicPr>
          <p:cNvPr id="5" name="Picture 4" descr="electif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896112" cy="2026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2768" y="639165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5B73"/>
                </a:solidFill>
                <a:latin typeface="Calibri"/>
              </a:rPr>
              <a:t>MCA Project Review · SRM Institute of Science and Technology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543032" y="639165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55B73"/>
                </a:solidFill>
                <a:latin typeface="Calibri"/>
              </a:rPr>
              <a:t>09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474720" cy="1353312"/>
          </a:xfrm>
          <a:prstGeom prst="roundRect">
            <a:avLst>
              <a:gd name="adj" fmla="val 7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" name="Picture 8" descr="Code2-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801368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25880" y="1755648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84831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0E1330"/>
                </a:solidFill>
                <a:latin typeface="Calibri"/>
              </a:rPr>
              <a:t>TypeScript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554480"/>
            <a:ext cx="3474720" cy="1353312"/>
          </a:xfrm>
          <a:prstGeom prst="roundRect">
            <a:avLst>
              <a:gd name="adj" fmla="val 7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Picture 12" descr="Layers-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1801368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74919" y="1755648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19" y="2084831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0E1330"/>
                </a:solidFill>
                <a:latin typeface="Calibri"/>
              </a:rPr>
              <a:t>Next.js 16.2 (App Router)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0E1330"/>
                </a:solidFill>
                <a:latin typeface="Calibri"/>
              </a:rPr>
              <a:t>React 19.2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554480"/>
            <a:ext cx="3474720" cy="1353312"/>
          </a:xfrm>
          <a:prstGeom prst="roundRect">
            <a:avLst>
              <a:gd name="adj" fmla="val 7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Picture 16" descr="MonitorSmartphone-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1" y="1801368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23959" y="1755648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084831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0E1330"/>
                </a:solidFill>
                <a:latin typeface="Calibri"/>
              </a:rPr>
              <a:t>Tailwind CSS 4 · Base UI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0E1330"/>
                </a:solidFill>
                <a:latin typeface="Calibri"/>
              </a:rPr>
              <a:t>Lucide icons · Framer Motion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090672"/>
            <a:ext cx="3474720" cy="1353312"/>
          </a:xfrm>
          <a:prstGeom prst="roundRect">
            <a:avLst>
              <a:gd name="adj" fmla="val 7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1" name="Picture 20" descr="FileCheck-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3337560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25880" y="3291840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FORMS AND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621024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0E1330"/>
                </a:solidFill>
                <a:latin typeface="Calibri"/>
              </a:rPr>
              <a:t>React Hook Form 7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0E1330"/>
                </a:solidFill>
                <a:latin typeface="Calibri"/>
              </a:rPr>
              <a:t>Zod 4 (server-side)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090672"/>
            <a:ext cx="3474720" cy="1353312"/>
          </a:xfrm>
          <a:prstGeom prst="roundRect">
            <a:avLst>
              <a:gd name="adj" fmla="val 7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Picture 24" descr="Database-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712" y="3337560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74919" y="3291840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19" y="3621024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0E1330"/>
                </a:solidFill>
                <a:latin typeface="Calibri"/>
              </a:rPr>
              <a:t>PostgreSQL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0E1330"/>
                </a:solidFill>
                <a:latin typeface="Calibri"/>
              </a:rPr>
              <a:t>Drizzle ORM 0.45 · drizzle-kit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090672"/>
            <a:ext cx="3474720" cy="1353312"/>
          </a:xfrm>
          <a:prstGeom prst="roundRect">
            <a:avLst>
              <a:gd name="adj" fmla="val 7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9" name="Picture 28" descr="KeyRound-in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2751" y="3337560"/>
            <a:ext cx="384048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823959" y="3291840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AUTHENTICATION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59" y="3621024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0E1330"/>
                </a:solidFill>
                <a:latin typeface="Calibri"/>
              </a:rPr>
              <a:t>jose — JWT (HS256)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0E1330"/>
                </a:solidFill>
                <a:latin typeface="Calibri"/>
              </a:rPr>
              <a:t>bcryptjs (cost 12)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626864"/>
            <a:ext cx="3474720" cy="1353312"/>
          </a:xfrm>
          <a:prstGeom prst="roundRect">
            <a:avLst>
              <a:gd name="adj" fmla="val 7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3" name="Picture 32" descr="RadioTower-in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" y="4873752"/>
            <a:ext cx="384048" cy="3840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25880" y="4828031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LIVE UPDATES AND DOCUMENTS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157216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0E1330"/>
                </a:solidFill>
                <a:latin typeface="Calibri"/>
              </a:rPr>
              <a:t>Supabase JS (Realtime)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0E1330"/>
                </a:solidFill>
                <a:latin typeface="Calibri"/>
              </a:rPr>
              <a:t>jsPDF — receipts and reports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79" y="4626864"/>
            <a:ext cx="3474720" cy="1353312"/>
          </a:xfrm>
          <a:prstGeom prst="roundRect">
            <a:avLst>
              <a:gd name="adj" fmla="val 7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7" name="Picture 36" descr="TestTubeDiagonal-in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53712" y="4873752"/>
            <a:ext cx="384048" cy="38404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074919" y="4828031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TESTING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19" y="5157216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0E1330"/>
                </a:solidFill>
                <a:latin typeface="Calibri"/>
              </a:rPr>
              <a:t>node:test via tsx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0E1330"/>
                </a:solidFill>
                <a:latin typeface="Calibri"/>
              </a:rPr>
              <a:t>Playwright 1.64 · axe-core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19" y="4626864"/>
            <a:ext cx="3474720" cy="1353312"/>
          </a:xfrm>
          <a:prstGeom prst="roundRect">
            <a:avLst>
              <a:gd name="adj" fmla="val 7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1" name="Picture 40" descr="Boxes-in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2751" y="4873752"/>
            <a:ext cx="384048" cy="38404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823959" y="4828031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TOOLING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59" y="5157216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0E1330"/>
                </a:solidFill>
                <a:latin typeface="Calibri"/>
              </a:rPr>
              <a:t>Git · npm · ESLint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0E1330"/>
                </a:solidFill>
                <a:latin typeface="Calibri"/>
              </a:rPr>
              <a:t>TypeScript compiler (tsc)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126480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55B73"/>
                </a:solidFill>
                <a:latin typeface="Calibri"/>
              </a:rPr>
              <a:t>Hosting: documented for a Node.js platform with pooled PostgreSQL; not yet deployed for a live registration cycle.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29768"/>
            <a:ext cx="118872" cy="118872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Kicker"/>
          <p:cNvSpPr txBox="1"/>
          <p:nvPr/>
        </p:nvSpPr>
        <p:spPr>
          <a:xfrm>
            <a:off x="749808" y="3566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SYSTEM MODULES AND USER ROLES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0E1330"/>
                </a:solidFill>
                <a:latin typeface="Georgia"/>
              </a:rPr>
              <a:t>Each role sees only its own part of the department</a:t>
            </a:r>
          </a:p>
        </p:txBody>
      </p:sp>
      <p:pic>
        <p:nvPicPr>
          <p:cNvPr id="5" name="Picture 4" descr="electif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896112" cy="2026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2768" y="639165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5B73"/>
                </a:solidFill>
                <a:latin typeface="Calibri"/>
              </a:rPr>
              <a:t>MCA Project Review · SRM Institute of Science and Technology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543032" y="639165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55B73"/>
                </a:solidFill>
                <a:latin typeface="Calibri"/>
              </a:rPr>
              <a:t>10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606040" cy="324612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Building2-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3" y="1914753"/>
            <a:ext cx="285292" cy="285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3040" y="1783080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E1330"/>
                </a:solidFill>
                <a:latin typeface="Calibri"/>
              </a:rPr>
              <a:t>Administrator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031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55B73"/>
                </a:solidFill>
                <a:latin typeface="Calibri"/>
              </a:rPr>
              <a:t>Every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22860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900"/>
              </a:spcAft>
              <a:buClr>
                <a:srgbClr val="E9B44C"/>
              </a:buClr>
              <a:buFont typeface="Arial"/>
              <a:buChar char="•"/>
            </a:pPr>
            <a:r>
              <a:rPr sz="1600" b="0">
                <a:solidFill>
                  <a:srgbClr val="0E1330"/>
                </a:solidFill>
                <a:latin typeface="Calibri"/>
              </a:rPr>
              <a:t>Year Servers and cohorts</a:t>
            </a:r>
          </a:p>
          <a:p>
            <a:pPr marL="256032" indent="-256032">
              <a:spcAft>
                <a:spcPts val="900"/>
              </a:spcAft>
              <a:buClr>
                <a:srgbClr val="E9B44C"/>
              </a:buClr>
              <a:buFont typeface="Arial"/>
              <a:buChar char="•"/>
            </a:pPr>
            <a:r>
              <a:rPr sz="1600" b="0">
                <a:solidFill>
                  <a:srgbClr val="0E1330"/>
                </a:solidFill>
                <a:latin typeface="Calibri"/>
              </a:rPr>
              <a:t>Faculties and departments</a:t>
            </a:r>
          </a:p>
          <a:p>
            <a:pPr marL="256032" indent="-256032">
              <a:spcAft>
                <a:spcPts val="900"/>
              </a:spcAft>
              <a:buClr>
                <a:srgbClr val="E9B44C"/>
              </a:buClr>
              <a:buFont typeface="Arial"/>
              <a:buChar char="•"/>
            </a:pPr>
            <a:r>
              <a:rPr sz="1600" b="0">
                <a:solidFill>
                  <a:srgbClr val="0E1330"/>
                </a:solidFill>
                <a:latin typeface="Calibri"/>
              </a:rPr>
              <a:t>Users and invite codes</a:t>
            </a:r>
          </a:p>
          <a:p>
            <a:pPr marL="256032" indent="-256032">
              <a:spcAft>
                <a:spcPts val="900"/>
              </a:spcAft>
              <a:buClr>
                <a:srgbClr val="E9B44C"/>
              </a:buClr>
              <a:buFont typeface="Arial"/>
              <a:buChar char="•"/>
            </a:pPr>
            <a:r>
              <a:rPr sz="1600" b="0">
                <a:solidFill>
                  <a:srgbClr val="0E1330"/>
                </a:solidFill>
                <a:latin typeface="Calibri"/>
              </a:rPr>
              <a:t>Audit log, maintenance mode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1554480"/>
            <a:ext cx="2606040" cy="324612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93592" y="1783080"/>
            <a:ext cx="548640" cy="548640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UserCog-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5265" y="1914753"/>
            <a:ext cx="285292" cy="2852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279392" y="1783080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E1330"/>
                </a:solidFill>
                <a:latin typeface="Calibri"/>
              </a:rPr>
              <a:t>Coordinator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21031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55B73"/>
                </a:solidFill>
                <a:latin typeface="Calibri"/>
              </a:rPr>
              <a:t>Own programme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651760"/>
            <a:ext cx="22860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900"/>
              </a:spcAft>
              <a:buClr>
                <a:srgbClr val="E9B44C"/>
              </a:buClr>
              <a:buFont typeface="Arial"/>
              <a:buChar char="•"/>
            </a:pPr>
            <a:r>
              <a:rPr sz="1600" b="0">
                <a:solidFill>
                  <a:srgbClr val="0E1330"/>
                </a:solidFill>
                <a:latin typeface="Calibri"/>
              </a:rPr>
              <a:t>Registration events</a:t>
            </a:r>
          </a:p>
          <a:p>
            <a:pPr marL="256032" indent="-256032">
              <a:spcAft>
                <a:spcPts val="900"/>
              </a:spcAft>
              <a:buClr>
                <a:srgbClr val="E9B44C"/>
              </a:buClr>
              <a:buFont typeface="Arial"/>
              <a:buChar char="•"/>
            </a:pPr>
            <a:r>
              <a:rPr sz="1600" b="0">
                <a:solidFill>
                  <a:srgbClr val="0E1330"/>
                </a:solidFill>
                <a:latin typeface="Calibri"/>
              </a:rPr>
              <a:t>Baskets and subjects</a:t>
            </a:r>
          </a:p>
          <a:p>
            <a:pPr marL="256032" indent="-256032">
              <a:spcAft>
                <a:spcPts val="900"/>
              </a:spcAft>
              <a:buClr>
                <a:srgbClr val="E9B44C"/>
              </a:buClr>
              <a:buFont typeface="Arial"/>
              <a:buChar char="•"/>
            </a:pPr>
            <a:r>
              <a:rPr sz="1600" b="0">
                <a:solidFill>
                  <a:srgbClr val="0E1330"/>
                </a:solidFill>
                <a:latin typeface="Calibri"/>
              </a:rPr>
              <a:t>Class seat quotas</a:t>
            </a:r>
          </a:p>
          <a:p>
            <a:pPr marL="256032" indent="-256032">
              <a:spcAft>
                <a:spcPts val="900"/>
              </a:spcAft>
              <a:buClr>
                <a:srgbClr val="E9B44C"/>
              </a:buClr>
              <a:buFont typeface="Arial"/>
              <a:buChar char="•"/>
            </a:pPr>
            <a:r>
              <a:rPr sz="1600" b="0">
                <a:solidFill>
                  <a:srgbClr val="0E1330"/>
                </a:solidFill>
                <a:latin typeface="Calibri"/>
              </a:rPr>
              <a:t>Templates, reports, monitor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1554480"/>
            <a:ext cx="2606040" cy="324612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9944" y="1783080"/>
            <a:ext cx="548640" cy="548640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Users-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1617" y="1914753"/>
            <a:ext cx="285292" cy="2852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95744" y="1783080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E1330"/>
                </a:solidFill>
                <a:latin typeface="Calibri"/>
              </a:rPr>
              <a:t>Class tutor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95744" y="21031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55B73"/>
                </a:solidFill>
                <a:latin typeface="Calibri"/>
              </a:rPr>
              <a:t>Assigned classes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2651760"/>
            <a:ext cx="22860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900"/>
              </a:spcAft>
              <a:buClr>
                <a:srgbClr val="E9B44C"/>
              </a:buClr>
              <a:buFont typeface="Arial"/>
              <a:buChar char="•"/>
            </a:pPr>
            <a:r>
              <a:rPr sz="1600" b="0">
                <a:solidFill>
                  <a:srgbClr val="0E1330"/>
                </a:solidFill>
                <a:latin typeface="Calibri"/>
              </a:rPr>
              <a:t>Class roster and CSV import</a:t>
            </a:r>
          </a:p>
          <a:p>
            <a:pPr marL="256032" indent="-256032">
              <a:spcAft>
                <a:spcPts val="900"/>
              </a:spcAft>
              <a:buClr>
                <a:srgbClr val="E9B44C"/>
              </a:buClr>
              <a:buFont typeface="Arial"/>
              <a:buChar char="•"/>
            </a:pPr>
            <a:r>
              <a:rPr sz="1600" b="0">
                <a:solidFill>
                  <a:srgbClr val="0E1330"/>
                </a:solidFill>
                <a:latin typeface="Calibri"/>
              </a:rPr>
              <a:t>Signup codes, password resets</a:t>
            </a:r>
          </a:p>
          <a:p>
            <a:pPr marL="256032" indent="-256032">
              <a:spcAft>
                <a:spcPts val="900"/>
              </a:spcAft>
              <a:buClr>
                <a:srgbClr val="E9B44C"/>
              </a:buClr>
              <a:buFont typeface="Arial"/>
              <a:buChar char="•"/>
            </a:pPr>
            <a:r>
              <a:rPr sz="1600" b="0">
                <a:solidFill>
                  <a:srgbClr val="0E1330"/>
                </a:solidFill>
                <a:latin typeface="Calibri"/>
              </a:rPr>
              <a:t>Live window controls</a:t>
            </a:r>
          </a:p>
          <a:p>
            <a:pPr marL="256032" indent="-256032">
              <a:spcAft>
                <a:spcPts val="900"/>
              </a:spcAft>
              <a:buClr>
                <a:srgbClr val="E9B44C"/>
              </a:buClr>
              <a:buFont typeface="Arial"/>
              <a:buChar char="•"/>
            </a:pPr>
            <a:r>
              <a:rPr sz="1600" b="0">
                <a:solidFill>
                  <a:srgbClr val="0E1330"/>
                </a:solidFill>
                <a:latin typeface="Calibri"/>
              </a:rPr>
              <a:t>Class reports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97696" y="1554480"/>
            <a:ext cx="2606040" cy="324612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9226296" y="1783080"/>
            <a:ext cx="548640" cy="548640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GraduationCap-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7969" y="1914753"/>
            <a:ext cx="285292" cy="28529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912096" y="1783080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E1330"/>
                </a:solidFill>
                <a:latin typeface="Calibri"/>
              </a:rPr>
              <a:t>Student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2096" y="21031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55B73"/>
                </a:solidFill>
                <a:latin typeface="Calibri"/>
              </a:rPr>
              <a:t>Own registration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6" y="2651760"/>
            <a:ext cx="22860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900"/>
              </a:spcAft>
              <a:buClr>
                <a:srgbClr val="E9B44C"/>
              </a:buClr>
              <a:buFont typeface="Arial"/>
              <a:buChar char="•"/>
            </a:pPr>
            <a:r>
              <a:rPr sz="1600" b="0">
                <a:solidFill>
                  <a:srgbClr val="0E1330"/>
                </a:solidFill>
                <a:latin typeface="Calibri"/>
              </a:rPr>
              <a:t>Join a class with a code</a:t>
            </a:r>
          </a:p>
          <a:p>
            <a:pPr marL="256032" indent="-256032">
              <a:spcAft>
                <a:spcPts val="900"/>
              </a:spcAft>
              <a:buClr>
                <a:srgbClr val="E9B44C"/>
              </a:buClr>
              <a:buFont typeface="Arial"/>
              <a:buChar char="•"/>
            </a:pPr>
            <a:r>
              <a:rPr sz="1600" b="0">
                <a:solidFill>
                  <a:srgbClr val="0E1330"/>
                </a:solidFill>
                <a:latin typeface="Calibri"/>
              </a:rPr>
              <a:t>Subject explorer</a:t>
            </a:r>
          </a:p>
          <a:p>
            <a:pPr marL="256032" indent="-256032">
              <a:spcAft>
                <a:spcPts val="900"/>
              </a:spcAft>
              <a:buClr>
                <a:srgbClr val="E9B44C"/>
              </a:buClr>
              <a:buFont typeface="Arial"/>
              <a:buChar char="•"/>
            </a:pPr>
            <a:r>
              <a:rPr sz="1600" b="0">
                <a:solidFill>
                  <a:srgbClr val="0E1330"/>
                </a:solidFill>
                <a:latin typeface="Calibri"/>
              </a:rPr>
              <a:t>Register, change, cancel</a:t>
            </a:r>
          </a:p>
          <a:p>
            <a:pPr marL="256032" indent="-256032">
              <a:spcAft>
                <a:spcPts val="900"/>
              </a:spcAft>
              <a:buClr>
                <a:srgbClr val="E9B44C"/>
              </a:buClr>
              <a:buFont typeface="Arial"/>
              <a:buChar char="•"/>
            </a:pPr>
            <a:r>
              <a:rPr sz="1600" b="0">
                <a:solidFill>
                  <a:srgbClr val="0E1330"/>
                </a:solidFill>
                <a:latin typeface="Calibri"/>
              </a:rPr>
              <a:t>Receipt (PDF or print)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0E1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5074920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E9B44C"/>
                </a:solidFill>
                <a:latin typeface="Calibri"/>
              </a:rPr>
              <a:t>Shared server core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71800" y="5294376"/>
            <a:ext cx="1298448" cy="429768"/>
          </a:xfrm>
          <a:prstGeom prst="roundRect">
            <a:avLst>
              <a:gd name="adj" fmla="val 40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971800" y="5294376"/>
            <a:ext cx="129844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Sessions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5294376"/>
            <a:ext cx="1298448" cy="429768"/>
          </a:xfrm>
          <a:prstGeom prst="roundRect">
            <a:avLst>
              <a:gd name="adj" fmla="val 40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89120" y="5294376"/>
            <a:ext cx="129844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Staff workspace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06440" y="5294376"/>
            <a:ext cx="1298448" cy="429768"/>
          </a:xfrm>
          <a:prstGeom prst="roundRect">
            <a:avLst>
              <a:gd name="adj" fmla="val 40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806440" y="5294376"/>
            <a:ext cx="129844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Eligibility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23760" y="5294376"/>
            <a:ext cx="1298448" cy="429768"/>
          </a:xfrm>
          <a:prstGeom prst="roundRect">
            <a:avLst>
              <a:gd name="adj" fmla="val 40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23760" y="5294376"/>
            <a:ext cx="129844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Window rule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41080" y="5294376"/>
            <a:ext cx="1298448" cy="429768"/>
          </a:xfrm>
          <a:prstGeom prst="roundRect">
            <a:avLst>
              <a:gd name="adj" fmla="val 40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41080" y="5294376"/>
            <a:ext cx="129844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Seat operations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58400" y="5294376"/>
            <a:ext cx="1298448" cy="429768"/>
          </a:xfrm>
          <a:prstGeom prst="roundRect">
            <a:avLst>
              <a:gd name="adj" fmla="val 40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058400" y="5294376"/>
            <a:ext cx="129844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Audit and replay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29768"/>
            <a:ext cx="118872" cy="118872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Kicker"/>
          <p:cNvSpPr txBox="1"/>
          <p:nvPr/>
        </p:nvSpPr>
        <p:spPr>
          <a:xfrm>
            <a:off x="749808" y="3566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APPLICATION WORKFLOW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0E1330"/>
                </a:solidFill>
                <a:latin typeface="Georgia"/>
              </a:rPr>
              <a:t>From sign-in to receipt: one registration</a:t>
            </a:r>
          </a:p>
        </p:txBody>
      </p:sp>
      <p:pic>
        <p:nvPicPr>
          <p:cNvPr id="5" name="Picture 4" descr="electif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896112" cy="2026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2768" y="639165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5B73"/>
                </a:solidFill>
                <a:latin typeface="Calibri"/>
              </a:rPr>
              <a:t>MCA Project Review · SRM Institute of Science and Technology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543032" y="639165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55B73"/>
                </a:solidFill>
                <a:latin typeface="Calibri"/>
              </a:rPr>
              <a:t>11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STUDENT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508760" cy="822960"/>
          </a:xfrm>
          <a:prstGeom prst="roundRect">
            <a:avLst>
              <a:gd name="adj" fmla="val 14000"/>
            </a:avLst>
          </a:prstGeom>
          <a:solidFill>
            <a:srgbClr val="0E1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5087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Sign in
register no. + password</a:t>
            </a:r>
          </a:p>
        </p:txBody>
      </p:sp>
      <p:sp>
        <p:nvSpPr>
          <p:cNvPr id="11" name="Diamond 10"/>
          <p:cNvSpPr/>
          <p:nvPr/>
        </p:nvSpPr>
        <p:spPr>
          <a:xfrm>
            <a:off x="2331720" y="1719072"/>
            <a:ext cx="1737360" cy="1042415"/>
          </a:xfrm>
          <a:prstGeom prst="diamond">
            <a:avLst/>
          </a:prstGeom>
          <a:solidFill>
            <a:srgbClr val="FBF1DC"/>
          </a:solidFill>
          <a:ln w="12700">
            <a:solidFill>
              <a:srgbClr val="E9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68879" y="1719072"/>
            <a:ext cx="1463039" cy="104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0" i="0">
                <a:solidFill>
                  <a:srgbClr val="0E1330"/>
                </a:solidFill>
                <a:latin typeface="Calibri"/>
              </a:rPr>
              <a:t>Event for
my class?</a:t>
            </a:r>
          </a:p>
        </p:txBody>
      </p:sp>
      <p:sp>
        <p:nvSpPr>
          <p:cNvPr id="13" name="Diamond 12"/>
          <p:cNvSpPr/>
          <p:nvPr/>
        </p:nvSpPr>
        <p:spPr>
          <a:xfrm>
            <a:off x="4343400" y="1719072"/>
            <a:ext cx="1737360" cy="1042415"/>
          </a:xfrm>
          <a:prstGeom prst="diamond">
            <a:avLst/>
          </a:prstGeom>
          <a:solidFill>
            <a:srgbClr val="FBF1DC"/>
          </a:solidFill>
          <a:ln w="12700">
            <a:solidFill>
              <a:srgbClr val="E9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719072"/>
            <a:ext cx="1463039" cy="104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0" i="0">
                <a:solidFill>
                  <a:srgbClr val="0E1330"/>
                </a:solidFill>
                <a:latin typeface="Calibri"/>
              </a:rPr>
              <a:t>Window open?
(server clock)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828800"/>
            <a:ext cx="1691640" cy="822960"/>
          </a:xfrm>
          <a:prstGeom prst="roundRect">
            <a:avLst>
              <a:gd name="adj" fmla="val 14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828800"/>
            <a:ext cx="1691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0E1330"/>
                </a:solidFill>
                <a:latin typeface="Calibri"/>
              </a:rPr>
              <a:t>Pick one subject
per basket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828800"/>
            <a:ext cx="1463040" cy="822960"/>
          </a:xfrm>
          <a:prstGeom prst="roundRect">
            <a:avLst>
              <a:gd name="adj" fmla="val 14000"/>
            </a:avLst>
          </a:prstGeom>
          <a:solidFill>
            <a:srgbClr val="0E1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1828800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Review and
confirm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75688" y="2240280"/>
            <a:ext cx="237744" cy="0"/>
          </a:xfrm>
          <a:prstGeom prst="line">
            <a:avLst/>
          </a:prstGeom>
          <a:ln w="19050">
            <a:solidFill>
              <a:srgbClr val="0E13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87368" y="2240280"/>
            <a:ext cx="237744" cy="0"/>
          </a:xfrm>
          <a:prstGeom prst="line">
            <a:avLst/>
          </a:prstGeom>
          <a:ln w="19050">
            <a:solidFill>
              <a:srgbClr val="0E13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9048" y="2240280"/>
            <a:ext cx="237744" cy="0"/>
          </a:xfrm>
          <a:prstGeom prst="line">
            <a:avLst/>
          </a:prstGeom>
          <a:ln w="19050">
            <a:solidFill>
              <a:srgbClr val="0E13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65008" y="2240280"/>
            <a:ext cx="237744" cy="0"/>
          </a:xfrm>
          <a:prstGeom prst="line">
            <a:avLst/>
          </a:prstGeom>
          <a:ln w="19050">
            <a:solidFill>
              <a:srgbClr val="0E13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331720" y="278892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55B73"/>
                </a:solidFill>
                <a:latin typeface="Calibri"/>
              </a:rPr>
              <a:t>no → class's own events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78892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55B73"/>
                </a:solidFill>
                <a:latin typeface="Calibri"/>
              </a:rPr>
              <a:t>no → countdown or closed notice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429000"/>
            <a:ext cx="11064240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35478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SERVER — ONE DATABASE TRANSACTION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052560" y="2670048"/>
            <a:ext cx="0" cy="740664"/>
          </a:xfrm>
          <a:prstGeom prst="line">
            <a:avLst/>
          </a:prstGeom>
          <a:ln w="19050">
            <a:solidFill>
              <a:srgbClr val="0E13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" y="4069080"/>
            <a:ext cx="1828800" cy="960120"/>
          </a:xfrm>
          <a:prstGeom prst="roundRect">
            <a:avLst>
              <a:gd name="adj" fmla="val 14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4069080"/>
            <a:ext cx="18288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0E1330"/>
                </a:solidFill>
                <a:latin typeface="Calibri"/>
              </a:rPr>
              <a:t>Re-check eligibility
and window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360" y="4069080"/>
            <a:ext cx="1965960" cy="960120"/>
          </a:xfrm>
          <a:prstGeom prst="roundRect">
            <a:avLst>
              <a:gd name="adj" fmla="val 14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880360" y="4069080"/>
            <a:ext cx="19659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0E1330"/>
                </a:solidFill>
                <a:latin typeface="Calibri"/>
              </a:rPr>
              <a:t>Lock registration and
subjects (FOR UPDATE,
in id order)</a:t>
            </a:r>
          </a:p>
        </p:txBody>
      </p:sp>
      <p:sp>
        <p:nvSpPr>
          <p:cNvPr id="32" name="Diamond 31"/>
          <p:cNvSpPr/>
          <p:nvPr/>
        </p:nvSpPr>
        <p:spPr>
          <a:xfrm>
            <a:off x="5120640" y="3977640"/>
            <a:ext cx="1874519" cy="1143000"/>
          </a:xfrm>
          <a:prstGeom prst="diamond">
            <a:avLst/>
          </a:prstGeom>
          <a:solidFill>
            <a:srgbClr val="FBF1DC"/>
          </a:solidFill>
          <a:ln w="12700">
            <a:solidFill>
              <a:srgbClr val="E9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57800" y="3977640"/>
            <a:ext cx="1600199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0" i="0">
                <a:solidFill>
                  <a:srgbClr val="0E1330"/>
                </a:solidFill>
                <a:latin typeface="Calibri"/>
              </a:rPr>
              <a:t>Seat and class
quota available?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69480" y="4069080"/>
            <a:ext cx="1874519" cy="960120"/>
          </a:xfrm>
          <a:prstGeom prst="roundRect">
            <a:avLst>
              <a:gd name="adj" fmla="val 14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69480" y="4069080"/>
            <a:ext cx="1874519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0E1330"/>
                </a:solidFill>
                <a:latin typeface="Calibri"/>
              </a:rPr>
              <a:t>Write choice, replay
and audit rows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18320" y="4069080"/>
            <a:ext cx="1965960" cy="960120"/>
          </a:xfrm>
          <a:prstGeom prst="roundRect">
            <a:avLst>
              <a:gd name="adj" fmla="val 14000"/>
            </a:avLst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18320" y="4069080"/>
            <a:ext cx="19659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Receipt number
(advisory lock) →
COMMIT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624328" y="4544568"/>
            <a:ext cx="237744" cy="0"/>
          </a:xfrm>
          <a:prstGeom prst="line">
            <a:avLst/>
          </a:prstGeom>
          <a:ln w="19050">
            <a:solidFill>
              <a:srgbClr val="0E13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864607" y="4544568"/>
            <a:ext cx="237745" cy="0"/>
          </a:xfrm>
          <a:prstGeom prst="line">
            <a:avLst/>
          </a:prstGeom>
          <a:ln w="19050">
            <a:solidFill>
              <a:srgbClr val="0E13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013448" y="4544568"/>
            <a:ext cx="237744" cy="0"/>
          </a:xfrm>
          <a:prstGeom prst="line">
            <a:avLst/>
          </a:prstGeom>
          <a:ln w="19050">
            <a:solidFill>
              <a:srgbClr val="0E13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162288" y="4544568"/>
            <a:ext cx="237744" cy="0"/>
          </a:xfrm>
          <a:prstGeom prst="line">
            <a:avLst/>
          </a:prstGeom>
          <a:ln w="19050">
            <a:solidFill>
              <a:srgbClr val="0E13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949440" y="41605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F7D4F"/>
                </a:solidFill>
                <a:latin typeface="Calibri"/>
              </a:rPr>
              <a:t>yes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53328" y="5129784"/>
            <a:ext cx="0" cy="310896"/>
          </a:xfrm>
          <a:prstGeom prst="line">
            <a:avLst/>
          </a:prstGeom>
          <a:ln w="19050">
            <a:solidFill>
              <a:srgbClr val="B441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800600" y="5440680"/>
            <a:ext cx="2514600" cy="548640"/>
          </a:xfrm>
          <a:prstGeom prst="roundRect">
            <a:avLst>
              <a:gd name="adj" fmla="val 14000"/>
            </a:avLst>
          </a:prstGeom>
          <a:solidFill>
            <a:srgbClr val="FC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00600" y="54406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0E1330"/>
                </a:solidFill>
                <a:latin typeface="Calibri"/>
              </a:rPr>
              <a:t>No: ROLLBACK, code SEAT_TAKEN — nothing is written, picks are kept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18320" y="5349240"/>
            <a:ext cx="1965960" cy="640080"/>
          </a:xfrm>
          <a:prstGeom prst="roundRect">
            <a:avLst>
              <a:gd name="adj" fmla="val 14000"/>
            </a:avLst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18320" y="5349240"/>
            <a:ext cx="1965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330"/>
                </a:solidFill>
                <a:latin typeface="Calibri"/>
              </a:rPr>
              <a:t>Receipt shown;
seats update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396728" y="5047488"/>
            <a:ext cx="0" cy="283464"/>
          </a:xfrm>
          <a:prstGeom prst="line">
            <a:avLst/>
          </a:prstGeom>
          <a:ln w="19050">
            <a:solidFill>
              <a:srgbClr val="0E13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29768"/>
            <a:ext cx="118872" cy="118872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Kicker"/>
          <p:cNvSpPr txBox="1"/>
          <p:nvPr/>
        </p:nvSpPr>
        <p:spPr>
          <a:xfrm>
            <a:off x="749808" y="3566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DATABASE DESIGN AND DATA MANAGEMENT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0E1330"/>
                </a:solidFill>
                <a:latin typeface="Georgia"/>
              </a:rPr>
              <a:t>Twelve core tables; integrity enforced by PostgreSQL</a:t>
            </a:r>
          </a:p>
        </p:txBody>
      </p:sp>
      <p:pic>
        <p:nvPicPr>
          <p:cNvPr id="5" name="Picture 4" descr="electif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896112" cy="2026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2768" y="639165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5B73"/>
                </a:solidFill>
                <a:latin typeface="Calibri"/>
              </a:rPr>
              <a:t>MCA Project Review · SRM Institute of Science and Technology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543032" y="639165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55B73"/>
                </a:solidFill>
                <a:latin typeface="Calibri"/>
              </a:rPr>
              <a:t>12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184708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847088" cy="457200"/>
          </a:xfrm>
          <a:prstGeom prst="roundRect">
            <a:avLst>
              <a:gd name="adj" fmla="val 18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" y="15544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0E1330"/>
                </a:solidFill>
                <a:latin typeface="Consolas"/>
              </a:rPr>
              <a:t>academic_sessions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 i="0">
                <a:solidFill>
                  <a:srgbClr val="555B73"/>
                </a:solidFill>
                <a:latin typeface="Calibri"/>
              </a:rPr>
              <a:t>Year Server: start / end year,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554480"/>
            <a:ext cx="184708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560320" y="1554480"/>
            <a:ext cx="1847088" cy="457200"/>
          </a:xfrm>
          <a:prstGeom prst="roundRect">
            <a:avLst>
              <a:gd name="adj" fmla="val 18000"/>
            </a:avLst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96896" y="15544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0E1330"/>
                </a:solidFill>
                <a:latin typeface="Consolas"/>
              </a:rPr>
              <a:t>registration_events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057400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 i="0">
                <a:solidFill>
                  <a:srgbClr val="555B73"/>
                </a:solidFill>
                <a:latin typeface="Calibri"/>
              </a:rPr>
              <a:t>FK cohort, session · window,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1554480"/>
            <a:ext cx="184708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2000" y="1554480"/>
            <a:ext cx="1847088" cy="457200"/>
          </a:xfrm>
          <a:prstGeom prst="roundRect">
            <a:avLst>
              <a:gd name="adj" fmla="val 18000"/>
            </a:avLst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08576" y="15544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0E1330"/>
                </a:solidFill>
                <a:latin typeface="Consolas"/>
              </a:rPr>
              <a:t>elective_groups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057400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 i="0">
                <a:solidFill>
                  <a:srgbClr val="555B73"/>
                </a:solidFill>
                <a:latin typeface="Calibri"/>
              </a:rPr>
              <a:t>FK event · min / max choices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1554480"/>
            <a:ext cx="184708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83680" y="1554480"/>
            <a:ext cx="1847088" cy="457200"/>
          </a:xfrm>
          <a:prstGeom prst="roundRect">
            <a:avLst>
              <a:gd name="adj" fmla="val 18000"/>
            </a:avLst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0256" y="15544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0E1330"/>
                </a:solidFill>
                <a:latin typeface="Consolas"/>
              </a:rPr>
              <a:t>electives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057400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 i="0">
                <a:solidFill>
                  <a:srgbClr val="555B73"/>
                </a:solidFill>
                <a:latin typeface="Calibri"/>
              </a:rPr>
              <a:t>FK group · max / available seats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108960"/>
            <a:ext cx="184708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48640" y="3108960"/>
            <a:ext cx="1847088" cy="457200"/>
          </a:xfrm>
          <a:prstGeom prst="roundRect">
            <a:avLst>
              <a:gd name="adj" fmla="val 18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5216" y="310896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0E1330"/>
                </a:solidFill>
                <a:latin typeface="Consolas"/>
              </a:rPr>
              <a:t>cohort_session_terms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611880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 i="0">
                <a:solidFill>
                  <a:srgbClr val="555B73"/>
                </a:solidFill>
                <a:latin typeface="Calibri"/>
              </a:rPr>
              <a:t>FK cohort, session · year, semester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0320" y="3108960"/>
            <a:ext cx="184708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560320" y="3108960"/>
            <a:ext cx="1847088" cy="457200"/>
          </a:xfrm>
          <a:prstGeom prst="roundRect">
            <a:avLst>
              <a:gd name="adj" fmla="val 18000"/>
            </a:avLst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96896" y="310896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0E1330"/>
                </a:solidFill>
                <a:latin typeface="Consolas"/>
              </a:rPr>
              <a:t>event_sections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3611880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 i="0">
                <a:solidFill>
                  <a:srgbClr val="555B73"/>
                </a:solidFill>
                <a:latin typeface="Calibri"/>
              </a:rPr>
              <a:t>FK (event, cohort), (class, cohort)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3108960"/>
            <a:ext cx="184708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572000" y="3108960"/>
            <a:ext cx="1847088" cy="457200"/>
          </a:xfrm>
          <a:prstGeom prst="roundRect">
            <a:avLst>
              <a:gd name="adj" fmla="val 18000"/>
            </a:avLst>
          </a:prstGeom>
          <a:solidFill>
            <a:srgbClr val="E6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08576" y="310896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0E1330"/>
                </a:solidFill>
                <a:latin typeface="Consolas"/>
              </a:rPr>
              <a:t>registrations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611880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 i="0">
                <a:solidFill>
                  <a:srgbClr val="555B73"/>
                </a:solidFill>
                <a:latin typeface="Calibri"/>
              </a:rPr>
              <a:t>FK student, event · receipt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3108960"/>
            <a:ext cx="184708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583680" y="3108960"/>
            <a:ext cx="1847088" cy="457200"/>
          </a:xfrm>
          <a:prstGeom prst="roundRect">
            <a:avLst>
              <a:gd name="adj" fmla="val 18000"/>
            </a:avLst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20256" y="310896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E1330"/>
                </a:solidFill>
                <a:latin typeface="Consolas"/>
              </a:rPr>
              <a:t>elective_seat_
allocations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611880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 i="0">
                <a:solidFill>
                  <a:srgbClr val="555B73"/>
                </a:solidFill>
                <a:latin typeface="Calibri"/>
              </a:rPr>
              <a:t>FK elective, class · quota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663440"/>
            <a:ext cx="184708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48640" y="4663440"/>
            <a:ext cx="1847088" cy="457200"/>
          </a:xfrm>
          <a:prstGeom prst="roundRect">
            <a:avLst>
              <a:gd name="adj" fmla="val 18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85216" y="466344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0E1330"/>
                </a:solidFill>
                <a:latin typeface="Consolas"/>
              </a:rPr>
              <a:t>academic_batches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166359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 i="0">
                <a:solidFill>
                  <a:srgbClr val="555B73"/>
                </a:solidFill>
                <a:latin typeface="Calibri"/>
              </a:rPr>
              <a:t>FK programme · admission year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60320" y="4663440"/>
            <a:ext cx="184708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2560320" y="4663440"/>
            <a:ext cx="1847088" cy="457200"/>
          </a:xfrm>
          <a:prstGeom prst="roundRect">
            <a:avLst>
              <a:gd name="adj" fmla="val 18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596896" y="466344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0E1330"/>
                </a:solidFill>
                <a:latin typeface="Consolas"/>
              </a:rPr>
              <a:t>sections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5166359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 i="0">
                <a:solidFill>
                  <a:srgbClr val="555B73"/>
                </a:solidFill>
                <a:latin typeface="Calibri"/>
              </a:rPr>
              <a:t>FK cohort · class label (F, G…)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0" y="4663440"/>
            <a:ext cx="184708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4572000" y="4663440"/>
            <a:ext cx="1847088" cy="457200"/>
          </a:xfrm>
          <a:prstGeom prst="roundRect">
            <a:avLst>
              <a:gd name="adj" fmla="val 18000"/>
            </a:avLst>
          </a:prstGeom>
          <a:solidFill>
            <a:srgbClr val="E6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608576" y="466344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0E1330"/>
                </a:solidFill>
                <a:latin typeface="Consolas"/>
              </a:rPr>
              <a:t>users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5166359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 i="0">
                <a:solidFill>
                  <a:srgbClr val="555B73"/>
                </a:solidFill>
                <a:latin typeface="Calibri"/>
              </a:rPr>
              <a:t>role · register no. · FK class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4663440"/>
            <a:ext cx="184708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6583680" y="4663440"/>
            <a:ext cx="1847088" cy="457200"/>
          </a:xfrm>
          <a:prstGeom prst="roundRect">
            <a:avLst>
              <a:gd name="adj" fmla="val 18000"/>
            </a:avLst>
          </a:prstGeom>
          <a:solidFill>
            <a:srgbClr val="E6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20256" y="466344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0E1330"/>
                </a:solidFill>
                <a:latin typeface="Consolas"/>
              </a:rPr>
              <a:t>student_registrations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5166359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 i="0">
                <a:solidFill>
                  <a:srgbClr val="555B73"/>
                </a:solidFill>
                <a:latin typeface="Calibri"/>
              </a:rPr>
              <a:t>FK student, event, group, elective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395728" y="2103120"/>
            <a:ext cx="164592" cy="0"/>
          </a:xfrm>
          <a:prstGeom prst="line">
            <a:avLst/>
          </a:prstGeom>
          <a:ln w="15875">
            <a:solidFill>
              <a:srgbClr val="555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407408" y="2103120"/>
            <a:ext cx="164592" cy="0"/>
          </a:xfrm>
          <a:prstGeom prst="line">
            <a:avLst/>
          </a:prstGeom>
          <a:ln w="15875">
            <a:solidFill>
              <a:srgbClr val="555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419088" y="2103120"/>
            <a:ext cx="164592" cy="0"/>
          </a:xfrm>
          <a:prstGeom prst="line">
            <a:avLst/>
          </a:prstGeom>
          <a:ln w="15875">
            <a:solidFill>
              <a:srgbClr val="555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507224" y="2651760"/>
            <a:ext cx="0" cy="457200"/>
          </a:xfrm>
          <a:prstGeom prst="line">
            <a:avLst/>
          </a:prstGeom>
          <a:ln w="15875">
            <a:solidFill>
              <a:srgbClr val="555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472184" y="2651760"/>
            <a:ext cx="0" cy="457200"/>
          </a:xfrm>
          <a:prstGeom prst="line">
            <a:avLst/>
          </a:prstGeom>
          <a:ln w="15875">
            <a:solidFill>
              <a:srgbClr val="555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472184" y="4206240"/>
            <a:ext cx="0" cy="457200"/>
          </a:xfrm>
          <a:prstGeom prst="line">
            <a:avLst/>
          </a:prstGeom>
          <a:ln w="15875">
            <a:solidFill>
              <a:srgbClr val="555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395728" y="5212079"/>
            <a:ext cx="164592" cy="0"/>
          </a:xfrm>
          <a:prstGeom prst="line">
            <a:avLst/>
          </a:prstGeom>
          <a:ln w="15875">
            <a:solidFill>
              <a:srgbClr val="555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483864" y="2651760"/>
            <a:ext cx="0" cy="457200"/>
          </a:xfrm>
          <a:prstGeom prst="line">
            <a:avLst/>
          </a:prstGeom>
          <a:ln w="15875">
            <a:solidFill>
              <a:srgbClr val="555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483864" y="4206240"/>
            <a:ext cx="0" cy="457200"/>
          </a:xfrm>
          <a:prstGeom prst="line">
            <a:avLst/>
          </a:prstGeom>
          <a:ln w="15875">
            <a:solidFill>
              <a:srgbClr val="555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407408" y="5212079"/>
            <a:ext cx="164592" cy="0"/>
          </a:xfrm>
          <a:prstGeom prst="line">
            <a:avLst/>
          </a:prstGeom>
          <a:ln w="15875">
            <a:solidFill>
              <a:srgbClr val="555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495544" y="4206240"/>
            <a:ext cx="0" cy="457200"/>
          </a:xfrm>
          <a:prstGeom prst="line">
            <a:avLst/>
          </a:prstGeom>
          <a:ln w="15875">
            <a:solidFill>
              <a:srgbClr val="555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6419088" y="5212079"/>
            <a:ext cx="164592" cy="0"/>
          </a:xfrm>
          <a:prstGeom prst="line">
            <a:avLst/>
          </a:prstGeom>
          <a:ln w="15875">
            <a:solidFill>
              <a:srgbClr val="555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48640" y="608076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55B73"/>
                </a:solidFill>
                <a:latin typeface="Calibri"/>
              </a:rPr>
              <a:t>Lines are foreign keys (one-to-many). Colours: academic structure · events and seats · people and registrations.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006840" y="1554480"/>
            <a:ext cx="2606040" cy="4480560"/>
          </a:xfrm>
          <a:prstGeom prst="roundRect">
            <a:avLst>
              <a:gd name="adj" fmla="val 5000"/>
            </a:avLst>
          </a:prstGeom>
          <a:solidFill>
            <a:srgbClr val="0E1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235440" y="17373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9B44C"/>
                </a:solidFill>
                <a:latin typeface="Calibri"/>
              </a:rPr>
              <a:t>Integrity guarantees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35440" y="2176272"/>
            <a:ext cx="2240280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E9B44C"/>
              </a:buClr>
              <a:buFont typeface="Arial"/>
              <a:buChar char="•"/>
            </a:pPr>
            <a:r>
              <a:rPr sz="1300" b="1">
                <a:solidFill>
                  <a:srgbClr val="FFFFFF"/>
                </a:solidFill>
                <a:latin typeface="Calibri"/>
              </a:rPr>
              <a:t>available_seats ≥ 0 </a:t>
            </a:r>
            <a:r>
              <a:rPr sz="1300" b="0">
                <a:solidFill>
                  <a:srgbClr val="B9BED3"/>
                </a:solidFill>
                <a:latin typeface="Calibri"/>
              </a:rPr>
              <a:t>on subjects and quotas</a:t>
            </a:r>
          </a:p>
          <a:p>
            <a:pPr marL="256032" indent="-256032">
              <a:spcAft>
                <a:spcPts val="800"/>
              </a:spcAft>
              <a:buClr>
                <a:srgbClr val="E9B44C"/>
              </a:buClr>
              <a:buFont typeface="Arial"/>
              <a:buChar char="•"/>
            </a:pPr>
            <a:r>
              <a:rPr sz="1300" b="1">
                <a:solidFill>
                  <a:srgbClr val="FFFFFF"/>
                </a:solidFill>
                <a:latin typeface="Calibri"/>
              </a:rPr>
              <a:t>One choice </a:t>
            </a:r>
            <a:r>
              <a:rPr sz="1300" b="0">
                <a:solidFill>
                  <a:srgbClr val="B9BED3"/>
                </a:solidFill>
                <a:latin typeface="Calibri"/>
              </a:rPr>
              <a:t>per student, event and basket (unique)</a:t>
            </a:r>
          </a:p>
          <a:p>
            <a:pPr marL="256032" indent="-256032">
              <a:spcAft>
                <a:spcPts val="800"/>
              </a:spcAft>
              <a:buClr>
                <a:srgbClr val="E9B44C"/>
              </a:buClr>
              <a:buFont typeface="Arial"/>
              <a:buChar char="•"/>
            </a:pPr>
            <a:r>
              <a:rPr sz="1300" b="1">
                <a:solidFill>
                  <a:srgbClr val="FFFFFF"/>
                </a:solidFill>
                <a:latin typeface="Calibri"/>
              </a:rPr>
              <a:t>Unique </a:t>
            </a:r>
            <a:r>
              <a:rPr sz="1300" b="0">
                <a:solidFill>
                  <a:srgbClr val="B9BED3"/>
                </a:solidFill>
                <a:latin typeface="Calibri"/>
              </a:rPr>
              <a:t>receipt number per registration</a:t>
            </a:r>
          </a:p>
          <a:p>
            <a:pPr marL="256032" indent="-256032">
              <a:spcAft>
                <a:spcPts val="800"/>
              </a:spcAft>
              <a:buClr>
                <a:srgbClr val="E9B44C"/>
              </a:buClr>
              <a:buFont typeface="Arial"/>
              <a:buChar char="•"/>
            </a:pPr>
            <a:r>
              <a:rPr sz="1300" b="1">
                <a:solidFill>
                  <a:srgbClr val="FFFFFF"/>
                </a:solidFill>
                <a:latin typeface="Calibri"/>
              </a:rPr>
              <a:t>Composite keys </a:t>
            </a:r>
            <a:r>
              <a:rPr sz="1300" b="0">
                <a:solidFill>
                  <a:srgbClr val="B9BED3"/>
                </a:solidFill>
                <a:latin typeface="Calibri"/>
              </a:rPr>
              <a:t>keep a class, a student and a code inside one cohort</a:t>
            </a:r>
          </a:p>
          <a:p>
            <a:pPr marL="256032" indent="-256032">
              <a:spcAft>
                <a:spcPts val="800"/>
              </a:spcAft>
              <a:buClr>
                <a:srgbClr val="E9B44C"/>
              </a:buClr>
              <a:buFont typeface="Arial"/>
              <a:buChar char="•"/>
            </a:pPr>
            <a:r>
              <a:rPr sz="1300" b="1">
                <a:solidFill>
                  <a:srgbClr val="FFFFFF"/>
                </a:solidFill>
                <a:latin typeface="Calibri"/>
              </a:rPr>
              <a:t>Reviewed SQL migrations </a:t>
            </a:r>
            <a:r>
              <a:rPr sz="1300" b="0">
                <a:solidFill>
                  <a:srgbClr val="B9BED3"/>
                </a:solidFill>
                <a:latin typeface="Calibri"/>
              </a:rPr>
              <a:t>with rollback scripts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29768"/>
            <a:ext cx="118872" cy="118872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Kicker"/>
          <p:cNvSpPr txBox="1"/>
          <p:nvPr/>
        </p:nvSpPr>
        <p:spPr>
          <a:xfrm>
            <a:off x="749808" y="3566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SECURITY, VALIDATION AND RELIABILITY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0E1330"/>
                </a:solidFill>
                <a:latin typeface="Georgia"/>
              </a:rPr>
              <a:t>Protections implemented in the code</a:t>
            </a:r>
          </a:p>
        </p:txBody>
      </p:sp>
      <p:pic>
        <p:nvPicPr>
          <p:cNvPr id="5" name="Picture 4" descr="electif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896112" cy="2026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2768" y="639165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5B73"/>
                </a:solidFill>
                <a:latin typeface="Calibri"/>
              </a:rPr>
              <a:t>MCA Project Review · SRM Institute of Science and Technology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543032" y="639165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55B73"/>
                </a:solidFill>
                <a:latin typeface="Calibri"/>
              </a:rPr>
              <a:t>13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ock-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0" y="1903780"/>
            <a:ext cx="261518" cy="2615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7319" y="178308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330"/>
                </a:solidFill>
                <a:latin typeface="Calibri"/>
              </a:rPr>
              <a:t>Passwords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0" i="0">
                <a:solidFill>
                  <a:srgbClr val="555B73"/>
                </a:solidFill>
                <a:latin typeface="Calibri"/>
              </a:rPr>
              <a:t>bcrypt (cost 12); policy blocks the register number and common defaults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55448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93592" y="1783080"/>
            <a:ext cx="502920" cy="502920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KeyRound-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292" y="1903780"/>
            <a:ext cx="261518" cy="26151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33672" y="178308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330"/>
                </a:solidFill>
                <a:latin typeface="Calibri"/>
              </a:rPr>
              <a:t>Sessions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42316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0" i="0">
                <a:solidFill>
                  <a:srgbClr val="555B73"/>
                </a:solidFill>
                <a:latin typeface="Calibri"/>
              </a:rPr>
              <a:t>Signed JWT in an httpOnly cookie, 2 hours; one active session per user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55448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9944" y="1783080"/>
            <a:ext cx="502920" cy="502920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Hourglass-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0644" y="1903780"/>
            <a:ext cx="261518" cy="26151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50024" y="178308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330"/>
                </a:solidFill>
                <a:latin typeface="Calibri"/>
              </a:rPr>
              <a:t>Rate limiting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42316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0" i="0">
                <a:solidFill>
                  <a:srgbClr val="555B73"/>
                </a:solidFill>
                <a:latin typeface="Calibri"/>
              </a:rPr>
              <a:t>5 failed sign-ins lock the identifier for 15 minutes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155448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9226296" y="1783080"/>
            <a:ext cx="502920" cy="502920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ShieldCheck-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6996" y="1903780"/>
            <a:ext cx="261518" cy="26151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66376" y="178308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330"/>
                </a:solidFill>
                <a:latin typeface="Calibri"/>
              </a:rPr>
              <a:t>Scoped authorisation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6296" y="242316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0" i="0">
                <a:solidFill>
                  <a:srgbClr val="555B73"/>
                </a:solidFill>
                <a:latin typeface="Calibri"/>
              </a:rPr>
              <a:t>Role and class scope re-checked in every action; a cookie never grants access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56616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777240" y="3794760"/>
            <a:ext cx="502920" cy="502920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ileCheck-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" y="3915460"/>
            <a:ext cx="261518" cy="26151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17319" y="379476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330"/>
                </a:solidFill>
                <a:latin typeface="Calibri"/>
              </a:rPr>
              <a:t>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43484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0" i="0">
                <a:solidFill>
                  <a:srgbClr val="555B73"/>
                </a:solidFill>
                <a:latin typeface="Calibri"/>
              </a:rPr>
              <a:t>Zod schemas on input; eligibility re-checked inside the transaction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64992" y="356616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Oval 33"/>
          <p:cNvSpPr/>
          <p:nvPr/>
        </p:nvSpPr>
        <p:spPr>
          <a:xfrm>
            <a:off x="3593592" y="3794760"/>
            <a:ext cx="502920" cy="502920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Database-in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4292" y="3915460"/>
            <a:ext cx="261518" cy="26151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233672" y="379476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330"/>
                </a:solidFill>
                <a:latin typeface="Calibri"/>
              </a:rPr>
              <a:t>Transactions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443484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0" i="0">
                <a:solidFill>
                  <a:srgbClr val="555B73"/>
                </a:solidFill>
                <a:latin typeface="Calibri"/>
              </a:rPr>
              <a:t>Row locks in a fixed order; constraints as a final guard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81344" y="356616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Oval 38"/>
          <p:cNvSpPr/>
          <p:nvPr/>
        </p:nvSpPr>
        <p:spPr>
          <a:xfrm>
            <a:off x="6409944" y="3794760"/>
            <a:ext cx="502920" cy="502920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RotateCcw-in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0644" y="3915460"/>
            <a:ext cx="261518" cy="26151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50024" y="379476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330"/>
                </a:solidFill>
                <a:latin typeface="Calibri"/>
              </a:rPr>
              <a:t>No double submits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9944" y="443484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0" i="0">
                <a:solidFill>
                  <a:srgbClr val="555B73"/>
                </a:solidFill>
                <a:latin typeface="Calibri"/>
              </a:rPr>
              <a:t>Already-registered and already-cancelled states are refused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97696" y="356616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Oval 43"/>
          <p:cNvSpPr/>
          <p:nvPr/>
        </p:nvSpPr>
        <p:spPr>
          <a:xfrm>
            <a:off x="9226296" y="3794760"/>
            <a:ext cx="502920" cy="502920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ScrollText-in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6996" y="3915460"/>
            <a:ext cx="261518" cy="26151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866376" y="379476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330"/>
                </a:solidFill>
                <a:latin typeface="Calibri"/>
              </a:rPr>
              <a:t>Audit and replay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26296" y="443484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0" i="0">
                <a:solidFill>
                  <a:srgbClr val="555B73"/>
                </a:solidFill>
                <a:latin typeface="Calibri"/>
              </a:rPr>
              <a:t>Staff actions and every seat change are recorded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596128"/>
            <a:ext cx="11064240" cy="566928"/>
          </a:xfrm>
          <a:prstGeom prst="roundRect">
            <a:avLst>
              <a:gd name="adj" fmla="val 12000"/>
            </a:avLst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7240" y="5596128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0E1330"/>
                </a:solidFill>
                <a:latin typeface="Calibri"/>
              </a:rPr>
              <a:t>Known gap  </a:t>
            </a:r>
            <a:r>
              <a:rPr sz="1300" b="0" i="0">
                <a:solidFill>
                  <a:srgbClr val="555B73"/>
                </a:solidFill>
                <a:latin typeface="Calibri"/>
              </a:rPr>
              <a:t>The 8-character, letter-and-number policy falls short of NIST SP 800-63B-4 (15 characters, no composition rules); future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29768"/>
            <a:ext cx="118872" cy="118872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Kicker"/>
          <p:cNvSpPr txBox="1"/>
          <p:nvPr/>
        </p:nvSpPr>
        <p:spPr>
          <a:xfrm>
            <a:off x="749808" y="3566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55B73"/>
                </a:solidFill>
                <a:latin typeface="Calibri"/>
              </a:rPr>
              <a:t>IMPLEMENTATION, TESTING AND OUTCOMES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0E1330"/>
                </a:solidFill>
                <a:latin typeface="Georgia"/>
              </a:rPr>
              <a:t>Verified on 15 October 2026 (commit bfd9bd8)</a:t>
            </a:r>
          </a:p>
        </p:txBody>
      </p:sp>
      <p:pic>
        <p:nvPicPr>
          <p:cNvPr id="5" name="Picture 4" descr="electif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896112" cy="2026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2768" y="639165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5B73"/>
                </a:solidFill>
                <a:latin typeface="Calibri"/>
              </a:rPr>
              <a:t>MCA Project Review · SRM Institute of Science and Technology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543032" y="639165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55B73"/>
                </a:solidFill>
                <a:latin typeface="Calibri"/>
              </a:rPr>
              <a:t>14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45336"/>
            <a:ext cx="4087368" cy="20177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>
            <a:outerShdw blurRad="190500" dist="38100" dir="5400000" algn="t" rotWithShape="0">
              <a:srgbClr val="0E1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" name="Picture 8" descr="13_electives_select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600200"/>
            <a:ext cx="3977639" cy="1908024"/>
          </a:xfrm>
          <a:prstGeom prst="rect">
            <a:avLst/>
          </a:prstGeom>
          <a:ln w="6350">
            <a:solidFill>
              <a:srgbClr val="D9DCE6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3599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55B73"/>
                </a:solidFill>
                <a:latin typeface="Calibri"/>
              </a:rPr>
              <a:t>Student picker: one subject chosen in each basket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83712"/>
            <a:ext cx="4087368" cy="20177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CE6"/>
            </a:solidFill>
          </a:ln>
          <a:effectLst>
            <a:outerShdw blurRad="190500" dist="38100" dir="5400000" algn="t" rotWithShape="0">
              <a:srgbClr val="0E1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Picture 11" descr="24_tutor_windo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4038576"/>
            <a:ext cx="3977639" cy="1908024"/>
          </a:xfrm>
          <a:prstGeom prst="rect">
            <a:avLst/>
          </a:prstGeom>
          <a:ln w="6350">
            <a:solidFill>
              <a:srgbClr val="D9DCE6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48640" y="603804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55B73"/>
                </a:solidFill>
                <a:latin typeface="Calibri"/>
              </a:rPr>
              <a:t>Tutor live window controlling the registration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572768"/>
            <a:ext cx="3108960" cy="1325880"/>
          </a:xfrm>
          <a:prstGeom prst="roundRect">
            <a:avLst>
              <a:gd name="adj" fmla="val 7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30952" y="1709928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E1330"/>
                </a:solidFill>
                <a:latin typeface="Georgia"/>
              </a:rPr>
              <a:t>136 / 136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22860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1330"/>
                </a:solidFill>
                <a:latin typeface="Calibri"/>
              </a:rPr>
              <a:t>server-side tests 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255117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55B73"/>
                </a:solidFill>
                <a:latin typeface="Calibri"/>
              </a:rPr>
              <a:t>18 suites, real PostgreSQL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572768"/>
            <a:ext cx="3108960" cy="1325880"/>
          </a:xfrm>
          <a:prstGeom prst="roundRect">
            <a:avLst>
              <a:gd name="adj" fmla="val 7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22792" y="1709928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E1330"/>
                </a:solidFill>
                <a:latin typeface="Georgia"/>
              </a:rPr>
              <a:t>36 / 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2792" y="22860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1330"/>
                </a:solidFill>
                <a:latin typeface="Calibri"/>
              </a:rPr>
              <a:t>browser tests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255117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55B73"/>
                </a:solidFill>
                <a:latin typeface="Calibri"/>
              </a:rPr>
              <a:t>Playwright, every role, with reloads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3054096"/>
            <a:ext cx="3108960" cy="1325880"/>
          </a:xfrm>
          <a:prstGeom prst="roundRect">
            <a:avLst>
              <a:gd name="adj" fmla="val 7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30952" y="3191256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E1330"/>
                </a:solidFill>
                <a:latin typeface="Georgia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0952" y="37673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1330"/>
                </a:solidFill>
                <a:latin typeface="Calibri"/>
              </a:rPr>
              <a:t>layout overflows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0952" y="403250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55B73"/>
                </a:solidFill>
                <a:latin typeface="Calibri"/>
              </a:rPr>
              <a:t>22 pages × 7 screen sizes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3054096"/>
            <a:ext cx="3108960" cy="1325880"/>
          </a:xfrm>
          <a:prstGeom prst="roundRect">
            <a:avLst>
              <a:gd name="adj" fmla="val 7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22792" y="3191256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E1330"/>
                </a:solidFill>
                <a:latin typeface="Georgia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2792" y="37673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1330"/>
                </a:solidFill>
                <a:latin typeface="Calibri"/>
              </a:rPr>
              <a:t>accessibility violations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2792" y="403250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55B73"/>
                </a:solidFill>
                <a:latin typeface="Calibri"/>
              </a:rPr>
              <a:t>axe-core, WCAG 2.1 A/AA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74920" y="4617720"/>
            <a:ext cx="6400800" cy="1508760"/>
          </a:xfrm>
          <a:prstGeom prst="roundRect">
            <a:avLst>
              <a:gd name="adj" fmla="val 6000"/>
            </a:avLst>
          </a:prstGeom>
          <a:solidFill>
            <a:srgbClr val="0E1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49240" y="4754880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9B44C"/>
                </a:solidFill>
                <a:latin typeface="Calibri"/>
              </a:rPr>
              <a:t>What testing found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5102352"/>
            <a:ext cx="5943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400"/>
              </a:spcAft>
              <a:buClr>
                <a:srgbClr val="E9B44C"/>
              </a:buClr>
              <a:buFont typeface="Arial"/>
              <a:buChar char="•"/>
            </a:pPr>
            <a:r>
              <a:rPr sz="1300" b="1">
                <a:solidFill>
                  <a:srgbClr val="FFFFFF"/>
                </a:solidFill>
                <a:latin typeface="Calibri"/>
              </a:rPr>
              <a:t>14 defects found, 13 fixed </a:t>
            </a:r>
            <a:r>
              <a:rPr sz="1300" b="0">
                <a:solidFill>
                  <a:srgbClr val="B9BED3"/>
                </a:solidFill>
                <a:latin typeface="Calibri"/>
              </a:rPr>
              <a:t>— incl. a crashing countdown page and a session-revocation security fault</a:t>
            </a:r>
          </a:p>
          <a:p>
            <a:pPr marL="256032" indent="-256032">
              <a:spcAft>
                <a:spcPts val="400"/>
              </a:spcAft>
              <a:buClr>
                <a:srgbClr val="E9B44C"/>
              </a:buClr>
              <a:buFont typeface="Arial"/>
              <a:buChar char="•"/>
            </a:pPr>
            <a:r>
              <a:rPr sz="1300" b="1">
                <a:solidFill>
                  <a:srgbClr val="FFFFFF"/>
                </a:solidFill>
                <a:latin typeface="Calibri"/>
              </a:rPr>
              <a:t>Not yet tested: </a:t>
            </a:r>
            <a:r>
              <a:rPr sz="1300" b="0">
                <a:solidFill>
                  <a:srgbClr val="B9BED3"/>
                </a:solidFill>
                <a:latin typeface="Calibri"/>
              </a:rPr>
              <a:t>load, realtime with Supabase, other browsers, real users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915400" y="1417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464040" y="1417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12680" y="1417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561320" y="1417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109960" y="1417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15400" y="196596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464040" y="196596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12680" y="196596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61320" y="196596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109960" y="196596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15400" y="251460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64040" y="251460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12680" y="251460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61320" y="251460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109960" y="251460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915400" y="306324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64040" y="306324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12680" y="306324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61320" y="306324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1109960" y="306324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915400" y="361188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464040" y="361188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012680" y="361188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61320" y="361188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1109960" y="361188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915400" y="41605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464040" y="41605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012680" y="41605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61320" y="41605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1109960" y="41605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B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2" name="Picture 31" descr="electify-logo-reve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13232"/>
            <a:ext cx="1463040" cy="3308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48640" y="2057400"/>
            <a:ext cx="7772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600" b="0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3375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B9BED3"/>
                </a:solidFill>
                <a:latin typeface="Calibri"/>
              </a:rPr>
              <a:t>Questions are welcome.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34340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9BED3"/>
                </a:solidFill>
                <a:latin typeface="Calibri"/>
              </a:rPr>
              <a:t>STUDENT NAME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6177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MATHESHWARAN 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434340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9BED3"/>
                </a:solidFill>
                <a:latin typeface="Calibri"/>
              </a:rPr>
              <a:t>REGISTRATION NUMBER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46177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RA2532241010311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97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B9BED3"/>
                </a:solidFill>
                <a:latin typeface="Calibri"/>
              </a:rPr>
              <a:t>Department of Computer Applications · Faculty of Science and Humanities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B9BED3"/>
                </a:solidFill>
                <a:latin typeface="Calibri"/>
              </a:rPr>
              <a:t>SRM Institute of Science and Technology, Kattankulathur – 603 203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2773</Words>
  <Application>Microsoft Macintosh PowerPoint</Application>
  <PresentationFormat>Widescreen</PresentationFormat>
  <Paragraphs>335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ELECTIFY: A REAL - TIME ELECTIVE REGISTRATION SYSTEM WITH TRANSACTIONAL SEAT MANAGEMENT</dc:title>
  <dc:subject>MCA project review presentation</dc:subject>
  <dc:creator>MATHESHWARAN R</dc:creator>
  <cp:keywords/>
  <dc:description>generated using python-pptx</dc:description>
  <cp:lastModifiedBy>Mathesh Waran</cp:lastModifiedBy>
  <cp:revision>2</cp:revision>
  <dcterms:created xsi:type="dcterms:W3CDTF">2013-01-27T09:14:16Z</dcterms:created>
  <dcterms:modified xsi:type="dcterms:W3CDTF">2026-10-16T02:09:57Z</dcterms:modified>
  <cp:category/>
</cp:coreProperties>
</file>